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A6F371E-30D8-4491-AECF-ADC82B9DB73C}">
  <a:tblStyle styleId="{BA6F371E-30D8-4491-AECF-ADC82B9DB73C}" styleName="Table_0">
    <a:wholeTbl>
      <a:tcTxStyle b="off" i="off">
        <a:font>
          <a:latin typeface="Times New Roman"/>
          <a:ea typeface="Times New Roman"/>
          <a:cs typeface="Times New Roman"/>
        </a:font>
        <a:srgbClr val="000000"/>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E8ECF4"/>
          </a:solidFill>
        </a:fill>
      </a:tcStyle>
    </a:wholeTbl>
    <a:band1H>
      <a:tcTxStyle b="off" i="off"/>
      <a:tcStyle>
        <a:fill>
          <a:solidFill>
            <a:srgbClr val="CFD7E7"/>
          </a:solidFill>
        </a:fill>
      </a:tcStyle>
    </a:band1H>
    <a:band2H>
      <a:tcTxStyle b="off" i="off"/>
    </a:band2H>
    <a:band1V>
      <a:tcTxStyle b="off" i="off"/>
      <a:tcStyle>
        <a:fill>
          <a:solidFill>
            <a:srgbClr val="CFD7E7"/>
          </a:solidFill>
        </a:fill>
      </a:tcStyle>
    </a:band1V>
    <a:band2V>
      <a:tcTxStyle b="off" i="off"/>
    </a:band2V>
    <a:lastCol>
      <a:tcTxStyle b="on" i="off">
        <a:font>
          <a:latin typeface="Times New Roman"/>
          <a:ea typeface="Times New Roman"/>
          <a:cs typeface="Times New Roman"/>
        </a:font>
        <a:srgbClr val="FFFFFF"/>
      </a:tcTxStyle>
      <a:tcStyle>
        <a:fill>
          <a:solidFill>
            <a:srgbClr val="4F81BD"/>
          </a:solidFill>
        </a:fill>
      </a:tcStyle>
    </a:lastCol>
    <a:firstCol>
      <a:tcTxStyle b="on" i="off">
        <a:font>
          <a:latin typeface="Times New Roman"/>
          <a:ea typeface="Times New Roman"/>
          <a:cs typeface="Times New Roman"/>
        </a:font>
        <a:srgbClr val="FFFFFF"/>
      </a:tcTxStyle>
      <a:tcStyle>
        <a:fill>
          <a:solidFill>
            <a:srgbClr val="4F81BD"/>
          </a:solidFill>
        </a:fill>
      </a:tcStyle>
    </a:firstCol>
    <a:lastRow>
      <a:tcTxStyle b="on" i="off">
        <a:font>
          <a:latin typeface="Times New Roman"/>
          <a:ea typeface="Times New Roman"/>
          <a:cs typeface="Times New Roman"/>
        </a:font>
        <a:srgbClr val="FFFFFF"/>
      </a:tcTxStyle>
      <a:tcStyle>
        <a:tcBdr>
          <a:top>
            <a:ln cap="flat" cmpd="sng" w="38100">
              <a:solidFill>
                <a:srgbClr val="FFFFFF"/>
              </a:solidFill>
              <a:prstDash val="solid"/>
              <a:round/>
              <a:headEnd len="sm" w="sm" type="none"/>
              <a:tailEnd len="sm" w="sm" type="none"/>
            </a:ln>
          </a:top>
        </a:tcBdr>
        <a:fill>
          <a:solidFill>
            <a:srgbClr val="4F81BD"/>
          </a:solidFill>
        </a:fill>
      </a:tcStyle>
    </a:lastRow>
    <a:seCell>
      <a:tcTxStyle b="off" i="off"/>
    </a:seCell>
    <a:swCell>
      <a:tcTxStyle b="off" i="off"/>
    </a:swCell>
    <a:firstRow>
      <a:tcTxStyle b="on" i="off">
        <a:font>
          <a:latin typeface="Times New Roman"/>
          <a:ea typeface="Times New Roman"/>
          <a:cs typeface="Times New Roman"/>
        </a:font>
        <a:srgbClr val="FFFFFF"/>
      </a:tcTxStyle>
      <a:tcStyle>
        <a:tcBdr>
          <a:bottom>
            <a:ln cap="flat" cmpd="sng" w="38100">
              <a:solidFill>
                <a:srgbClr val="FFFFFF"/>
              </a:solidFill>
              <a:prstDash val="solid"/>
              <a:round/>
              <a:headEnd len="sm" w="sm" type="none"/>
              <a:tailEnd len="sm" w="sm" type="none"/>
            </a:ln>
          </a:bottom>
        </a:tcBdr>
        <a:fill>
          <a:solidFill>
            <a:srgbClr val="4F81BD"/>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slide" Target="slides/slide36.xml"/><Relationship Id="rId41" Type="http://schemas.openxmlformats.org/officeDocument/2006/relationships/slide" Target="slides/slide35.xml"/><Relationship Id="rId22" Type="http://schemas.openxmlformats.org/officeDocument/2006/relationships/slide" Target="slides/slide16.xml"/><Relationship Id="rId21" Type="http://schemas.openxmlformats.org/officeDocument/2006/relationships/slide" Target="slides/slide15.xml"/><Relationship Id="rId43" Type="http://schemas.openxmlformats.org/officeDocument/2006/relationships/slide" Target="slides/slide37.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91" name="Google Shape;91;p1:notes"/>
          <p:cNvSpPr/>
          <p:nvPr>
            <p:ph idx="2" type="sldImg"/>
          </p:nvPr>
        </p:nvSpPr>
        <p:spPr>
          <a:xfrm>
            <a:off x="1168400" y="708025"/>
            <a:ext cx="4535488" cy="3402013"/>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 name="Google Shape;92;p1:notes"/>
          <p:cNvSpPr txBox="1"/>
          <p:nvPr>
            <p:ph idx="1" type="body"/>
          </p:nvPr>
        </p:nvSpPr>
        <p:spPr>
          <a:xfrm>
            <a:off x="915294" y="4343703"/>
            <a:ext cx="5027414" cy="4098773"/>
          </a:xfrm>
          <a:prstGeom prst="rect">
            <a:avLst/>
          </a:prstGeom>
          <a:noFill/>
          <a:ln>
            <a:noFill/>
          </a:ln>
        </p:spPr>
        <p:txBody>
          <a:bodyPr anchorCtr="0" anchor="t" bIns="44825" lIns="89675" spcFirstLastPara="1" rIns="89675" wrap="square" tIns="44825">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 name="Google Shape;100;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 name="Google Shape;112;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acab1173c7_0_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acab1173c7_0_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g3acab1173c7_0_1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5" name="Google Shape;125;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7" name="Google Shape;137;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3" name="Google Shape;143;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9" name="Google Shape;149;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5" name="Google Shape;155;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8" name="Google Shape;168;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5" name="Google Shape;175;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2" name="Google Shape;182;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8" name="Google Shape;188;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5" name="Google Shape;195;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2" name="Google Shape;202;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8" name="Google Shape;208;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4" name="Google Shape;214;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0" name="Google Shape;220;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acfe870dbc_0_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acfe870dbc_0_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g3acfe870dbc_0_25: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3" name="Google Shape;233;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9" name="Google Shape;239;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5" name="Google Shape;245;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8" name="Google Shape;258;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4" name="Google Shape;274;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2" name="Google Shape;282;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9" name="Google Shape;289;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3" name="Google Shape;303;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9" name="Google Shape;309;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5" name="Google Shape;315;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7" name="Google Shape;327;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type="title">
  <p:cSld name="TITLE">
    <p:spTree>
      <p:nvGrpSpPr>
        <p:cNvPr id="15" name="Shape 15"/>
        <p:cNvGrpSpPr/>
        <p:nvPr/>
      </p:nvGrpSpPr>
      <p:grpSpPr>
        <a:xfrm>
          <a:off x="0" y="0"/>
          <a:ext cx="0" cy="0"/>
          <a:chOff x="0" y="0"/>
          <a:chExt cx="0" cy="0"/>
        </a:xfrm>
      </p:grpSpPr>
      <p:sp>
        <p:nvSpPr>
          <p:cNvPr id="16" name="Google Shape;16;p2"/>
          <p:cNvSpPr txBox="1"/>
          <p:nvPr/>
        </p:nvSpPr>
        <p:spPr>
          <a:xfrm>
            <a:off x="1371600" y="6687979"/>
            <a:ext cx="5984875" cy="24622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000"/>
              <a:buFont typeface="Calibri"/>
              <a:buNone/>
            </a:pPr>
            <a:r>
              <a:rPr b="0" i="0" lang="en-US" sz="1000" u="none" cap="none" strike="noStrike">
                <a:solidFill>
                  <a:schemeClr val="dk1"/>
                </a:solidFill>
                <a:latin typeface="Calibri"/>
                <a:ea typeface="Calibri"/>
                <a:cs typeface="Calibri"/>
                <a:sym typeface="Calibri"/>
              </a:rPr>
              <a:t>SEC-  DEPARTMENT OF CSE(IOT)–  3- 1 –MINIPROJECT– slide# -</a:t>
            </a:r>
            <a:fld id="{00000000-1234-1234-1234-123412341234}" type="slidenum">
              <a:rPr b="0" i="0" lang="en-US" sz="1000" u="none" cap="none" strike="noStrike">
                <a:solidFill>
                  <a:schemeClr val="dk1"/>
                </a:solidFill>
                <a:latin typeface="Calibri"/>
                <a:ea typeface="Calibri"/>
                <a:cs typeface="Calibri"/>
                <a:sym typeface="Calibri"/>
              </a:rPr>
              <a:t>‹#›</a:t>
            </a:fld>
            <a:endParaRPr b="0" i="0" sz="1000" u="none" cap="none" strike="noStrike">
              <a:solidFill>
                <a:schemeClr val="dk1"/>
              </a:solidFill>
              <a:latin typeface="Calibri"/>
              <a:ea typeface="Calibri"/>
              <a:cs typeface="Calibri"/>
              <a:sym typeface="Calibri"/>
            </a:endParaRPr>
          </a:p>
        </p:txBody>
      </p:sp>
      <p:sp>
        <p:nvSpPr>
          <p:cNvPr id="17" name="Google Shape;17;p2"/>
          <p:cNvSpPr txBox="1"/>
          <p:nvPr/>
        </p:nvSpPr>
        <p:spPr>
          <a:xfrm>
            <a:off x="457200" y="274638"/>
            <a:ext cx="8229600" cy="584200"/>
          </a:xfrm>
          <a:prstGeom prst="rect">
            <a:avLst/>
          </a:prstGeom>
          <a:gradFill>
            <a:gsLst>
              <a:gs pos="0">
                <a:srgbClr val="FBEAC7"/>
              </a:gs>
              <a:gs pos="17999">
                <a:srgbClr val="FEE7F2"/>
              </a:gs>
              <a:gs pos="36000">
                <a:srgbClr val="FAC77D"/>
              </a:gs>
              <a:gs pos="61000">
                <a:srgbClr val="FBA97D"/>
              </a:gs>
              <a:gs pos="82001">
                <a:srgbClr val="FBD49C"/>
              </a:gs>
              <a:gs pos="100000">
                <a:srgbClr val="FEE7F2"/>
              </a:gs>
            </a:gsLst>
            <a:lin ang="5400000" scaled="0"/>
          </a:gradFill>
          <a:ln cap="flat" cmpd="sng" w="95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8" name="Google Shape;18;p2"/>
          <p:cNvSpPr txBox="1"/>
          <p:nvPr/>
        </p:nvSpPr>
        <p:spPr>
          <a:xfrm>
            <a:off x="457200" y="1027113"/>
            <a:ext cx="8229600" cy="5402262"/>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chemeClr val="dk1"/>
              </a:buClr>
              <a:buSzPts val="3200"/>
              <a:buFont typeface="Arial"/>
              <a:buNone/>
            </a:pPr>
            <a:r>
              <a:t/>
            </a:r>
            <a:endParaRPr b="0" i="0" sz="3200" u="none" cap="none" strike="noStrike">
              <a:solidFill>
                <a:schemeClr val="dk1"/>
              </a:solidFill>
              <a:latin typeface="Calibri"/>
              <a:ea typeface="Calibri"/>
              <a:cs typeface="Calibri"/>
              <a:sym typeface="Calibri"/>
            </a:endParaRPr>
          </a:p>
        </p:txBody>
      </p:sp>
      <p:pic>
        <p:nvPicPr>
          <p:cNvPr descr="C:\Users\ELCOT\Desktop\Saveetha Logo.png" id="19" name="Google Shape;19;p2"/>
          <p:cNvPicPr preferRelativeResize="0"/>
          <p:nvPr/>
        </p:nvPicPr>
        <p:blipFill rotWithShape="1">
          <a:blip r:embed="rId2">
            <a:alphaModFix/>
          </a:blip>
          <a:srcRect b="28149" l="0" r="26620" t="0"/>
          <a:stretch/>
        </p:blipFill>
        <p:spPr>
          <a:xfrm>
            <a:off x="6588225" y="2899"/>
            <a:ext cx="2570075" cy="2717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0" name="Shape 20"/>
        <p:cNvGrpSpPr/>
        <p:nvPr/>
      </p:nvGrpSpPr>
      <p:grpSpPr>
        <a:xfrm>
          <a:off x="0" y="0"/>
          <a:ext cx="0" cy="0"/>
          <a:chOff x="0" y="0"/>
          <a:chExt cx="0" cy="0"/>
        </a:xfrm>
      </p:grpSpPr>
      <p:sp>
        <p:nvSpPr>
          <p:cNvPr id="21" name="Google Shape;21;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3" name="Google Shape;23;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 name="Shape 26"/>
        <p:cNvGrpSpPr/>
        <p:nvPr/>
      </p:nvGrpSpPr>
      <p:grpSpPr>
        <a:xfrm>
          <a:off x="0" y="0"/>
          <a:ext cx="0" cy="0"/>
          <a:chOff x="0" y="0"/>
          <a:chExt cx="0" cy="0"/>
        </a:xfrm>
      </p:grpSpPr>
      <p:sp>
        <p:nvSpPr>
          <p:cNvPr id="27" name="Google Shape;27;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9" name="Google Shape;29;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2" name="Shape 32"/>
        <p:cNvGrpSpPr/>
        <p:nvPr/>
      </p:nvGrpSpPr>
      <p:grpSpPr>
        <a:xfrm>
          <a:off x="0" y="0"/>
          <a:ext cx="0" cy="0"/>
          <a:chOff x="0" y="0"/>
          <a:chExt cx="0" cy="0"/>
        </a:xfrm>
      </p:grpSpPr>
      <p:sp>
        <p:nvSpPr>
          <p:cNvPr id="33" name="Google Shape;33;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5" name="Google Shape;35;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1" name="Google Shape;41;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2" name="Google Shape;42;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5" name="Shape 45"/>
        <p:cNvGrpSpPr/>
        <p:nvPr/>
      </p:nvGrpSpPr>
      <p:grpSpPr>
        <a:xfrm>
          <a:off x="0" y="0"/>
          <a:ext cx="0" cy="0"/>
          <a:chOff x="0" y="0"/>
          <a:chExt cx="0" cy="0"/>
        </a:xfrm>
      </p:grpSpPr>
      <p:sp>
        <p:nvSpPr>
          <p:cNvPr id="46" name="Google Shape;46;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8" name="Google Shape;48;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9" name="Google Shape;49;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50" name="Google Shape;50;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1" name="Google Shape;51;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4" name="Shape 54"/>
        <p:cNvGrpSpPr/>
        <p:nvPr/>
      </p:nvGrpSpPr>
      <p:grpSpPr>
        <a:xfrm>
          <a:off x="0" y="0"/>
          <a:ext cx="0" cy="0"/>
          <a:chOff x="0" y="0"/>
          <a:chExt cx="0" cy="0"/>
        </a:xfrm>
      </p:grpSpPr>
      <p:sp>
        <p:nvSpPr>
          <p:cNvPr id="55" name="Google Shape;55;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9" name="Shape 59"/>
        <p:cNvGrpSpPr/>
        <p:nvPr/>
      </p:nvGrpSpPr>
      <p:grpSpPr>
        <a:xfrm>
          <a:off x="0" y="0"/>
          <a:ext cx="0" cy="0"/>
          <a:chOff x="0" y="0"/>
          <a:chExt cx="0" cy="0"/>
        </a:xfrm>
      </p:grpSpPr>
      <p:sp>
        <p:nvSpPr>
          <p:cNvPr id="60" name="Google Shape;60;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3" name="Shape 63"/>
        <p:cNvGrpSpPr/>
        <p:nvPr/>
      </p:nvGrpSpPr>
      <p:grpSpPr>
        <a:xfrm>
          <a:off x="0" y="0"/>
          <a:ext cx="0" cy="0"/>
          <a:chOff x="0" y="0"/>
          <a:chExt cx="0" cy="0"/>
        </a:xfrm>
      </p:grpSpPr>
      <p:sp>
        <p:nvSpPr>
          <p:cNvPr id="64" name="Google Shape;64;p1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1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6" name="Google Shape;66;p1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7" name="Google Shape;67;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0" name="Shape 70"/>
        <p:cNvGrpSpPr/>
        <p:nvPr/>
      </p:nvGrpSpPr>
      <p:grpSpPr>
        <a:xfrm>
          <a:off x="0" y="0"/>
          <a:ext cx="0" cy="0"/>
          <a:chOff x="0" y="0"/>
          <a:chExt cx="0" cy="0"/>
        </a:xfrm>
      </p:grpSpPr>
      <p:sp>
        <p:nvSpPr>
          <p:cNvPr id="71" name="Google Shape;71;p1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1"/>
          <p:cNvSpPr/>
          <p:nvPr>
            <p:ph idx="2" type="pic"/>
          </p:nvPr>
        </p:nvSpPr>
        <p:spPr>
          <a:xfrm>
            <a:off x="1792288" y="612775"/>
            <a:ext cx="5486400" cy="4114800"/>
          </a:xfrm>
          <a:prstGeom prst="rect">
            <a:avLst/>
          </a:prstGeom>
          <a:noFill/>
          <a:ln>
            <a:noFill/>
          </a:ln>
        </p:spPr>
      </p:sp>
      <p:sp>
        <p:nvSpPr>
          <p:cNvPr id="73" name="Google Shape;73;p1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74" name="Google Shape;74;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7" name="Shape 77"/>
        <p:cNvGrpSpPr/>
        <p:nvPr/>
      </p:nvGrpSpPr>
      <p:grpSpPr>
        <a:xfrm>
          <a:off x="0" y="0"/>
          <a:ext cx="0" cy="0"/>
          <a:chOff x="0" y="0"/>
          <a:chExt cx="0" cy="0"/>
        </a:xfrm>
      </p:grpSpPr>
      <p:sp>
        <p:nvSpPr>
          <p:cNvPr id="78" name="Google Shape;78;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2"/>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0" name="Google Shape;80;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3" name="Shape 83"/>
        <p:cNvGrpSpPr/>
        <p:nvPr/>
      </p:nvGrpSpPr>
      <p:grpSpPr>
        <a:xfrm>
          <a:off x="0" y="0"/>
          <a:ext cx="0" cy="0"/>
          <a:chOff x="0" y="0"/>
          <a:chExt cx="0" cy="0"/>
        </a:xfrm>
      </p:grpSpPr>
      <p:sp>
        <p:nvSpPr>
          <p:cNvPr id="84" name="Google Shape;84;p13"/>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13"/>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6" name="Google Shape;86;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4.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6.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2.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6.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1.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hyperlink" Target="https://en.wikipedia.org/wiki/Object-modeling_technique"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pic>
        <p:nvPicPr>
          <p:cNvPr id="94" name="Google Shape;94;p14"/>
          <p:cNvPicPr preferRelativeResize="0"/>
          <p:nvPr/>
        </p:nvPicPr>
        <p:blipFill rotWithShape="1">
          <a:blip r:embed="rId3">
            <a:alphaModFix/>
          </a:blip>
          <a:srcRect b="0" l="0" r="0" t="0"/>
          <a:stretch/>
        </p:blipFill>
        <p:spPr>
          <a:xfrm>
            <a:off x="4191000" y="5105400"/>
            <a:ext cx="685800" cy="666750"/>
          </a:xfrm>
          <a:prstGeom prst="rect">
            <a:avLst/>
          </a:prstGeom>
          <a:noFill/>
          <a:ln>
            <a:noFill/>
          </a:ln>
        </p:spPr>
      </p:pic>
      <p:sp>
        <p:nvSpPr>
          <p:cNvPr id="95" name="Google Shape;95;p14"/>
          <p:cNvSpPr txBox="1"/>
          <p:nvPr/>
        </p:nvSpPr>
        <p:spPr>
          <a:xfrm>
            <a:off x="457200" y="274638"/>
            <a:ext cx="8229600" cy="639900"/>
          </a:xfrm>
          <a:prstGeom prst="rect">
            <a:avLst/>
          </a:prstGeom>
          <a:noFill/>
          <a:ln>
            <a:noFill/>
          </a:ln>
        </p:spPr>
        <p:txBody>
          <a:bodyPr anchorCtr="0" anchor="ctr" bIns="45700" lIns="91425" spcFirstLastPara="1" rIns="91425" wrap="square" tIns="45700">
            <a:normAutofit lnSpcReduction="20000"/>
          </a:bodyPr>
          <a:lstStyle/>
          <a:p>
            <a:pPr indent="0" lvl="0" marL="0" marR="0" rtl="0" algn="ctr">
              <a:lnSpc>
                <a:spcPct val="100000"/>
              </a:lnSpc>
              <a:spcBef>
                <a:spcPts val="0"/>
              </a:spcBef>
              <a:spcAft>
                <a:spcPts val="0"/>
              </a:spcAft>
              <a:buClr>
                <a:srgbClr val="000000"/>
              </a:buClr>
              <a:buSzPts val="4400"/>
              <a:buFont typeface="Arial"/>
              <a:buNone/>
            </a:pPr>
            <a:r>
              <a:rPr b="0" i="0" lang="en-US" sz="4400" u="none" cap="none" strike="noStrike">
                <a:solidFill>
                  <a:srgbClr val="000000"/>
                </a:solidFill>
                <a:latin typeface="Calibri"/>
                <a:ea typeface="Calibri"/>
                <a:cs typeface="Calibri"/>
                <a:sym typeface="Calibri"/>
              </a:rPr>
              <a:t>Miniproject(19AI701) – Review </a:t>
            </a:r>
            <a:r>
              <a:rPr lang="en-US" sz="4400">
                <a:latin typeface="Calibri"/>
                <a:ea typeface="Calibri"/>
                <a:cs typeface="Calibri"/>
                <a:sym typeface="Calibri"/>
              </a:rPr>
              <a:t>2</a:t>
            </a:r>
            <a:endParaRPr b="0" i="0" sz="4400" u="none" cap="none" strike="noStrike">
              <a:solidFill>
                <a:srgbClr val="000000"/>
              </a:solidFill>
              <a:latin typeface="Calibri"/>
              <a:ea typeface="Calibri"/>
              <a:cs typeface="Calibri"/>
              <a:sym typeface="Calibri"/>
            </a:endParaRPr>
          </a:p>
        </p:txBody>
      </p:sp>
      <p:sp>
        <p:nvSpPr>
          <p:cNvPr id="96" name="Google Shape;96;p14"/>
          <p:cNvSpPr txBox="1"/>
          <p:nvPr/>
        </p:nvSpPr>
        <p:spPr>
          <a:xfrm>
            <a:off x="121575" y="990600"/>
            <a:ext cx="8717700" cy="4705800"/>
          </a:xfrm>
          <a:prstGeom prst="rect">
            <a:avLst/>
          </a:prstGeom>
          <a:noFill/>
          <a:ln>
            <a:noFill/>
          </a:ln>
        </p:spPr>
        <p:txBody>
          <a:bodyPr anchorCtr="0" anchor="t" bIns="45700" lIns="91425" spcFirstLastPara="1" rIns="91425" wrap="square" tIns="45700">
            <a:normAutofit fontScale="77500" lnSpcReduction="20000"/>
          </a:bodyPr>
          <a:lstStyle/>
          <a:p>
            <a:pPr indent="0" lvl="0" marL="0" rtl="0" algn="ctr">
              <a:spcBef>
                <a:spcPts val="0"/>
              </a:spcBef>
              <a:spcAft>
                <a:spcPts val="0"/>
              </a:spcAft>
              <a:buClr>
                <a:srgbClr val="000000"/>
              </a:buClr>
              <a:buFont typeface="Arial"/>
              <a:buNone/>
            </a:pPr>
            <a:r>
              <a:rPr b="1" lang="en-US" sz="2800" u="sng">
                <a:solidFill>
                  <a:srgbClr val="000000"/>
                </a:solidFill>
                <a:latin typeface="Calibri"/>
                <a:ea typeface="Calibri"/>
                <a:cs typeface="Calibri"/>
                <a:sym typeface="Calibri"/>
              </a:rPr>
              <a:t>AI-ENABLED IOT BASED SMART FLOOD ALERT AND PREDICTION SYSTEM</a:t>
            </a:r>
            <a:br>
              <a:rPr lang="en-US" sz="3200">
                <a:solidFill>
                  <a:srgbClr val="538CD5"/>
                </a:solidFill>
                <a:latin typeface="Calibri"/>
                <a:ea typeface="Calibri"/>
                <a:cs typeface="Calibri"/>
                <a:sym typeface="Calibri"/>
              </a:rPr>
            </a:br>
            <a:endParaRPr b="1" sz="2800">
              <a:solidFill>
                <a:srgbClr val="000000"/>
              </a:solidFill>
              <a:latin typeface="Calibri"/>
              <a:ea typeface="Calibri"/>
              <a:cs typeface="Calibri"/>
              <a:sym typeface="Calibri"/>
            </a:endParaRPr>
          </a:p>
          <a:p>
            <a:pPr indent="0" lvl="0" marL="0" rtl="0" algn="ctr">
              <a:spcBef>
                <a:spcPts val="0"/>
              </a:spcBef>
              <a:spcAft>
                <a:spcPts val="0"/>
              </a:spcAft>
              <a:buClr>
                <a:srgbClr val="000000"/>
              </a:buClr>
              <a:buFont typeface="Arial"/>
              <a:buNone/>
            </a:pPr>
            <a:r>
              <a:rPr b="1" lang="en-US" sz="2800">
                <a:solidFill>
                  <a:srgbClr val="000000"/>
                </a:solidFill>
                <a:latin typeface="Calibri"/>
                <a:ea typeface="Calibri"/>
                <a:cs typeface="Calibri"/>
                <a:sym typeface="Calibri"/>
              </a:rPr>
              <a:t>Submitted by:</a:t>
            </a:r>
            <a:endParaRPr b="1" sz="2800">
              <a:solidFill>
                <a:srgbClr val="000000"/>
              </a:solidFill>
              <a:latin typeface="Calibri"/>
              <a:ea typeface="Calibri"/>
              <a:cs typeface="Calibri"/>
              <a:sym typeface="Calibri"/>
            </a:endParaRPr>
          </a:p>
          <a:p>
            <a:pPr indent="0" lvl="0" marL="0" rtl="0" algn="ctr">
              <a:spcBef>
                <a:spcPts val="0"/>
              </a:spcBef>
              <a:spcAft>
                <a:spcPts val="0"/>
              </a:spcAft>
              <a:buClr>
                <a:srgbClr val="000000"/>
              </a:buClr>
              <a:buFont typeface="Arial"/>
              <a:buNone/>
            </a:pPr>
            <a:r>
              <a:rPr b="1" lang="en-US" sz="3050">
                <a:solidFill>
                  <a:srgbClr val="000000"/>
                </a:solidFill>
                <a:latin typeface="Calibri"/>
                <a:ea typeface="Calibri"/>
                <a:cs typeface="Calibri"/>
                <a:sym typeface="Calibri"/>
              </a:rPr>
              <a:t>SHIVRAJ R (212223110051)</a:t>
            </a:r>
            <a:endParaRPr b="1" sz="2800">
              <a:solidFill>
                <a:srgbClr val="000000"/>
              </a:solidFill>
              <a:latin typeface="Calibri"/>
              <a:ea typeface="Calibri"/>
              <a:cs typeface="Calibri"/>
              <a:sym typeface="Calibri"/>
            </a:endParaRPr>
          </a:p>
          <a:p>
            <a:pPr indent="0" lvl="0" marL="0" rtl="0" algn="ctr">
              <a:spcBef>
                <a:spcPts val="0"/>
              </a:spcBef>
              <a:spcAft>
                <a:spcPts val="0"/>
              </a:spcAft>
              <a:buClr>
                <a:srgbClr val="000000"/>
              </a:buClr>
              <a:buFont typeface="Arial"/>
              <a:buNone/>
            </a:pPr>
            <a:r>
              <a:rPr b="1" lang="en-US" sz="3050">
                <a:solidFill>
                  <a:srgbClr val="000000"/>
                </a:solidFill>
                <a:latin typeface="Calibri"/>
                <a:ea typeface="Calibri"/>
                <a:cs typeface="Calibri"/>
                <a:sym typeface="Calibri"/>
              </a:rPr>
              <a:t>GANJI MUNI MADHURI (212223230060)</a:t>
            </a:r>
            <a:endParaRPr b="1" sz="3050">
              <a:solidFill>
                <a:srgbClr val="000000"/>
              </a:solidFill>
              <a:latin typeface="Calibri"/>
              <a:ea typeface="Calibri"/>
              <a:cs typeface="Calibri"/>
              <a:sym typeface="Calibri"/>
            </a:endParaRPr>
          </a:p>
          <a:p>
            <a:pPr indent="0" lvl="0" marL="0" rtl="0" algn="ctr">
              <a:spcBef>
                <a:spcPts val="0"/>
              </a:spcBef>
              <a:spcAft>
                <a:spcPts val="0"/>
              </a:spcAft>
              <a:buClr>
                <a:srgbClr val="000000"/>
              </a:buClr>
              <a:buFont typeface="Arial"/>
              <a:buNone/>
            </a:pPr>
            <a:r>
              <a:t/>
            </a:r>
            <a:endParaRPr b="1" sz="3050">
              <a:solidFill>
                <a:srgbClr val="000000"/>
              </a:solidFill>
              <a:latin typeface="Calibri"/>
              <a:ea typeface="Calibri"/>
              <a:cs typeface="Calibri"/>
              <a:sym typeface="Calibri"/>
            </a:endParaRPr>
          </a:p>
          <a:p>
            <a:pPr indent="0" lvl="0" marL="0" rtl="0" algn="ctr">
              <a:spcBef>
                <a:spcPts val="0"/>
              </a:spcBef>
              <a:spcAft>
                <a:spcPts val="0"/>
              </a:spcAft>
              <a:buClr>
                <a:srgbClr val="000000"/>
              </a:buClr>
              <a:buFont typeface="Arial"/>
              <a:buNone/>
            </a:pPr>
            <a:r>
              <a:rPr lang="en-US" sz="2800">
                <a:solidFill>
                  <a:srgbClr val="000000"/>
                </a:solidFill>
                <a:latin typeface="Calibri"/>
                <a:ea typeface="Calibri"/>
                <a:cs typeface="Calibri"/>
                <a:sym typeface="Calibri"/>
              </a:rPr>
              <a:t>2023-2027 Batch</a:t>
            </a:r>
            <a:endParaRPr sz="2800">
              <a:solidFill>
                <a:srgbClr val="000000"/>
              </a:solidFill>
              <a:latin typeface="Calibri"/>
              <a:ea typeface="Calibri"/>
              <a:cs typeface="Calibri"/>
              <a:sym typeface="Calibri"/>
            </a:endParaRPr>
          </a:p>
          <a:p>
            <a:pPr indent="0" lvl="0" marL="0" rtl="0" algn="ctr">
              <a:spcBef>
                <a:spcPts val="0"/>
              </a:spcBef>
              <a:spcAft>
                <a:spcPts val="0"/>
              </a:spcAft>
              <a:buClr>
                <a:srgbClr val="000000"/>
              </a:buClr>
              <a:buFont typeface="Arial"/>
              <a:buNone/>
            </a:pPr>
            <a:r>
              <a:rPr lang="en-US" sz="2800">
                <a:solidFill>
                  <a:srgbClr val="000000"/>
                </a:solidFill>
                <a:latin typeface="Calibri"/>
                <a:ea typeface="Calibri"/>
                <a:cs typeface="Calibri"/>
                <a:sym typeface="Calibri"/>
              </a:rPr>
              <a:t> TEAM NO: 087</a:t>
            </a:r>
            <a:endParaRPr>
              <a:solidFill>
                <a:srgbClr val="000000"/>
              </a:solidFill>
            </a:endParaRPr>
          </a:p>
          <a:p>
            <a:pPr indent="0" lvl="0" marL="0" rtl="0" algn="ctr">
              <a:spcBef>
                <a:spcPts val="0"/>
              </a:spcBef>
              <a:spcAft>
                <a:spcPts val="0"/>
              </a:spcAft>
              <a:buClr>
                <a:srgbClr val="000000"/>
              </a:buClr>
              <a:buFont typeface="Arial"/>
              <a:buNone/>
            </a:pPr>
            <a:r>
              <a:rPr b="1" lang="en-US" sz="2800">
                <a:solidFill>
                  <a:srgbClr val="000000"/>
                </a:solidFill>
                <a:latin typeface="Calibri"/>
                <a:ea typeface="Calibri"/>
                <a:cs typeface="Calibri"/>
                <a:sym typeface="Calibri"/>
              </a:rPr>
              <a:t>Under the guidance of:</a:t>
            </a:r>
            <a:endParaRPr sz="2800">
              <a:solidFill>
                <a:srgbClr val="000000"/>
              </a:solidFill>
              <a:latin typeface="Calibri"/>
              <a:ea typeface="Calibri"/>
              <a:cs typeface="Calibri"/>
              <a:sym typeface="Calibri"/>
            </a:endParaRPr>
          </a:p>
          <a:p>
            <a:pPr indent="0" lvl="0" marL="0" rtl="0" algn="ctr">
              <a:spcBef>
                <a:spcPts val="0"/>
              </a:spcBef>
              <a:spcAft>
                <a:spcPts val="0"/>
              </a:spcAft>
              <a:buClr>
                <a:srgbClr val="000000"/>
              </a:buClr>
              <a:buFont typeface="Arial"/>
              <a:buNone/>
            </a:pPr>
            <a:r>
              <a:rPr b="1" lang="en-US" sz="3400">
                <a:solidFill>
                  <a:srgbClr val="000000"/>
                </a:solidFill>
                <a:latin typeface="Calibri"/>
                <a:ea typeface="Calibri"/>
                <a:cs typeface="Calibri"/>
                <a:sym typeface="Calibri"/>
              </a:rPr>
              <a:t>JABA JASPHIN E.T</a:t>
            </a:r>
            <a:endParaRPr b="1" sz="3400">
              <a:solidFill>
                <a:srgbClr val="000000"/>
              </a:solidFill>
              <a:latin typeface="Calibri"/>
              <a:ea typeface="Calibri"/>
              <a:cs typeface="Calibri"/>
              <a:sym typeface="Calibri"/>
            </a:endParaRPr>
          </a:p>
          <a:p>
            <a:pPr indent="0" lvl="0" marL="0" rtl="0" algn="ctr">
              <a:spcBef>
                <a:spcPts val="0"/>
              </a:spcBef>
              <a:spcAft>
                <a:spcPts val="0"/>
              </a:spcAft>
              <a:buClr>
                <a:srgbClr val="000000"/>
              </a:buClr>
              <a:buFont typeface="Arial"/>
              <a:buNone/>
            </a:pPr>
            <a:r>
              <a:rPr b="1" lang="en-US" sz="2800">
                <a:solidFill>
                  <a:srgbClr val="000000"/>
                </a:solidFill>
                <a:latin typeface="Calibri"/>
                <a:ea typeface="Calibri"/>
                <a:cs typeface="Calibri"/>
                <a:sym typeface="Calibri"/>
              </a:rPr>
              <a:t> NAME OF THE GUIDE</a:t>
            </a:r>
            <a:endParaRPr sz="2800">
              <a:solidFill>
                <a:srgbClr val="000000"/>
              </a:solidFill>
              <a:latin typeface="Calibri"/>
              <a:ea typeface="Calibri"/>
              <a:cs typeface="Calibri"/>
              <a:sym typeface="Calibri"/>
            </a:endParaRPr>
          </a:p>
          <a:p>
            <a:pPr indent="0" lvl="0" marL="0" rtl="0" algn="ctr">
              <a:spcBef>
                <a:spcPts val="0"/>
              </a:spcBef>
              <a:spcAft>
                <a:spcPts val="0"/>
              </a:spcAft>
              <a:buClr>
                <a:srgbClr val="000000"/>
              </a:buClr>
              <a:buFont typeface="Arial"/>
              <a:buNone/>
            </a:pPr>
            <a:r>
              <a:rPr b="1" lang="en-US" sz="3400">
                <a:solidFill>
                  <a:srgbClr val="000000"/>
                </a:solidFill>
                <a:latin typeface="Calibri"/>
                <a:ea typeface="Calibri"/>
                <a:cs typeface="Calibri"/>
                <a:sym typeface="Calibri"/>
              </a:rPr>
              <a:t>JABA JASPHIN E.T</a:t>
            </a:r>
            <a:endParaRPr b="1" sz="3400">
              <a:solidFill>
                <a:srgbClr val="000000"/>
              </a:solidFill>
              <a:latin typeface="Calibri"/>
              <a:ea typeface="Calibri"/>
              <a:cs typeface="Calibri"/>
              <a:sym typeface="Calibri"/>
            </a:endParaRPr>
          </a:p>
          <a:p>
            <a:pPr indent="0" lvl="0" marL="0" rtl="0" algn="ctr">
              <a:spcBef>
                <a:spcPts val="0"/>
              </a:spcBef>
              <a:spcAft>
                <a:spcPts val="0"/>
              </a:spcAft>
              <a:buClr>
                <a:srgbClr val="000000"/>
              </a:buClr>
              <a:buFont typeface="Arial"/>
              <a:buNone/>
            </a:pPr>
            <a:r>
              <a:rPr lang="en-US" sz="2800">
                <a:solidFill>
                  <a:srgbClr val="000000"/>
                </a:solidFill>
                <a:latin typeface="Calibri"/>
                <a:ea typeface="Calibri"/>
                <a:cs typeface="Calibri"/>
                <a:sym typeface="Calibri"/>
              </a:rPr>
              <a:t>Assistant Professor(SG)</a:t>
            </a:r>
            <a:br>
              <a:rPr lang="en-US" sz="2800">
                <a:solidFill>
                  <a:srgbClr val="000000"/>
                </a:solidFill>
                <a:latin typeface="Calibri"/>
                <a:ea typeface="Calibri"/>
                <a:cs typeface="Calibri"/>
                <a:sym typeface="Calibri"/>
              </a:rPr>
            </a:br>
            <a:r>
              <a:rPr lang="en-US" sz="2800">
                <a:solidFill>
                  <a:srgbClr val="000000"/>
                </a:solidFill>
                <a:latin typeface="Calibri"/>
                <a:ea typeface="Calibri"/>
                <a:cs typeface="Calibri"/>
                <a:sym typeface="Calibri"/>
              </a:rPr>
              <a:t>Designation, Department of AIDS</a:t>
            </a:r>
            <a:endParaRPr sz="2800">
              <a:solidFill>
                <a:srgbClr val="000000"/>
              </a:solidFill>
              <a:latin typeface="Calibri"/>
              <a:ea typeface="Calibri"/>
              <a:cs typeface="Calibri"/>
              <a:sym typeface="Calibri"/>
            </a:endParaRPr>
          </a:p>
          <a:p>
            <a:pPr indent="-134619" lvl="1" marL="742950" rtl="0" algn="l">
              <a:spcBef>
                <a:spcPts val="476"/>
              </a:spcBef>
              <a:spcAft>
                <a:spcPts val="0"/>
              </a:spcAft>
              <a:buClr>
                <a:srgbClr val="000000"/>
              </a:buClr>
              <a:buSzPct val="100000"/>
              <a:buFont typeface="Arial"/>
              <a:buNone/>
            </a:pPr>
            <a:r>
              <a:t/>
            </a:r>
            <a:endParaRPr sz="2800">
              <a:solidFill>
                <a:srgbClr val="000000"/>
              </a:solidFill>
              <a:latin typeface="Calibri"/>
              <a:ea typeface="Calibri"/>
              <a:cs typeface="Calibri"/>
              <a:sym typeface="Calibri"/>
            </a:endParaRPr>
          </a:p>
          <a:p>
            <a:pPr indent="-134618" lvl="1" marL="742950" marR="0" rtl="0" algn="l">
              <a:lnSpc>
                <a:spcPct val="100000"/>
              </a:lnSpc>
              <a:spcBef>
                <a:spcPts val="476"/>
              </a:spcBef>
              <a:spcAft>
                <a:spcPts val="0"/>
              </a:spcAft>
              <a:buClr>
                <a:srgbClr val="000000"/>
              </a:buClr>
              <a:buSzPct val="100000"/>
              <a:buFont typeface="Arial"/>
              <a:buNone/>
            </a:pPr>
            <a:r>
              <a:t/>
            </a:r>
            <a:endParaRPr b="1" sz="2800" u="sng">
              <a:solidFill>
                <a:srgbClr val="000000"/>
              </a:solidFill>
              <a:latin typeface="Calibri"/>
              <a:ea typeface="Calibri"/>
              <a:cs typeface="Calibri"/>
              <a:sym typeface="Calibri"/>
            </a:endParaRPr>
          </a:p>
        </p:txBody>
      </p:sp>
      <p:sp>
        <p:nvSpPr>
          <p:cNvPr id="97" name="Google Shape;97;p14"/>
          <p:cNvSpPr txBox="1"/>
          <p:nvPr/>
        </p:nvSpPr>
        <p:spPr>
          <a:xfrm>
            <a:off x="-342900" y="5474575"/>
            <a:ext cx="9829800" cy="1201500"/>
          </a:xfrm>
          <a:prstGeom prst="rect">
            <a:avLst/>
          </a:prstGeom>
          <a:noFill/>
          <a:ln>
            <a:noFill/>
          </a:ln>
        </p:spPr>
        <p:txBody>
          <a:bodyPr anchorCtr="0" anchor="t" bIns="45700" lIns="91425" spcFirstLastPara="1" rIns="91425" wrap="square" tIns="45700">
            <a:normAutofit fontScale="32500" lnSpcReduction="10000"/>
          </a:bodyPr>
          <a:lstStyle/>
          <a:p>
            <a:pPr indent="0" lvl="0" marL="0" marR="0" rtl="0" algn="l">
              <a:lnSpc>
                <a:spcPct val="100000"/>
              </a:lnSpc>
              <a:spcBef>
                <a:spcPts val="0"/>
              </a:spcBef>
              <a:spcAft>
                <a:spcPts val="0"/>
              </a:spcAft>
              <a:buClr>
                <a:srgbClr val="000000"/>
              </a:buClr>
              <a:buSzPct val="100000"/>
              <a:buFont typeface="Arial"/>
              <a:buNone/>
            </a:pPr>
            <a:r>
              <a:t/>
            </a:r>
            <a:endParaRPr b="0" i="0" sz="2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ct val="100000"/>
              <a:buFont typeface="Arial"/>
              <a:buNone/>
            </a:pPr>
            <a:r>
              <a:rPr b="0" i="0" lang="en-US" sz="24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ct val="100000"/>
              <a:buFont typeface="Arial"/>
              <a:buNone/>
            </a:pPr>
            <a:r>
              <a:rPr b="1" i="0" lang="en-US" sz="2400" u="none" cap="none" strike="noStrike">
                <a:solidFill>
                  <a:srgbClr val="000000"/>
                </a:solidFill>
                <a:latin typeface="Calibri"/>
                <a:ea typeface="Calibri"/>
                <a:cs typeface="Calibri"/>
                <a:sym typeface="Calibri"/>
              </a:rPr>
              <a:t>  </a:t>
            </a:r>
            <a:r>
              <a:rPr b="1" i="0" lang="en-US" sz="3500" u="none" cap="none" strike="noStrike">
                <a:solidFill>
                  <a:srgbClr val="000000"/>
                </a:solidFill>
                <a:latin typeface="Calibri"/>
                <a:ea typeface="Calibri"/>
                <a:cs typeface="Calibri"/>
                <a:sym typeface="Calibri"/>
              </a:rPr>
              <a:t>DEPARTMENT OF COMPUTER SCIENCE AND ENGINEERING(IOT)</a:t>
            </a:r>
            <a:endParaRPr b="0" i="0" sz="35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ct val="100000"/>
              <a:buFont typeface="Arial"/>
              <a:buNone/>
            </a:pPr>
            <a:r>
              <a:rPr b="1" i="0" lang="en-US" sz="2400" u="none" cap="none" strike="noStrike">
                <a:solidFill>
                  <a:srgbClr val="000000"/>
                </a:solidFill>
                <a:latin typeface="Calibri"/>
                <a:ea typeface="Calibri"/>
                <a:cs typeface="Calibri"/>
                <a:sym typeface="Calibri"/>
              </a:rPr>
              <a:t>  </a:t>
            </a:r>
            <a:r>
              <a:rPr b="1" i="0" lang="en-US" sz="5100" u="none" cap="none" strike="noStrike">
                <a:solidFill>
                  <a:srgbClr val="000000"/>
                </a:solidFill>
                <a:latin typeface="Calibri"/>
                <a:ea typeface="Calibri"/>
                <a:cs typeface="Calibri"/>
                <a:sym typeface="Calibri"/>
              </a:rPr>
              <a:t>SAVEETHA ENGINEERING COLLEGE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ct val="100000"/>
              <a:buFont typeface="Arial"/>
              <a:buNone/>
            </a:pPr>
            <a:r>
              <a:rPr b="1" i="0" lang="en-US" sz="2400" u="none" cap="none" strike="noStrike">
                <a:solidFill>
                  <a:srgbClr val="000000"/>
                </a:solidFill>
                <a:latin typeface="Calibri"/>
                <a:ea typeface="Calibri"/>
                <a:cs typeface="Calibri"/>
                <a:sym typeface="Calibri"/>
              </a:rPr>
              <a:t>(Autonomous Institution – UGC, Govt. of India)</a:t>
            </a:r>
            <a:endParaRPr b="0" i="0" sz="24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ct val="100000"/>
              <a:buFont typeface="Arial"/>
              <a:buNone/>
            </a:pPr>
            <a:r>
              <a:rPr b="0" i="0" lang="en-US" sz="2400" u="none" cap="none" strike="noStrike">
                <a:solidFill>
                  <a:srgbClr val="000000"/>
                </a:solidFill>
                <a:latin typeface="Calibri"/>
                <a:ea typeface="Calibri"/>
                <a:cs typeface="Calibri"/>
                <a:sym typeface="Calibri"/>
              </a:rPr>
              <a:t> (Affiliated to Anna University, Approved by AICTE - Accredited by NBA &amp; NAAC – ‘A’ Grade - ISO 9001:2015 Certified)</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ct val="100000"/>
              <a:buFont typeface="Arial"/>
              <a:buNone/>
            </a:pPr>
            <a:r>
              <a:rPr b="0" i="0" lang="en-US" sz="2400" u="none" cap="none" strike="noStrike">
                <a:solidFill>
                  <a:srgbClr val="000000"/>
                </a:solidFill>
                <a:latin typeface="Calibri"/>
                <a:ea typeface="Calibri"/>
                <a:cs typeface="Calibri"/>
                <a:sym typeface="Calibri"/>
              </a:rPr>
              <a:t>Saveetha Nagar, Thandalam, Chennai-602 105, TamilNadu, INDIA.</a:t>
            </a:r>
            <a:endParaRPr b="0" i="0" sz="2800" u="none" cap="none" strike="noStrike">
              <a:solidFill>
                <a:srgbClr val="000000"/>
              </a:solidFill>
              <a:latin typeface="Calibri"/>
              <a:ea typeface="Calibri"/>
              <a:cs typeface="Calibri"/>
              <a:sym typeface="Calibri"/>
            </a:endParaRPr>
          </a:p>
          <a:p>
            <a:pPr indent="-201293" lvl="1" marL="742950" marR="0" rtl="0" algn="l">
              <a:lnSpc>
                <a:spcPct val="100000"/>
              </a:lnSpc>
              <a:spcBef>
                <a:spcPts val="266"/>
              </a:spcBef>
              <a:spcAft>
                <a:spcPts val="0"/>
              </a:spcAft>
              <a:buClr>
                <a:srgbClr val="000000"/>
              </a:buClr>
              <a:buSzPct val="100000"/>
              <a:buFont typeface="Arial"/>
              <a:buNone/>
            </a:pPr>
            <a:r>
              <a:t/>
            </a:r>
            <a:endParaRPr b="0" i="0" sz="2800" u="none" cap="none" strike="noStrike">
              <a:solidFill>
                <a:srgbClr val="0000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5"/>
          <p:cNvSpPr txBox="1"/>
          <p:nvPr>
            <p:ph idx="4294967295" type="title"/>
          </p:nvPr>
        </p:nvSpPr>
        <p:spPr>
          <a:xfrm>
            <a:off x="457200" y="274638"/>
            <a:ext cx="8229600" cy="639762"/>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n-US"/>
              <a:t>Agenda</a:t>
            </a:r>
            <a:endParaRPr/>
          </a:p>
        </p:txBody>
      </p:sp>
      <p:sp>
        <p:nvSpPr>
          <p:cNvPr id="103" name="Google Shape;103;p15"/>
          <p:cNvSpPr txBox="1"/>
          <p:nvPr>
            <p:ph idx="4294967295" type="body"/>
          </p:nvPr>
        </p:nvSpPr>
        <p:spPr>
          <a:xfrm>
            <a:off x="228600" y="990600"/>
            <a:ext cx="8630700" cy="5553900"/>
          </a:xfrm>
          <a:prstGeom prst="rect">
            <a:avLst/>
          </a:prstGeom>
          <a:noFill/>
          <a:ln>
            <a:noFill/>
          </a:ln>
        </p:spPr>
        <p:txBody>
          <a:bodyPr anchorCtr="0" anchor="t" bIns="45700" lIns="91425" spcFirstLastPara="1" rIns="91425" wrap="square" tIns="45700">
            <a:normAutofit fontScale="85000" lnSpcReduction="20000"/>
          </a:bodyPr>
          <a:lstStyle/>
          <a:p>
            <a:pPr indent="-382428" lvl="0" marL="457200" rtl="0" algn="l">
              <a:lnSpc>
                <a:spcPct val="100000"/>
              </a:lnSpc>
              <a:spcBef>
                <a:spcPts val="0"/>
              </a:spcBef>
              <a:spcAft>
                <a:spcPts val="0"/>
              </a:spcAft>
              <a:buSzPct val="100000"/>
              <a:buAutoNum type="arabicPeriod"/>
            </a:pPr>
            <a:r>
              <a:rPr lang="en-US" sz="2850"/>
              <a:t>Introduction</a:t>
            </a:r>
            <a:endParaRPr sz="2850"/>
          </a:p>
          <a:p>
            <a:pPr indent="-382428" lvl="0" marL="457200" rtl="0" algn="l">
              <a:lnSpc>
                <a:spcPct val="100000"/>
              </a:lnSpc>
              <a:spcBef>
                <a:spcPts val="0"/>
              </a:spcBef>
              <a:spcAft>
                <a:spcPts val="0"/>
              </a:spcAft>
              <a:buSzPct val="100000"/>
              <a:buAutoNum type="arabicPeriod"/>
            </a:pPr>
            <a:r>
              <a:rPr lang="en-US" sz="2850"/>
              <a:t>Statement of the Problem</a:t>
            </a:r>
            <a:endParaRPr sz="2850"/>
          </a:p>
          <a:p>
            <a:pPr indent="-331152" lvl="1" marL="914400" rtl="0" algn="l">
              <a:spcBef>
                <a:spcPts val="560"/>
              </a:spcBef>
              <a:spcAft>
                <a:spcPts val="0"/>
              </a:spcAft>
              <a:buSzPct val="100000"/>
              <a:buFont typeface="Calibri"/>
              <a:buAutoNum type="alphaLcPeriod"/>
            </a:pPr>
            <a:r>
              <a:rPr lang="en-US" sz="1900"/>
              <a:t>Communication issues during emergencies</a:t>
            </a:r>
            <a:endParaRPr sz="1900"/>
          </a:p>
          <a:p>
            <a:pPr indent="-331152" lvl="1" marL="914400" rtl="0" algn="l">
              <a:spcBef>
                <a:spcPts val="560"/>
              </a:spcBef>
              <a:spcAft>
                <a:spcPts val="0"/>
              </a:spcAft>
              <a:buSzPct val="100000"/>
              <a:buAutoNum type="alphaLcPeriod"/>
            </a:pPr>
            <a:r>
              <a:rPr lang="en-US" sz="1900"/>
              <a:t>Existing challenges in flood detection</a:t>
            </a:r>
            <a:endParaRPr sz="1900"/>
          </a:p>
          <a:p>
            <a:pPr indent="-331152" lvl="1" marL="914400" rtl="0" algn="l">
              <a:spcBef>
                <a:spcPts val="560"/>
              </a:spcBef>
              <a:spcAft>
                <a:spcPts val="0"/>
              </a:spcAft>
              <a:buSzPct val="100000"/>
              <a:buAutoNum type="alphaLcPeriod"/>
            </a:pPr>
            <a:r>
              <a:rPr lang="en-US" sz="1900"/>
              <a:t>Need for predictive and intelligent monitoring</a:t>
            </a:r>
            <a:endParaRPr sz="1900"/>
          </a:p>
          <a:p>
            <a:pPr indent="-382428" lvl="0" marL="457200" rtl="0" algn="l">
              <a:lnSpc>
                <a:spcPct val="100000"/>
              </a:lnSpc>
              <a:spcBef>
                <a:spcPts val="0"/>
              </a:spcBef>
              <a:spcAft>
                <a:spcPts val="0"/>
              </a:spcAft>
              <a:buSzPct val="100000"/>
              <a:buAutoNum type="arabicPeriod"/>
            </a:pPr>
            <a:r>
              <a:rPr lang="en-US" sz="2850"/>
              <a:t>Scope of the project</a:t>
            </a:r>
            <a:endParaRPr sz="2850"/>
          </a:p>
          <a:p>
            <a:pPr indent="-331152" lvl="1" marL="914400" rtl="0" algn="l">
              <a:lnSpc>
                <a:spcPct val="100000"/>
              </a:lnSpc>
              <a:spcBef>
                <a:spcPts val="0"/>
              </a:spcBef>
              <a:spcAft>
                <a:spcPts val="0"/>
              </a:spcAft>
              <a:buSzPct val="100000"/>
              <a:buAutoNum type="alphaLcPeriod"/>
            </a:pPr>
            <a:r>
              <a:rPr lang="en-US" sz="1900"/>
              <a:t>Functional &amp; Non-functional scope</a:t>
            </a:r>
            <a:endParaRPr sz="1900"/>
          </a:p>
          <a:p>
            <a:pPr indent="-382428" lvl="0" marL="457200" rtl="0" algn="l">
              <a:lnSpc>
                <a:spcPct val="100000"/>
              </a:lnSpc>
              <a:spcBef>
                <a:spcPts val="0"/>
              </a:spcBef>
              <a:spcAft>
                <a:spcPts val="0"/>
              </a:spcAft>
              <a:buSzPct val="100000"/>
              <a:buAutoNum type="arabicPeriod"/>
            </a:pPr>
            <a:r>
              <a:rPr lang="en-US" sz="2850"/>
              <a:t>Methodology </a:t>
            </a:r>
            <a:endParaRPr sz="2850"/>
          </a:p>
          <a:p>
            <a:pPr indent="-341947" lvl="1" marL="914400" rtl="0" algn="l">
              <a:lnSpc>
                <a:spcPct val="100000"/>
              </a:lnSpc>
              <a:spcBef>
                <a:spcPts val="0"/>
              </a:spcBef>
              <a:spcAft>
                <a:spcPts val="0"/>
              </a:spcAft>
              <a:buSzPct val="100000"/>
              <a:buAutoNum type="alphaLcPeriod"/>
            </a:pPr>
            <a:r>
              <a:rPr lang="en-US" sz="2100"/>
              <a:t>Architectural Diagram/Flow</a:t>
            </a:r>
            <a:endParaRPr sz="2100"/>
          </a:p>
          <a:p>
            <a:pPr indent="-341947" lvl="1" marL="914400" rtl="0" algn="l">
              <a:lnSpc>
                <a:spcPct val="100000"/>
              </a:lnSpc>
              <a:spcBef>
                <a:spcPts val="0"/>
              </a:spcBef>
              <a:spcAft>
                <a:spcPts val="0"/>
              </a:spcAft>
              <a:buSzPct val="100000"/>
              <a:buAutoNum type="alphaLcPeriod"/>
            </a:pPr>
            <a:r>
              <a:rPr lang="en-US" sz="2100"/>
              <a:t>Design - Use Case Diagram, Class Diagram, Sequence Diagram </a:t>
            </a:r>
            <a:endParaRPr sz="2100"/>
          </a:p>
          <a:p>
            <a:pPr indent="-341947" lvl="1" marL="914400" rtl="0" algn="l">
              <a:spcBef>
                <a:spcPts val="0"/>
              </a:spcBef>
              <a:spcAft>
                <a:spcPts val="0"/>
              </a:spcAft>
              <a:buSzPct val="100000"/>
              <a:buAutoNum type="alphaLcPeriod"/>
            </a:pPr>
            <a:r>
              <a:rPr lang="en-US" sz="2100"/>
              <a:t>Algorithm used</a:t>
            </a:r>
            <a:endParaRPr sz="2100"/>
          </a:p>
          <a:p>
            <a:pPr indent="-341947" lvl="1" marL="914400" rtl="0" algn="l">
              <a:lnSpc>
                <a:spcPct val="100000"/>
              </a:lnSpc>
              <a:spcBef>
                <a:spcPts val="0"/>
              </a:spcBef>
              <a:spcAft>
                <a:spcPts val="0"/>
              </a:spcAft>
              <a:buSzPct val="100000"/>
              <a:buAutoNum type="alphaLcPeriod"/>
            </a:pPr>
            <a:r>
              <a:rPr lang="en-US" sz="2100"/>
              <a:t>Implementation</a:t>
            </a:r>
            <a:endParaRPr sz="2100"/>
          </a:p>
          <a:p>
            <a:pPr indent="-341947" lvl="1" marL="914400" rtl="0" algn="l">
              <a:lnSpc>
                <a:spcPct val="100000"/>
              </a:lnSpc>
              <a:spcBef>
                <a:spcPts val="0"/>
              </a:spcBef>
              <a:spcAft>
                <a:spcPts val="0"/>
              </a:spcAft>
              <a:buSzPct val="100000"/>
              <a:buAutoNum type="alphaLcPeriod"/>
            </a:pPr>
            <a:r>
              <a:rPr lang="en-US" sz="2100"/>
              <a:t>Important code segments</a:t>
            </a:r>
            <a:endParaRPr sz="2100"/>
          </a:p>
          <a:p>
            <a:pPr indent="-382428" lvl="0" marL="457200" rtl="0" algn="l">
              <a:lnSpc>
                <a:spcPct val="100000"/>
              </a:lnSpc>
              <a:spcBef>
                <a:spcPts val="0"/>
              </a:spcBef>
              <a:spcAft>
                <a:spcPts val="0"/>
              </a:spcAft>
              <a:buSzPct val="100000"/>
              <a:buAutoNum type="arabicPeriod"/>
            </a:pPr>
            <a:r>
              <a:rPr lang="en-US" sz="2850"/>
              <a:t>Output, Results</a:t>
            </a:r>
            <a:endParaRPr sz="2850"/>
          </a:p>
          <a:p>
            <a:pPr indent="-382428" lvl="0" marL="457200" rtl="0" algn="l">
              <a:lnSpc>
                <a:spcPct val="100000"/>
              </a:lnSpc>
              <a:spcBef>
                <a:spcPts val="0"/>
              </a:spcBef>
              <a:spcAft>
                <a:spcPts val="0"/>
              </a:spcAft>
              <a:buSzPct val="100000"/>
              <a:buAutoNum type="arabicPeriod"/>
            </a:pPr>
            <a:r>
              <a:rPr lang="en-US" sz="2850"/>
              <a:t>Test Cases</a:t>
            </a:r>
            <a:endParaRPr sz="2850"/>
          </a:p>
          <a:p>
            <a:pPr indent="-382428" lvl="0" marL="457200" rtl="0" algn="l">
              <a:lnSpc>
                <a:spcPct val="100000"/>
              </a:lnSpc>
              <a:spcBef>
                <a:spcPts val="0"/>
              </a:spcBef>
              <a:spcAft>
                <a:spcPts val="0"/>
              </a:spcAft>
              <a:buSzPct val="100000"/>
              <a:buAutoNum type="arabicPeriod"/>
            </a:pPr>
            <a:r>
              <a:rPr lang="en-US" sz="2850"/>
              <a:t>Conclusions</a:t>
            </a:r>
            <a:endParaRPr sz="2850"/>
          </a:p>
          <a:p>
            <a:pPr indent="-382428" lvl="0" marL="457200" rtl="0" algn="l">
              <a:lnSpc>
                <a:spcPct val="100000"/>
              </a:lnSpc>
              <a:spcBef>
                <a:spcPts val="0"/>
              </a:spcBef>
              <a:spcAft>
                <a:spcPts val="0"/>
              </a:spcAft>
              <a:buSzPct val="100000"/>
              <a:buAutoNum type="arabicPeriod"/>
            </a:pPr>
            <a:r>
              <a:rPr lang="en-US" sz="2850"/>
              <a:t>Future work</a:t>
            </a:r>
            <a:endParaRPr sz="2850"/>
          </a:p>
          <a:p>
            <a:pPr indent="-382428" lvl="0" marL="457200" rtl="0" algn="l">
              <a:lnSpc>
                <a:spcPct val="100000"/>
              </a:lnSpc>
              <a:spcBef>
                <a:spcPts val="0"/>
              </a:spcBef>
              <a:spcAft>
                <a:spcPts val="0"/>
              </a:spcAft>
              <a:buSzPct val="100000"/>
              <a:buAutoNum type="arabicPeriod"/>
            </a:pPr>
            <a:r>
              <a:rPr lang="en-US" sz="2850"/>
              <a:t>References</a:t>
            </a:r>
            <a:endParaRPr sz="2850"/>
          </a:p>
          <a:p>
            <a:pPr indent="-342900" lvl="0" marL="342900" rtl="0" algn="l">
              <a:lnSpc>
                <a:spcPct val="100000"/>
              </a:lnSpc>
              <a:spcBef>
                <a:spcPts val="640"/>
              </a:spcBef>
              <a:spcAft>
                <a:spcPts val="0"/>
              </a:spcAft>
              <a:buClr>
                <a:schemeClr val="dk1"/>
              </a:buClr>
              <a:buSzPct val="1000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6"/>
          <p:cNvSpPr txBox="1"/>
          <p:nvPr>
            <p:ph idx="4294967295" type="title"/>
          </p:nvPr>
        </p:nvSpPr>
        <p:spPr>
          <a:xfrm>
            <a:off x="457200" y="274638"/>
            <a:ext cx="8229600" cy="6399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n-US"/>
              <a:t>Introduction</a:t>
            </a:r>
            <a:endParaRPr/>
          </a:p>
        </p:txBody>
      </p:sp>
      <p:sp>
        <p:nvSpPr>
          <p:cNvPr id="109" name="Google Shape;109;p16"/>
          <p:cNvSpPr txBox="1"/>
          <p:nvPr>
            <p:ph idx="4294967295" type="body"/>
          </p:nvPr>
        </p:nvSpPr>
        <p:spPr>
          <a:xfrm>
            <a:off x="228600" y="990600"/>
            <a:ext cx="8610600" cy="5257800"/>
          </a:xfrm>
          <a:prstGeom prst="rect">
            <a:avLst/>
          </a:prstGeom>
          <a:noFill/>
          <a:ln>
            <a:noFill/>
          </a:ln>
        </p:spPr>
        <p:txBody>
          <a:bodyPr anchorCtr="0" anchor="t" bIns="45700" lIns="91425" spcFirstLastPara="1" rIns="91425" wrap="square" tIns="45700">
            <a:noAutofit/>
          </a:bodyPr>
          <a:lstStyle/>
          <a:p>
            <a:pPr indent="-285751" lvl="0" marL="342900" rtl="0" algn="l">
              <a:lnSpc>
                <a:spcPct val="100000"/>
              </a:lnSpc>
              <a:spcBef>
                <a:spcPts val="518"/>
              </a:spcBef>
              <a:spcAft>
                <a:spcPts val="0"/>
              </a:spcAft>
              <a:buSzPts val="2300"/>
              <a:buChar char="•"/>
            </a:pPr>
            <a:r>
              <a:rPr lang="en-US" sz="2300"/>
              <a:t>Flood Prediction using AI &amp; IoT</a:t>
            </a:r>
            <a:endParaRPr sz="2300"/>
          </a:p>
          <a:p>
            <a:pPr indent="-267335" lvl="1" marL="742950" rtl="0" algn="l">
              <a:lnSpc>
                <a:spcPct val="100000"/>
              </a:lnSpc>
              <a:spcBef>
                <a:spcPts val="518"/>
              </a:spcBef>
              <a:spcAft>
                <a:spcPts val="0"/>
              </a:spcAft>
              <a:buClr>
                <a:schemeClr val="dk1"/>
              </a:buClr>
              <a:buSzPts val="2300"/>
              <a:buChar char="–"/>
            </a:pPr>
            <a:r>
              <a:rPr lang="en-US" sz="2300"/>
              <a:t> </a:t>
            </a:r>
            <a:r>
              <a:rPr lang="en-US" sz="2300"/>
              <a:t>Floods are one of the most frequent and destructive natural disasters, leading to severe loss of life, economic damage, and infrastructure failure.</a:t>
            </a:r>
            <a:endParaRPr sz="2300"/>
          </a:p>
          <a:p>
            <a:pPr indent="-254000" lvl="1" marL="742950" rtl="0" algn="l">
              <a:lnSpc>
                <a:spcPct val="100000"/>
              </a:lnSpc>
              <a:spcBef>
                <a:spcPts val="518"/>
              </a:spcBef>
              <a:spcAft>
                <a:spcPts val="0"/>
              </a:spcAft>
              <a:buSzPts val="2300"/>
              <a:buChar char="–"/>
            </a:pPr>
            <a:r>
              <a:rPr lang="en-US" sz="2300"/>
              <a:t>Rapid urbanization and poor drainage systems make cities like Chennai highly vulnerable to flash floods during monsoon seasons.</a:t>
            </a:r>
            <a:endParaRPr sz="2300"/>
          </a:p>
          <a:p>
            <a:pPr indent="-254000" lvl="1" marL="742950" rtl="0" algn="l">
              <a:lnSpc>
                <a:spcPct val="100000"/>
              </a:lnSpc>
              <a:spcBef>
                <a:spcPts val="518"/>
              </a:spcBef>
              <a:spcAft>
                <a:spcPts val="0"/>
              </a:spcAft>
              <a:buSzPts val="2300"/>
              <a:buChar char="–"/>
            </a:pPr>
            <a:r>
              <a:rPr lang="en-US" sz="2300"/>
              <a:t>Sudden rises in water levels and unexpected heavy rainfall make early flood detection challenging with traditional monitoring systems.</a:t>
            </a:r>
            <a:endParaRPr sz="2300"/>
          </a:p>
          <a:p>
            <a:pPr indent="-254000" lvl="1" marL="742950" rtl="0" algn="l">
              <a:lnSpc>
                <a:spcPct val="100000"/>
              </a:lnSpc>
              <a:spcBef>
                <a:spcPts val="518"/>
              </a:spcBef>
              <a:spcAft>
                <a:spcPts val="0"/>
              </a:spcAft>
              <a:buSzPts val="2300"/>
              <a:buChar char="–"/>
            </a:pPr>
            <a:r>
              <a:rPr lang="en-US" sz="2300"/>
              <a:t>According to the National Disaster Management Authority (NDMA), timely flood warnings can significantly reduce casualties and improve emergency response effectiveness.</a:t>
            </a:r>
            <a:endParaRPr sz="2300"/>
          </a:p>
          <a:p>
            <a:pPr indent="-254000" lvl="1" marL="742950" rtl="0" algn="l">
              <a:lnSpc>
                <a:spcPct val="100000"/>
              </a:lnSpc>
              <a:spcBef>
                <a:spcPts val="518"/>
              </a:spcBef>
              <a:spcAft>
                <a:spcPts val="0"/>
              </a:spcAft>
              <a:buSzPts val="2300"/>
              <a:buChar char="–"/>
            </a:pPr>
            <a:r>
              <a:rPr lang="en-US" sz="2300"/>
              <a:t>Early diagnosis and treatment are crucial for improving outcomes.</a:t>
            </a:r>
            <a:endParaRPr sz="23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7"/>
          <p:cNvSpPr txBox="1"/>
          <p:nvPr>
            <p:ph idx="4294967295" type="title"/>
          </p:nvPr>
        </p:nvSpPr>
        <p:spPr>
          <a:xfrm>
            <a:off x="457200" y="274638"/>
            <a:ext cx="8229600" cy="6399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n-US"/>
              <a:t>Statement of the Problem</a:t>
            </a:r>
            <a:endParaRPr/>
          </a:p>
        </p:txBody>
      </p:sp>
      <p:sp>
        <p:nvSpPr>
          <p:cNvPr id="115" name="Google Shape;115;p17"/>
          <p:cNvSpPr txBox="1"/>
          <p:nvPr>
            <p:ph idx="4294967295" type="body"/>
          </p:nvPr>
        </p:nvSpPr>
        <p:spPr>
          <a:xfrm>
            <a:off x="228600" y="990600"/>
            <a:ext cx="8610600" cy="5257800"/>
          </a:xfrm>
          <a:prstGeom prst="rect">
            <a:avLst/>
          </a:prstGeom>
          <a:noFill/>
          <a:ln>
            <a:noFill/>
          </a:ln>
        </p:spPr>
        <p:txBody>
          <a:bodyPr anchorCtr="0" anchor="t" bIns="45700" lIns="91425" spcFirstLastPara="1" rIns="91425" wrap="square" tIns="45700">
            <a:noAutofit/>
          </a:bodyPr>
          <a:lstStyle/>
          <a:p>
            <a:pPr indent="-285750" lvl="0" marL="342900" rtl="0" algn="l">
              <a:lnSpc>
                <a:spcPct val="100000"/>
              </a:lnSpc>
              <a:spcBef>
                <a:spcPts val="518"/>
              </a:spcBef>
              <a:spcAft>
                <a:spcPts val="0"/>
              </a:spcAft>
              <a:buSzPts val="2300"/>
              <a:buChar char="•"/>
            </a:pPr>
            <a:r>
              <a:rPr lang="en-US" sz="2300"/>
              <a:t>Challenges in Flood Monitoring and Alerting</a:t>
            </a:r>
            <a:endParaRPr sz="2300"/>
          </a:p>
          <a:p>
            <a:pPr indent="-254000" lvl="1" marL="742950" rtl="0" algn="l">
              <a:lnSpc>
                <a:spcPct val="100000"/>
              </a:lnSpc>
              <a:spcBef>
                <a:spcPts val="518"/>
              </a:spcBef>
              <a:spcAft>
                <a:spcPts val="0"/>
              </a:spcAft>
              <a:buSzPts val="2300"/>
              <a:buChar char="–"/>
            </a:pPr>
            <a:r>
              <a:rPr b="1" lang="en-US" sz="2300"/>
              <a:t>Challenge</a:t>
            </a:r>
            <a:r>
              <a:rPr lang="en-US" sz="2300"/>
              <a:t>: </a:t>
            </a:r>
            <a:endParaRPr sz="2300"/>
          </a:p>
          <a:p>
            <a:pPr indent="-254000" lvl="1" marL="742950" rtl="0" algn="l">
              <a:lnSpc>
                <a:spcPct val="100000"/>
              </a:lnSpc>
              <a:spcBef>
                <a:spcPts val="518"/>
              </a:spcBef>
              <a:spcAft>
                <a:spcPts val="0"/>
              </a:spcAft>
              <a:buSzPts val="2300"/>
              <a:buChar char="–"/>
            </a:pPr>
            <a:r>
              <a:rPr lang="en-US" sz="2300"/>
              <a:t>Time-sensitive detection — many systems only alarm after water has already reached dangerous levels, leaving little or no lead time for evacuation.</a:t>
            </a:r>
            <a:endParaRPr sz="2300"/>
          </a:p>
          <a:p>
            <a:pPr indent="-254000" lvl="1" marL="742950" rtl="0" algn="l">
              <a:lnSpc>
                <a:spcPct val="100000"/>
              </a:lnSpc>
              <a:spcBef>
                <a:spcPts val="518"/>
              </a:spcBef>
              <a:spcAft>
                <a:spcPts val="0"/>
              </a:spcAft>
              <a:buSzPts val="2300"/>
              <a:buChar char="–"/>
            </a:pPr>
            <a:r>
              <a:rPr lang="en-US" sz="2300"/>
              <a:t> Communication breakdown — power outages and congested/cut cellular networks during heavy storms prevent critical alerts from reaching people on time.</a:t>
            </a:r>
            <a:endParaRPr sz="2300"/>
          </a:p>
          <a:p>
            <a:pPr indent="-254000" lvl="1" marL="742950" rtl="0" algn="l">
              <a:lnSpc>
                <a:spcPct val="100000"/>
              </a:lnSpc>
              <a:spcBef>
                <a:spcPts val="518"/>
              </a:spcBef>
              <a:spcAft>
                <a:spcPts val="0"/>
              </a:spcAft>
              <a:buSzPts val="2300"/>
              <a:buChar char="–"/>
            </a:pPr>
            <a:r>
              <a:rPr lang="en-US" sz="2300"/>
              <a:t>Reactive threshold logic — static water-level thresholds ignore trends (rate of rise) and rainfall context, producing false alarms or missed events.</a:t>
            </a:r>
            <a:endParaRPr sz="2300"/>
          </a:p>
          <a:p>
            <a:pPr indent="-254000" lvl="1" marL="742950" rtl="0" algn="l">
              <a:lnSpc>
                <a:spcPct val="100000"/>
              </a:lnSpc>
              <a:spcBef>
                <a:spcPts val="518"/>
              </a:spcBef>
              <a:spcAft>
                <a:spcPts val="0"/>
              </a:spcAft>
              <a:buSzPts val="2300"/>
              <a:buChar char="–"/>
            </a:pPr>
            <a:r>
              <a:rPr lang="en-US" sz="2300"/>
              <a:t>Sensor reliability &amp; data quality — sensors get jammed, obstructed, or drift, and single-sensor readings can be misleading without cross-checks.</a:t>
            </a:r>
            <a:endParaRPr sz="23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8"/>
          <p:cNvSpPr txBox="1"/>
          <p:nvPr/>
        </p:nvSpPr>
        <p:spPr>
          <a:xfrm>
            <a:off x="242400" y="86850"/>
            <a:ext cx="8659200" cy="861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4400">
                <a:solidFill>
                  <a:schemeClr val="dk1"/>
                </a:solidFill>
                <a:latin typeface="Calibri"/>
                <a:ea typeface="Calibri"/>
                <a:cs typeface="Calibri"/>
                <a:sym typeface="Calibri"/>
              </a:rPr>
              <a:t>Statement of the Problem</a:t>
            </a:r>
            <a:endParaRPr sz="4400">
              <a:solidFill>
                <a:schemeClr val="dk1"/>
              </a:solidFill>
              <a:latin typeface="Calibri"/>
              <a:ea typeface="Calibri"/>
              <a:cs typeface="Calibri"/>
              <a:sym typeface="Calibri"/>
            </a:endParaRPr>
          </a:p>
        </p:txBody>
      </p:sp>
      <p:sp>
        <p:nvSpPr>
          <p:cNvPr id="122" name="Google Shape;122;p18"/>
          <p:cNvSpPr txBox="1"/>
          <p:nvPr>
            <p:ph idx="4294967295" type="body"/>
          </p:nvPr>
        </p:nvSpPr>
        <p:spPr>
          <a:xfrm>
            <a:off x="228600" y="990600"/>
            <a:ext cx="8610600" cy="5257800"/>
          </a:xfrm>
          <a:prstGeom prst="rect">
            <a:avLst/>
          </a:prstGeom>
          <a:noFill/>
          <a:ln>
            <a:noFill/>
          </a:ln>
        </p:spPr>
        <p:txBody>
          <a:bodyPr anchorCtr="0" anchor="t" bIns="45700" lIns="91425" spcFirstLastPara="1" rIns="91425" wrap="square" tIns="45700">
            <a:normAutofit lnSpcReduction="20000"/>
          </a:bodyPr>
          <a:lstStyle/>
          <a:p>
            <a:pPr indent="-266700" lvl="1" marL="742950" rtl="0" algn="l">
              <a:lnSpc>
                <a:spcPct val="100000"/>
              </a:lnSpc>
              <a:spcBef>
                <a:spcPts val="518"/>
              </a:spcBef>
              <a:spcAft>
                <a:spcPts val="0"/>
              </a:spcAft>
              <a:buSzPts val="2500"/>
              <a:buChar char="–"/>
            </a:pPr>
            <a:r>
              <a:rPr b="1" lang="en-US" sz="2500"/>
              <a:t>Challenge</a:t>
            </a:r>
            <a:r>
              <a:rPr lang="en-US" sz="2500"/>
              <a:t>: </a:t>
            </a:r>
            <a:endParaRPr sz="2500"/>
          </a:p>
          <a:p>
            <a:pPr indent="-254000" lvl="1" marL="742950" rtl="0" algn="l">
              <a:lnSpc>
                <a:spcPct val="100000"/>
              </a:lnSpc>
              <a:spcBef>
                <a:spcPts val="518"/>
              </a:spcBef>
              <a:spcAft>
                <a:spcPts val="0"/>
              </a:spcAft>
              <a:buSzPts val="2300"/>
              <a:buChar char="–"/>
            </a:pPr>
            <a:r>
              <a:rPr lang="en-US" sz="2300"/>
              <a:t>Sensor reliability &amp; data quality—sensors get jammed, obstructed, or drift, and single-sensor readings can be misleading without cross-checks.</a:t>
            </a:r>
            <a:endParaRPr sz="2300"/>
          </a:p>
          <a:p>
            <a:pPr indent="-254000" lvl="1" marL="742950" rtl="0" algn="l">
              <a:lnSpc>
                <a:spcPct val="100000"/>
              </a:lnSpc>
              <a:spcBef>
                <a:spcPts val="518"/>
              </a:spcBef>
              <a:spcAft>
                <a:spcPts val="0"/>
              </a:spcAft>
              <a:buSzPts val="2300"/>
              <a:buChar char="–"/>
            </a:pPr>
            <a:r>
              <a:rPr lang="en-US" sz="2300"/>
              <a:t> </a:t>
            </a:r>
            <a:r>
              <a:rPr lang="en-US" sz="2300"/>
              <a:t>Lack of predictive integration—existing deployments rarely fuse live sensor feeds with predictive models to forecast risk ahead of time.</a:t>
            </a:r>
            <a:endParaRPr sz="2300"/>
          </a:p>
          <a:p>
            <a:pPr indent="-254000" lvl="1" marL="742950" rtl="0" algn="l">
              <a:lnSpc>
                <a:spcPct val="100000"/>
              </a:lnSpc>
              <a:spcBef>
                <a:spcPts val="518"/>
              </a:spcBef>
              <a:spcAft>
                <a:spcPts val="0"/>
              </a:spcAft>
              <a:buSzPts val="2300"/>
              <a:buChar char="–"/>
            </a:pPr>
            <a:r>
              <a:rPr lang="en-US" sz="2300"/>
              <a:t>Operational scalability &amp; maintenance</a:t>
            </a:r>
            <a:r>
              <a:rPr lang="en-US" sz="2300"/>
              <a:t> — deployments</a:t>
            </a:r>
            <a:r>
              <a:rPr lang="en-US" sz="2300"/>
              <a:t> need easy calibration, remote updates, and health monitoring to be practical city-wide</a:t>
            </a:r>
            <a:endParaRPr sz="2300"/>
          </a:p>
          <a:p>
            <a:pPr indent="-285750" lvl="1" marL="742950" rtl="0" algn="l">
              <a:lnSpc>
                <a:spcPct val="100000"/>
              </a:lnSpc>
              <a:spcBef>
                <a:spcPts val="518"/>
              </a:spcBef>
              <a:spcAft>
                <a:spcPts val="0"/>
              </a:spcAft>
              <a:buSzPts val="2800"/>
              <a:buChar char="–"/>
            </a:pPr>
            <a:r>
              <a:rPr b="1" lang="en-US" sz="2500"/>
              <a:t>Objective</a:t>
            </a:r>
            <a:r>
              <a:rPr lang="en-US" sz="2500"/>
              <a:t>:</a:t>
            </a:r>
            <a:r>
              <a:rPr lang="en-US" sz="2300"/>
              <a:t> </a:t>
            </a:r>
            <a:endParaRPr sz="2300"/>
          </a:p>
          <a:p>
            <a:pPr indent="-285750" lvl="1" marL="742950" rtl="0" algn="l">
              <a:lnSpc>
                <a:spcPct val="100000"/>
              </a:lnSpc>
              <a:spcBef>
                <a:spcPts val="518"/>
              </a:spcBef>
              <a:spcAft>
                <a:spcPts val="0"/>
              </a:spcAft>
              <a:buSzPts val="2800"/>
              <a:buChar char="–"/>
            </a:pPr>
            <a:r>
              <a:rPr lang="en-US" sz="2300"/>
              <a:t>Design a hybrid </a:t>
            </a:r>
            <a:r>
              <a:rPr b="1" lang="en-US" sz="2300"/>
              <a:t>edge + cloud</a:t>
            </a:r>
            <a:r>
              <a:rPr lang="en-US" sz="2300"/>
              <a:t> system that issues </a:t>
            </a:r>
            <a:r>
              <a:rPr b="1" lang="en-US" sz="2300"/>
              <a:t>local pre-alerts</a:t>
            </a:r>
            <a:r>
              <a:rPr lang="en-US" sz="2300"/>
              <a:t> (fast, offline-capable) and </a:t>
            </a:r>
            <a:r>
              <a:rPr b="1" lang="en-US" sz="2300"/>
              <a:t>cloud-confirmed official alerts</a:t>
            </a:r>
            <a:r>
              <a:rPr lang="en-US" sz="2300"/>
              <a:t>, uses </a:t>
            </a:r>
            <a:r>
              <a:rPr b="1" lang="en-US" sz="2300"/>
              <a:t>adaptive thresholds</a:t>
            </a:r>
            <a:r>
              <a:rPr lang="en-US" sz="2300"/>
              <a:t> and </a:t>
            </a:r>
            <a:r>
              <a:rPr b="1" lang="en-US" sz="2300"/>
              <a:t>sensor-fusion anomaly checks</a:t>
            </a:r>
            <a:r>
              <a:rPr lang="en-US" sz="2300"/>
              <a:t>, and delivers multi-channel warnings (local buzzer, SMS, dashboard) to minimize false positives and maximize lead time.</a:t>
            </a:r>
            <a:endParaRPr sz="23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9"/>
          <p:cNvSpPr txBox="1"/>
          <p:nvPr>
            <p:ph idx="4294967295" type="title"/>
          </p:nvPr>
        </p:nvSpPr>
        <p:spPr>
          <a:xfrm>
            <a:off x="457200" y="274638"/>
            <a:ext cx="8229600" cy="639762"/>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n-US"/>
              <a:t>Scope of the project</a:t>
            </a:r>
            <a:endParaRPr/>
          </a:p>
        </p:txBody>
      </p:sp>
      <p:sp>
        <p:nvSpPr>
          <p:cNvPr id="128" name="Google Shape;128;p19"/>
          <p:cNvSpPr txBox="1"/>
          <p:nvPr>
            <p:ph idx="4294967295" type="body"/>
          </p:nvPr>
        </p:nvSpPr>
        <p:spPr>
          <a:xfrm>
            <a:off x="228600" y="990600"/>
            <a:ext cx="8610600" cy="5257800"/>
          </a:xfrm>
          <a:prstGeom prst="rect">
            <a:avLst/>
          </a:prstGeom>
          <a:noFill/>
          <a:ln>
            <a:noFill/>
          </a:ln>
        </p:spPr>
        <p:txBody>
          <a:bodyPr anchorCtr="0" anchor="t" bIns="45700" lIns="91425" spcFirstLastPara="1" rIns="91425" wrap="square" tIns="45700">
            <a:noAutofit/>
          </a:bodyPr>
          <a:lstStyle/>
          <a:p>
            <a:pPr indent="-374650" lvl="0" marL="457200" rtl="0" algn="l">
              <a:spcBef>
                <a:spcPts val="518"/>
              </a:spcBef>
              <a:spcAft>
                <a:spcPts val="0"/>
              </a:spcAft>
              <a:buSzPts val="2300"/>
              <a:buChar char="•"/>
            </a:pPr>
            <a:r>
              <a:rPr lang="en-US" sz="2300"/>
              <a:t>Flood Prediction using AI &amp; IoT</a:t>
            </a:r>
            <a:endParaRPr sz="2300"/>
          </a:p>
          <a:p>
            <a:pPr indent="-254000" lvl="1" marL="742950" rtl="0" algn="l">
              <a:lnSpc>
                <a:spcPct val="100000"/>
              </a:lnSpc>
              <a:spcBef>
                <a:spcPts val="518"/>
              </a:spcBef>
              <a:spcAft>
                <a:spcPts val="0"/>
              </a:spcAft>
              <a:buSzPts val="2300"/>
              <a:buChar char="–"/>
            </a:pPr>
            <a:r>
              <a:rPr b="1" lang="en-US" sz="2300"/>
              <a:t>Scope</a:t>
            </a:r>
            <a:r>
              <a:rPr lang="en-US" sz="2300"/>
              <a:t>: </a:t>
            </a:r>
            <a:endParaRPr sz="2300"/>
          </a:p>
          <a:p>
            <a:pPr indent="-254000" lvl="1" marL="742950" rtl="0" algn="l">
              <a:lnSpc>
                <a:spcPct val="100000"/>
              </a:lnSpc>
              <a:spcBef>
                <a:spcPts val="518"/>
              </a:spcBef>
              <a:spcAft>
                <a:spcPts val="0"/>
              </a:spcAft>
              <a:buSzPts val="2300"/>
              <a:buChar char="–"/>
            </a:pPr>
            <a:r>
              <a:rPr lang="en-US" sz="2300"/>
              <a:t> Design, simulate, and pilot a hybrid edge–cloud Smart Flood Alert system that performs real-time monitoring, short-term prediction, and multi-channel alerting for small catchments or urban drain nodes.</a:t>
            </a:r>
            <a:endParaRPr sz="2300"/>
          </a:p>
          <a:p>
            <a:pPr indent="-254000" lvl="1" marL="742950" rtl="0" algn="l">
              <a:lnSpc>
                <a:spcPct val="100000"/>
              </a:lnSpc>
              <a:spcBef>
                <a:spcPts val="518"/>
              </a:spcBef>
              <a:spcAft>
                <a:spcPts val="0"/>
              </a:spcAft>
              <a:buSzPts val="2300"/>
              <a:buChar char="–"/>
            </a:pPr>
            <a:r>
              <a:rPr b="1" lang="en-US" sz="2300"/>
              <a:t>Target Audience</a:t>
            </a:r>
            <a:r>
              <a:rPr lang="en-US" sz="2300"/>
              <a:t>: </a:t>
            </a:r>
            <a:r>
              <a:rPr lang="en-US" sz="2300"/>
              <a:t>Local disaster management teams, municipal engineers, community volunteers, and campus/civic authorities responsible for flood response.</a:t>
            </a:r>
            <a:endParaRPr sz="2300"/>
          </a:p>
          <a:p>
            <a:pPr indent="-254000" lvl="1" marL="742950" rtl="0" algn="l">
              <a:lnSpc>
                <a:spcPct val="100000"/>
              </a:lnSpc>
              <a:spcBef>
                <a:spcPts val="518"/>
              </a:spcBef>
              <a:spcAft>
                <a:spcPts val="0"/>
              </a:spcAft>
              <a:buSzPts val="2300"/>
              <a:buChar char="–"/>
            </a:pPr>
            <a:r>
              <a:rPr b="1" lang="en-US" sz="2300"/>
              <a:t>Deliverables</a:t>
            </a:r>
            <a:r>
              <a:rPr lang="en-US" sz="2300"/>
              <a:t>:</a:t>
            </a:r>
            <a:endParaRPr sz="2300"/>
          </a:p>
          <a:p>
            <a:pPr indent="-254000" lvl="1" marL="742950" rtl="0" algn="l">
              <a:lnSpc>
                <a:spcPct val="100000"/>
              </a:lnSpc>
              <a:spcBef>
                <a:spcPts val="518"/>
              </a:spcBef>
              <a:spcAft>
                <a:spcPts val="0"/>
              </a:spcAft>
              <a:buSzPts val="2300"/>
              <a:buChar char="–"/>
            </a:pPr>
            <a:r>
              <a:rPr lang="en-US" sz="2300"/>
              <a:t>Working prototype (ESP32 sensor node + Flask server), dashboard demo, ML model (DT/LR + benchmark), alert manager (Twilio sandbox), documentation, and pilot test report.</a:t>
            </a:r>
            <a:endParaRPr sz="23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0"/>
          <p:cNvSpPr txBox="1"/>
          <p:nvPr>
            <p:ph idx="4294967295" type="title"/>
          </p:nvPr>
        </p:nvSpPr>
        <p:spPr>
          <a:xfrm>
            <a:off x="457200" y="274638"/>
            <a:ext cx="8229600" cy="6399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n-US"/>
              <a:t>Scope of the project</a:t>
            </a:r>
            <a:endParaRPr/>
          </a:p>
        </p:txBody>
      </p:sp>
      <p:sp>
        <p:nvSpPr>
          <p:cNvPr id="134" name="Google Shape;134;p20"/>
          <p:cNvSpPr txBox="1"/>
          <p:nvPr>
            <p:ph idx="4294967295" type="body"/>
          </p:nvPr>
        </p:nvSpPr>
        <p:spPr>
          <a:xfrm>
            <a:off x="228600" y="990600"/>
            <a:ext cx="8610600" cy="5257800"/>
          </a:xfrm>
          <a:prstGeom prst="rect">
            <a:avLst/>
          </a:prstGeom>
          <a:noFill/>
          <a:ln>
            <a:noFill/>
          </a:ln>
        </p:spPr>
        <p:txBody>
          <a:bodyPr anchorCtr="0" anchor="t" bIns="45700" lIns="91425" spcFirstLastPara="1" rIns="91425" wrap="square" tIns="45700">
            <a:normAutofit/>
          </a:bodyPr>
          <a:lstStyle/>
          <a:p>
            <a:pPr indent="-374650" lvl="0" marL="457200" rtl="0" algn="l">
              <a:spcBef>
                <a:spcPts val="518"/>
              </a:spcBef>
              <a:spcAft>
                <a:spcPts val="0"/>
              </a:spcAft>
              <a:buSzPts val="2300"/>
              <a:buChar char="•"/>
            </a:pPr>
            <a:r>
              <a:rPr lang="en-US" sz="2300"/>
              <a:t>Flood Prediction using AI &amp; IoT</a:t>
            </a:r>
            <a:endParaRPr sz="2300"/>
          </a:p>
          <a:p>
            <a:pPr indent="-254000" lvl="1" marL="742950" rtl="0" algn="l">
              <a:lnSpc>
                <a:spcPct val="100000"/>
              </a:lnSpc>
              <a:spcBef>
                <a:spcPts val="518"/>
              </a:spcBef>
              <a:spcAft>
                <a:spcPts val="0"/>
              </a:spcAft>
              <a:buSzPts val="2300"/>
              <a:buChar char="–"/>
            </a:pPr>
            <a:r>
              <a:rPr b="1" lang="en-US" sz="2300"/>
              <a:t>Inclusions</a:t>
            </a:r>
            <a:r>
              <a:rPr lang="en-US" sz="2300"/>
              <a:t>:</a:t>
            </a:r>
            <a:endParaRPr sz="2300"/>
          </a:p>
          <a:p>
            <a:pPr indent="-254000" lvl="1" marL="742950" rtl="0" algn="l">
              <a:lnSpc>
                <a:spcPct val="100000"/>
              </a:lnSpc>
              <a:spcBef>
                <a:spcPts val="518"/>
              </a:spcBef>
              <a:spcAft>
                <a:spcPts val="0"/>
              </a:spcAft>
              <a:buSzPts val="2300"/>
              <a:buChar char="–"/>
            </a:pPr>
            <a:r>
              <a:rPr lang="en-US" sz="2300"/>
              <a:t>Edge pre-alert logic (local buzzer), adaptive thresholding (EWMA/Bayesian), sensor-fusion + anomaly detection, synthetic data augmentation, and evaluation metrics (accuracy, recall, latency).</a:t>
            </a:r>
            <a:endParaRPr sz="2300"/>
          </a:p>
          <a:p>
            <a:pPr indent="-254000" lvl="1" marL="742950" rtl="0" algn="l">
              <a:lnSpc>
                <a:spcPct val="100000"/>
              </a:lnSpc>
              <a:spcBef>
                <a:spcPts val="518"/>
              </a:spcBef>
              <a:spcAft>
                <a:spcPts val="0"/>
              </a:spcAft>
              <a:buSzPts val="2300"/>
              <a:buChar char="–"/>
            </a:pPr>
            <a:r>
              <a:rPr b="1" lang="en-US" sz="2300"/>
              <a:t>Exclusions</a:t>
            </a:r>
            <a:r>
              <a:rPr lang="en-US" sz="2300"/>
              <a:t>:</a:t>
            </a:r>
            <a:endParaRPr sz="2300"/>
          </a:p>
          <a:p>
            <a:pPr indent="-254000" lvl="1" marL="742950" rtl="0" algn="l">
              <a:lnSpc>
                <a:spcPct val="100000"/>
              </a:lnSpc>
              <a:spcBef>
                <a:spcPts val="518"/>
              </a:spcBef>
              <a:spcAft>
                <a:spcPts val="0"/>
              </a:spcAft>
              <a:buSzPts val="2300"/>
              <a:buChar char="–"/>
            </a:pPr>
            <a:r>
              <a:rPr lang="en-US" sz="2300"/>
              <a:t>Full hydrodynamic modeling, city-scale deployment, real-time integration with emergency services (beyond demo SMS), and long-term maintenance contracts.</a:t>
            </a:r>
            <a:endParaRPr sz="23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1"/>
          <p:cNvSpPr txBox="1"/>
          <p:nvPr>
            <p:ph idx="4294967295" type="title"/>
          </p:nvPr>
        </p:nvSpPr>
        <p:spPr>
          <a:xfrm>
            <a:off x="457200" y="274638"/>
            <a:ext cx="8229600" cy="6399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n-US"/>
              <a:t>Scope of the project</a:t>
            </a:r>
            <a:endParaRPr/>
          </a:p>
        </p:txBody>
      </p:sp>
      <p:sp>
        <p:nvSpPr>
          <p:cNvPr id="140" name="Google Shape;140;p21"/>
          <p:cNvSpPr txBox="1"/>
          <p:nvPr>
            <p:ph idx="4294967295" type="body"/>
          </p:nvPr>
        </p:nvSpPr>
        <p:spPr>
          <a:xfrm>
            <a:off x="228600" y="990600"/>
            <a:ext cx="8610600" cy="5257800"/>
          </a:xfrm>
          <a:prstGeom prst="rect">
            <a:avLst/>
          </a:prstGeom>
          <a:noFill/>
          <a:ln>
            <a:noFill/>
          </a:ln>
        </p:spPr>
        <p:txBody>
          <a:bodyPr anchorCtr="0" anchor="t" bIns="45700" lIns="91425" spcFirstLastPara="1" rIns="91425" wrap="square" tIns="45700">
            <a:normAutofit fontScale="62500" lnSpcReduction="10000"/>
          </a:bodyPr>
          <a:lstStyle/>
          <a:p>
            <a:pPr indent="-373459" lvl="0" marL="457200" rtl="0" algn="l">
              <a:spcBef>
                <a:spcPts val="518"/>
              </a:spcBef>
              <a:spcAft>
                <a:spcPts val="0"/>
              </a:spcAft>
              <a:buSzPct val="100000"/>
              <a:buChar char="•"/>
            </a:pPr>
            <a:r>
              <a:rPr lang="en-US" sz="3650"/>
              <a:t>Flood Prediction using AI &amp; IoT</a:t>
            </a:r>
            <a:endParaRPr sz="3650"/>
          </a:p>
          <a:p>
            <a:pPr indent="-236934" lvl="1" marL="742950" rtl="0" algn="l">
              <a:lnSpc>
                <a:spcPct val="100000"/>
              </a:lnSpc>
              <a:spcBef>
                <a:spcPts val="518"/>
              </a:spcBef>
              <a:spcAft>
                <a:spcPts val="0"/>
              </a:spcAft>
              <a:buSzPct val="100000"/>
              <a:buChar char="–"/>
            </a:pPr>
            <a:r>
              <a:rPr b="1" lang="en-US" sz="3250"/>
              <a:t>Data</a:t>
            </a:r>
            <a:r>
              <a:rPr lang="en-US" sz="3250"/>
              <a:t>:</a:t>
            </a:r>
            <a:endParaRPr sz="3250"/>
          </a:p>
          <a:p>
            <a:pPr indent="-236934" lvl="1" marL="742950" rtl="0" algn="l">
              <a:lnSpc>
                <a:spcPct val="100000"/>
              </a:lnSpc>
              <a:spcBef>
                <a:spcPts val="518"/>
              </a:spcBef>
              <a:spcAft>
                <a:spcPts val="0"/>
              </a:spcAft>
              <a:buSzPct val="100000"/>
              <a:buChar char="–"/>
            </a:pPr>
            <a:r>
              <a:rPr lang="en-US" sz="3250"/>
              <a:t>Simulated and public historical rainfall/water-level datasets for model training; pilot sensor data collected during field tests for validation.</a:t>
            </a:r>
            <a:endParaRPr sz="3250"/>
          </a:p>
          <a:p>
            <a:pPr indent="-236934" lvl="1" marL="742950" rtl="0" algn="l">
              <a:lnSpc>
                <a:spcPct val="100000"/>
              </a:lnSpc>
              <a:spcBef>
                <a:spcPts val="518"/>
              </a:spcBef>
              <a:spcAft>
                <a:spcPts val="0"/>
              </a:spcAft>
              <a:buSzPct val="100000"/>
              <a:buChar char="–"/>
            </a:pPr>
            <a:r>
              <a:rPr b="1" lang="en-US" sz="3250"/>
              <a:t>Limitations</a:t>
            </a:r>
            <a:r>
              <a:rPr lang="en-US" sz="3250"/>
              <a:t>: </a:t>
            </a:r>
            <a:endParaRPr sz="3250"/>
          </a:p>
          <a:p>
            <a:pPr indent="-236934" lvl="1" marL="742950" rtl="0" algn="l">
              <a:lnSpc>
                <a:spcPct val="100000"/>
              </a:lnSpc>
              <a:spcBef>
                <a:spcPts val="518"/>
              </a:spcBef>
              <a:spcAft>
                <a:spcPts val="0"/>
              </a:spcAft>
              <a:buSzPct val="100000"/>
              <a:buChar char="–"/>
            </a:pPr>
            <a:r>
              <a:rPr lang="en-US" sz="3250"/>
              <a:t>Prototype tested on limited sensors — full uncertainty modeling requires larger deployments.</a:t>
            </a:r>
            <a:endParaRPr sz="3250"/>
          </a:p>
          <a:p>
            <a:pPr indent="-236934" lvl="1" marL="742950" rtl="0" algn="l">
              <a:lnSpc>
                <a:spcPct val="100000"/>
              </a:lnSpc>
              <a:spcBef>
                <a:spcPts val="518"/>
              </a:spcBef>
              <a:spcAft>
                <a:spcPts val="0"/>
              </a:spcAft>
              <a:buSzPct val="100000"/>
              <a:buFont typeface="Calibri"/>
              <a:buChar char="–"/>
            </a:pPr>
            <a:r>
              <a:rPr lang="en-US" sz="3250"/>
              <a:t>Model performance may drop in unforeseen extreme events not present in training data.</a:t>
            </a:r>
            <a:endParaRPr sz="3250"/>
          </a:p>
          <a:p>
            <a:pPr indent="-236934" lvl="1" marL="742950" rtl="0" algn="l">
              <a:lnSpc>
                <a:spcPct val="100000"/>
              </a:lnSpc>
              <a:spcBef>
                <a:spcPts val="518"/>
              </a:spcBef>
              <a:spcAft>
                <a:spcPts val="0"/>
              </a:spcAft>
              <a:buSzPct val="100000"/>
              <a:buFont typeface="Calibri"/>
              <a:buChar char="–"/>
            </a:pPr>
            <a:r>
              <a:rPr lang="en-US" sz="3250"/>
              <a:t>Wireless connectivity and power supply vulnerable during severe storms if backup fails.</a:t>
            </a:r>
            <a:endParaRPr sz="3250"/>
          </a:p>
          <a:p>
            <a:pPr indent="-236934" lvl="1" marL="742950" rtl="0" algn="l">
              <a:lnSpc>
                <a:spcPct val="100000"/>
              </a:lnSpc>
              <a:spcBef>
                <a:spcPts val="518"/>
              </a:spcBef>
              <a:spcAft>
                <a:spcPts val="0"/>
              </a:spcAft>
              <a:buSzPct val="100000"/>
              <a:buChar char="–"/>
            </a:pPr>
            <a:r>
              <a:rPr lang="en-US" sz="3250"/>
              <a:t>Sensor drift, debris obstruction, and water turbulence can affect data accuracy.</a:t>
            </a:r>
            <a:endParaRPr sz="3250"/>
          </a:p>
          <a:p>
            <a:pPr indent="-236934" lvl="1" marL="742950" rtl="0" algn="l">
              <a:lnSpc>
                <a:spcPct val="100000"/>
              </a:lnSpc>
              <a:spcBef>
                <a:spcPts val="518"/>
              </a:spcBef>
              <a:spcAft>
                <a:spcPts val="0"/>
              </a:spcAft>
              <a:buSzPct val="100000"/>
              <a:buChar char="–"/>
            </a:pPr>
            <a:r>
              <a:rPr lang="en-US" sz="3250"/>
              <a:t>SMS delivery depends on telecom network stability during emergencies.</a:t>
            </a:r>
            <a:endParaRPr sz="3250"/>
          </a:p>
          <a:p>
            <a:pPr indent="-236934" lvl="1" marL="742950" rtl="0" algn="l">
              <a:lnSpc>
                <a:spcPct val="100000"/>
              </a:lnSpc>
              <a:spcBef>
                <a:spcPts val="518"/>
              </a:spcBef>
              <a:spcAft>
                <a:spcPts val="0"/>
              </a:spcAft>
              <a:buSzPct val="100000"/>
              <a:buChar char="–"/>
            </a:pPr>
            <a:r>
              <a:rPr lang="en-US" sz="3250"/>
              <a:t>False-negative alerts are costly — tuned conservatively but may increase false positives.</a:t>
            </a:r>
            <a:endParaRPr sz="325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2"/>
          <p:cNvSpPr txBox="1"/>
          <p:nvPr>
            <p:ph idx="4294967295" type="title"/>
          </p:nvPr>
        </p:nvSpPr>
        <p:spPr>
          <a:xfrm>
            <a:off x="457200" y="274638"/>
            <a:ext cx="8229600" cy="6399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22222"/>
              <a:buFont typeface="Arial"/>
              <a:buNone/>
            </a:pPr>
            <a:r>
              <a:rPr lang="en-US" sz="4000"/>
              <a:t>Methodology</a:t>
            </a:r>
            <a:endParaRPr/>
          </a:p>
        </p:txBody>
      </p:sp>
      <p:sp>
        <p:nvSpPr>
          <p:cNvPr id="146" name="Google Shape;146;p22"/>
          <p:cNvSpPr txBox="1"/>
          <p:nvPr>
            <p:ph idx="4294967295" type="body"/>
          </p:nvPr>
        </p:nvSpPr>
        <p:spPr>
          <a:xfrm>
            <a:off x="228600" y="990600"/>
            <a:ext cx="8610600" cy="5754600"/>
          </a:xfrm>
          <a:prstGeom prst="rect">
            <a:avLst/>
          </a:prstGeom>
          <a:noFill/>
          <a:ln>
            <a:noFill/>
          </a:ln>
        </p:spPr>
        <p:txBody>
          <a:bodyPr anchorCtr="0" anchor="t" bIns="45700" lIns="91425" spcFirstLastPara="1" rIns="91425" wrap="square" tIns="45700">
            <a:noAutofit/>
          </a:bodyPr>
          <a:lstStyle/>
          <a:p>
            <a:pPr indent="-266753" lvl="0" marL="342900" rtl="0" algn="just">
              <a:lnSpc>
                <a:spcPct val="90000"/>
              </a:lnSpc>
              <a:spcBef>
                <a:spcPts val="1000"/>
              </a:spcBef>
              <a:spcAft>
                <a:spcPts val="0"/>
              </a:spcAft>
              <a:buSzPts val="2000"/>
              <a:buFont typeface="Calibri"/>
              <a:buChar char="•"/>
            </a:pPr>
            <a:r>
              <a:rPr b="1" lang="en-US" sz="2000"/>
              <a:t>Methodology of the Smart Flood Alert System</a:t>
            </a:r>
            <a:endParaRPr b="1" sz="2000"/>
          </a:p>
          <a:p>
            <a:pPr indent="-355600" lvl="0" marL="457200" rtl="0" algn="l">
              <a:lnSpc>
                <a:spcPct val="115000"/>
              </a:lnSpc>
              <a:spcBef>
                <a:spcPts val="0"/>
              </a:spcBef>
              <a:spcAft>
                <a:spcPts val="0"/>
              </a:spcAft>
              <a:buSzPts val="2000"/>
              <a:buChar char="•"/>
            </a:pPr>
            <a:r>
              <a:rPr b="1" lang="en-US" sz="2000"/>
              <a:t> IoT Data Acquisition</a:t>
            </a:r>
            <a:br>
              <a:rPr b="1" lang="en-US" sz="2000"/>
            </a:br>
            <a:r>
              <a:rPr lang="en-US" sz="2000"/>
              <a:t> – Ultrasonic water-level &amp; rain sensors on ESP32 continuously measure and send readings.</a:t>
            </a:r>
            <a:endParaRPr sz="2000"/>
          </a:p>
          <a:p>
            <a:pPr indent="-355600" lvl="0" marL="457200" rtl="0" algn="l">
              <a:lnSpc>
                <a:spcPct val="115000"/>
              </a:lnSpc>
              <a:spcBef>
                <a:spcPts val="0"/>
              </a:spcBef>
              <a:spcAft>
                <a:spcPts val="0"/>
              </a:spcAft>
              <a:buSzPts val="2000"/>
              <a:buChar char="•"/>
            </a:pPr>
            <a:r>
              <a:rPr b="1" lang="en-US" sz="2000"/>
              <a:t>Edge Pre-Alert Detection</a:t>
            </a:r>
            <a:br>
              <a:rPr b="1" lang="en-US" sz="2000"/>
            </a:br>
            <a:r>
              <a:rPr lang="en-US" sz="2000"/>
              <a:t> – Device calculates </a:t>
            </a:r>
            <a:r>
              <a:rPr b="1" lang="en-US" sz="2000"/>
              <a:t>rate of rise</a:t>
            </a:r>
            <a:r>
              <a:rPr lang="en-US" sz="2000"/>
              <a:t>; if sudden increase detected → buzzer/LED is activated.</a:t>
            </a:r>
            <a:endParaRPr sz="2000"/>
          </a:p>
          <a:p>
            <a:pPr indent="-355600" lvl="0" marL="457200" rtl="0" algn="l">
              <a:lnSpc>
                <a:spcPct val="115000"/>
              </a:lnSpc>
              <a:spcBef>
                <a:spcPts val="0"/>
              </a:spcBef>
              <a:spcAft>
                <a:spcPts val="0"/>
              </a:spcAft>
              <a:buSzPts val="2000"/>
              <a:buChar char="•"/>
            </a:pPr>
            <a:r>
              <a:rPr b="1" lang="en-US" sz="2000"/>
              <a:t>Local Alert for Safety</a:t>
            </a:r>
            <a:br>
              <a:rPr b="1" lang="en-US" sz="2000"/>
            </a:br>
            <a:r>
              <a:rPr lang="en-US" sz="2000"/>
              <a:t> – Alerts still work </a:t>
            </a:r>
            <a:r>
              <a:rPr b="1" lang="en-US" sz="2000"/>
              <a:t>even if internet or power fails</a:t>
            </a:r>
            <a:r>
              <a:rPr lang="en-US" sz="2000"/>
              <a:t>, ensuring immediate response.</a:t>
            </a:r>
            <a:endParaRPr sz="2000"/>
          </a:p>
          <a:p>
            <a:pPr indent="-355600" lvl="0" marL="457200" rtl="0" algn="l">
              <a:lnSpc>
                <a:spcPct val="115000"/>
              </a:lnSpc>
              <a:spcBef>
                <a:spcPts val="0"/>
              </a:spcBef>
              <a:spcAft>
                <a:spcPts val="0"/>
              </a:spcAft>
              <a:buSzPts val="2000"/>
              <a:buChar char="•"/>
            </a:pPr>
            <a:r>
              <a:rPr b="1" lang="en-US" sz="2000"/>
              <a:t>Secure Data Transmission</a:t>
            </a:r>
            <a:br>
              <a:rPr b="1" lang="en-US" sz="2000"/>
            </a:br>
            <a:r>
              <a:rPr lang="en-US" sz="2000"/>
              <a:t> – Data sent to cloud via </a:t>
            </a:r>
            <a:r>
              <a:rPr b="1" lang="en-US" sz="2000"/>
              <a:t>MQTT/HTTP</a:t>
            </a:r>
            <a:r>
              <a:rPr lang="en-US" sz="2000"/>
              <a:t> with timestamp and pre_alert flag for validation.</a:t>
            </a:r>
            <a:endParaRPr sz="2000"/>
          </a:p>
          <a:p>
            <a:pPr indent="-355600" lvl="0" marL="457200" rtl="0" algn="l">
              <a:lnSpc>
                <a:spcPct val="115000"/>
              </a:lnSpc>
              <a:spcBef>
                <a:spcPts val="0"/>
              </a:spcBef>
              <a:spcAft>
                <a:spcPts val="0"/>
              </a:spcAft>
              <a:buSzPts val="2000"/>
              <a:buChar char="•"/>
            </a:pPr>
            <a:r>
              <a:rPr b="1" lang="en-US" sz="2000"/>
              <a:t>Offline Data Buffering</a:t>
            </a:r>
            <a:br>
              <a:rPr b="1" lang="en-US" sz="2000"/>
            </a:br>
            <a:r>
              <a:rPr lang="en-US" sz="2000"/>
              <a:t> – If network drops, ESP32 </a:t>
            </a:r>
            <a:r>
              <a:rPr b="1" lang="en-US" sz="2000"/>
              <a:t>stores readings temporarily</a:t>
            </a:r>
            <a:r>
              <a:rPr lang="en-US" sz="2000"/>
              <a:t> and auto-uploads later.</a:t>
            </a:r>
            <a:endParaRPr sz="2000"/>
          </a:p>
          <a:p>
            <a:pPr indent="0" lvl="0" marL="457200" rtl="0" algn="l">
              <a:lnSpc>
                <a:spcPct val="115000"/>
              </a:lnSpc>
              <a:spcBef>
                <a:spcPts val="1200"/>
              </a:spcBef>
              <a:spcAft>
                <a:spcPts val="0"/>
              </a:spcAft>
              <a:buNone/>
            </a:pPr>
            <a:r>
              <a:t/>
            </a:r>
            <a:endParaRPr sz="2300"/>
          </a:p>
          <a:p>
            <a:pPr indent="0" lvl="0" marL="457200" rtl="0" algn="l">
              <a:lnSpc>
                <a:spcPct val="115000"/>
              </a:lnSpc>
              <a:spcBef>
                <a:spcPts val="1200"/>
              </a:spcBef>
              <a:spcAft>
                <a:spcPts val="0"/>
              </a:spcAft>
              <a:buNone/>
            </a:pPr>
            <a:r>
              <a:t/>
            </a:r>
            <a:endParaRPr b="1" sz="2300"/>
          </a:p>
          <a:p>
            <a:pPr indent="0" lvl="0" marL="457200" rtl="0" algn="just">
              <a:lnSpc>
                <a:spcPct val="90000"/>
              </a:lnSpc>
              <a:spcBef>
                <a:spcPts val="1200"/>
              </a:spcBef>
              <a:spcAft>
                <a:spcPts val="0"/>
              </a:spcAft>
              <a:buNone/>
            </a:pPr>
            <a:r>
              <a:t/>
            </a:r>
            <a:endParaRPr b="1" sz="23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3"/>
          <p:cNvSpPr txBox="1"/>
          <p:nvPr>
            <p:ph idx="4294967295" type="title"/>
          </p:nvPr>
        </p:nvSpPr>
        <p:spPr>
          <a:xfrm>
            <a:off x="457200" y="274638"/>
            <a:ext cx="8229600" cy="6399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22222"/>
              <a:buFont typeface="Arial"/>
              <a:buNone/>
            </a:pPr>
            <a:r>
              <a:rPr lang="en-US" sz="4000"/>
              <a:t>Methodology</a:t>
            </a:r>
            <a:endParaRPr/>
          </a:p>
        </p:txBody>
      </p:sp>
      <p:sp>
        <p:nvSpPr>
          <p:cNvPr id="152" name="Google Shape;152;p23"/>
          <p:cNvSpPr txBox="1"/>
          <p:nvPr>
            <p:ph idx="4294967295" type="body"/>
          </p:nvPr>
        </p:nvSpPr>
        <p:spPr>
          <a:xfrm>
            <a:off x="228600" y="990600"/>
            <a:ext cx="8610600" cy="5257800"/>
          </a:xfrm>
          <a:prstGeom prst="rect">
            <a:avLst/>
          </a:prstGeom>
          <a:noFill/>
          <a:ln>
            <a:noFill/>
          </a:ln>
        </p:spPr>
        <p:txBody>
          <a:bodyPr anchorCtr="0" anchor="t" bIns="45700" lIns="91425" spcFirstLastPara="1" rIns="91425" wrap="square" tIns="45700">
            <a:normAutofit/>
          </a:bodyPr>
          <a:lstStyle/>
          <a:p>
            <a:pPr indent="-355600" lvl="0" marL="457200" rtl="0" algn="l">
              <a:lnSpc>
                <a:spcPct val="115000"/>
              </a:lnSpc>
              <a:spcBef>
                <a:spcPts val="1200"/>
              </a:spcBef>
              <a:spcAft>
                <a:spcPts val="0"/>
              </a:spcAft>
              <a:buSzPts val="2000"/>
              <a:buChar char="•"/>
            </a:pPr>
            <a:r>
              <a:rPr b="1" lang="en-US" sz="2000"/>
              <a:t>Data Processing &amp; Cleaning</a:t>
            </a:r>
            <a:br>
              <a:rPr b="1" lang="en-US" sz="2000"/>
            </a:br>
            <a:r>
              <a:rPr lang="en-US" sz="2000"/>
              <a:t> – Server filters noise, synchronizes timestamps, and validates sensor inputs.</a:t>
            </a:r>
            <a:endParaRPr sz="2000"/>
          </a:p>
          <a:p>
            <a:pPr indent="-355600" lvl="0" marL="457200" rtl="0" algn="l">
              <a:lnSpc>
                <a:spcPct val="115000"/>
              </a:lnSpc>
              <a:spcBef>
                <a:spcPts val="0"/>
              </a:spcBef>
              <a:spcAft>
                <a:spcPts val="0"/>
              </a:spcAft>
              <a:buSzPts val="2000"/>
              <a:buChar char="•"/>
            </a:pPr>
            <a:r>
              <a:rPr b="1" lang="en-US" sz="2000"/>
              <a:t>Feature Extraction</a:t>
            </a:r>
            <a:br>
              <a:rPr b="1" lang="en-US" sz="2000"/>
            </a:br>
            <a:r>
              <a:rPr lang="en-US" sz="2000"/>
              <a:t> – Derives water-level trend, rainfall rate, and sudden-rise indicators.</a:t>
            </a:r>
            <a:endParaRPr sz="2000"/>
          </a:p>
          <a:p>
            <a:pPr indent="-355600" lvl="0" marL="457200" rtl="0" algn="l">
              <a:lnSpc>
                <a:spcPct val="115000"/>
              </a:lnSpc>
              <a:spcBef>
                <a:spcPts val="0"/>
              </a:spcBef>
              <a:spcAft>
                <a:spcPts val="0"/>
              </a:spcAft>
              <a:buSzPts val="2000"/>
              <a:buChar char="•"/>
            </a:pPr>
            <a:r>
              <a:rPr b="1" lang="en-US" sz="2000"/>
              <a:t>Machine Learning Prediction</a:t>
            </a:r>
            <a:br>
              <a:rPr b="1" lang="en-US" sz="2000"/>
            </a:br>
            <a:r>
              <a:rPr lang="en-US" sz="2000"/>
              <a:t> – Decision Tree + Logistic Regression classify </a:t>
            </a:r>
            <a:r>
              <a:rPr b="1" lang="en-US" sz="2000"/>
              <a:t>Low / Medium / High / Critical</a:t>
            </a:r>
            <a:r>
              <a:rPr lang="en-US" sz="2000"/>
              <a:t> risk.</a:t>
            </a:r>
            <a:endParaRPr sz="2000"/>
          </a:p>
          <a:p>
            <a:pPr indent="-355600" lvl="0" marL="457200" rtl="0" algn="l">
              <a:lnSpc>
                <a:spcPct val="115000"/>
              </a:lnSpc>
              <a:spcBef>
                <a:spcPts val="0"/>
              </a:spcBef>
              <a:spcAft>
                <a:spcPts val="0"/>
              </a:spcAft>
              <a:buSzPts val="2000"/>
              <a:buChar char="•"/>
            </a:pPr>
            <a:r>
              <a:rPr b="1" lang="en-US" sz="2000"/>
              <a:t>Smart Cloud Confirmation</a:t>
            </a:r>
            <a:br>
              <a:rPr b="1" lang="en-US" sz="2000"/>
            </a:br>
            <a:r>
              <a:rPr lang="en-US" sz="2000"/>
              <a:t> – Pre-alert from edge is confirmed using ML probability → avoids false alarms.</a:t>
            </a:r>
            <a:endParaRPr sz="2000"/>
          </a:p>
          <a:p>
            <a:pPr indent="-355600" lvl="0" marL="457200" rtl="0" algn="l">
              <a:lnSpc>
                <a:spcPct val="115000"/>
              </a:lnSpc>
              <a:spcBef>
                <a:spcPts val="0"/>
              </a:spcBef>
              <a:spcAft>
                <a:spcPts val="0"/>
              </a:spcAft>
              <a:buSzPts val="2000"/>
              <a:buChar char="•"/>
            </a:pPr>
            <a:r>
              <a:rPr b="1" lang="en-US" sz="2000"/>
              <a:t>Edge + Cloud Decision Support</a:t>
            </a:r>
            <a:br>
              <a:rPr b="1" lang="en-US" sz="2000"/>
            </a:br>
            <a:r>
              <a:rPr lang="en-US" sz="2000"/>
              <a:t> – Cloud confirms alerts and sends </a:t>
            </a:r>
            <a:r>
              <a:rPr b="1" lang="en-US" sz="2000"/>
              <a:t>SMS/Dashboard warnings</a:t>
            </a:r>
            <a:r>
              <a:rPr lang="en-US" sz="2000"/>
              <a:t>, while edge ensures </a:t>
            </a:r>
            <a:r>
              <a:rPr b="1" lang="en-US" sz="2000"/>
              <a:t>immediate safety</a:t>
            </a:r>
            <a:r>
              <a:rPr lang="en-US" sz="2000"/>
              <a:t>.</a:t>
            </a:r>
            <a:endParaRPr sz="2000"/>
          </a:p>
          <a:p>
            <a:pPr indent="-355600" lvl="0" marL="457200" rtl="0" algn="l">
              <a:lnSpc>
                <a:spcPct val="100000"/>
              </a:lnSpc>
              <a:spcBef>
                <a:spcPts val="0"/>
              </a:spcBef>
              <a:spcAft>
                <a:spcPts val="0"/>
              </a:spcAft>
              <a:buSzPts val="2000"/>
              <a:buChar char="•"/>
            </a:pPr>
            <a:r>
              <a:rPr b="1" lang="en-US" sz="2000"/>
              <a:t>Tech Stack:</a:t>
            </a:r>
            <a:r>
              <a:rPr lang="en-US" sz="2000"/>
              <a:t> ESP32, MQTT/HTTP, Flask + DB, scikit-learn, Twilio, Chart.js</a:t>
            </a:r>
            <a:endParaRPr sz="20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4"/>
          <p:cNvSpPr txBox="1"/>
          <p:nvPr>
            <p:ph idx="4294967295" type="title"/>
          </p:nvPr>
        </p:nvSpPr>
        <p:spPr>
          <a:xfrm>
            <a:off x="457200" y="274638"/>
            <a:ext cx="8229600" cy="6399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5319"/>
              <a:buFont typeface="Calibri"/>
              <a:buNone/>
            </a:pPr>
            <a:r>
              <a:rPr lang="en-US" sz="3759"/>
              <a:t>Architecture Diagram/Flow</a:t>
            </a:r>
            <a:endParaRPr/>
          </a:p>
        </p:txBody>
      </p:sp>
      <p:pic>
        <p:nvPicPr>
          <p:cNvPr id="158" name="Google Shape;158;p24"/>
          <p:cNvPicPr preferRelativeResize="0"/>
          <p:nvPr/>
        </p:nvPicPr>
        <p:blipFill rotWithShape="1">
          <a:blip r:embed="rId3">
            <a:alphaModFix/>
          </a:blip>
          <a:srcRect b="0" l="0" r="0" t="0"/>
          <a:stretch/>
        </p:blipFill>
        <p:spPr>
          <a:xfrm>
            <a:off x="1360125" y="1324968"/>
            <a:ext cx="6884200" cy="40926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5"/>
          <p:cNvSpPr txBox="1"/>
          <p:nvPr>
            <p:ph idx="4294967295" type="title"/>
          </p:nvPr>
        </p:nvSpPr>
        <p:spPr>
          <a:xfrm>
            <a:off x="457200" y="274638"/>
            <a:ext cx="8229600" cy="6399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22222"/>
              <a:buFont typeface="Arial"/>
              <a:buNone/>
            </a:pPr>
            <a:r>
              <a:rPr lang="en-US" sz="4000"/>
              <a:t>Design-Use Case Diagram</a:t>
            </a:r>
            <a:endParaRPr/>
          </a:p>
        </p:txBody>
      </p:sp>
      <p:sp>
        <p:nvSpPr>
          <p:cNvPr id="164" name="Google Shape;164;p25"/>
          <p:cNvSpPr txBox="1"/>
          <p:nvPr>
            <p:ph idx="4294967295" type="body"/>
          </p:nvPr>
        </p:nvSpPr>
        <p:spPr>
          <a:xfrm>
            <a:off x="228600" y="990600"/>
            <a:ext cx="8610600" cy="5257800"/>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SzPts val="3200"/>
              <a:buChar char="•"/>
            </a:pPr>
            <a:r>
              <a:rPr lang="en-US" sz="2800"/>
              <a:t>UML DIAGRAMS</a:t>
            </a:r>
            <a:endParaRPr sz="2800"/>
          </a:p>
          <a:p>
            <a:pPr indent="-342900" lvl="0" marL="342900" rtl="0" algn="l">
              <a:lnSpc>
                <a:spcPct val="100000"/>
              </a:lnSpc>
              <a:spcBef>
                <a:spcPts val="0"/>
              </a:spcBef>
              <a:spcAft>
                <a:spcPts val="0"/>
              </a:spcAft>
              <a:buSzPts val="3200"/>
              <a:buChar char="•"/>
            </a:pPr>
            <a:r>
              <a:rPr lang="en-US" sz="2800"/>
              <a:t> Use case Diagram:A use case diagram is a graph of actors set of use cases  enclosed by a system boundary, communication associations between the actors  and users and generalization among use cases. </a:t>
            </a:r>
            <a:endParaRPr sz="2800"/>
          </a:p>
          <a:p>
            <a:pPr indent="-342900" lvl="0" marL="342900" rtl="0" algn="l">
              <a:lnSpc>
                <a:spcPct val="100000"/>
              </a:lnSpc>
              <a:spcBef>
                <a:spcPts val="0"/>
              </a:spcBef>
              <a:spcAft>
                <a:spcPts val="0"/>
              </a:spcAft>
              <a:buSzPts val="3200"/>
              <a:buChar char="•"/>
            </a:pPr>
            <a:r>
              <a:rPr lang="en-US" sz="2800"/>
              <a:t>The use case model defines the  outside (actors) and inside (use case) of the system’s behavior.</a:t>
            </a:r>
            <a:endParaRPr sz="2800"/>
          </a:p>
          <a:p>
            <a:pPr indent="-342900" lvl="0" marL="342900" rtl="0" algn="l">
              <a:lnSpc>
                <a:spcPct val="100000"/>
              </a:lnSpc>
              <a:spcBef>
                <a:spcPts val="0"/>
              </a:spcBef>
              <a:spcAft>
                <a:spcPts val="0"/>
              </a:spcAft>
              <a:buSzPts val="3200"/>
              <a:buChar char="•"/>
            </a:pPr>
            <a:r>
              <a:rPr lang="en-US" sz="2800"/>
              <a:t>USER          </a:t>
            </a:r>
            <a:endParaRPr sz="2800"/>
          </a:p>
          <a:p>
            <a:pPr indent="-317500" lvl="0" marL="342900" rtl="0" algn="l">
              <a:lnSpc>
                <a:spcPct val="100000"/>
              </a:lnSpc>
              <a:spcBef>
                <a:spcPts val="0"/>
              </a:spcBef>
              <a:spcAft>
                <a:spcPts val="0"/>
              </a:spcAft>
              <a:buSzPts val="2800"/>
              <a:buChar char="•"/>
            </a:pPr>
            <a:r>
              <a:t/>
            </a:r>
            <a:endParaRPr sz="2800"/>
          </a:p>
        </p:txBody>
      </p:sp>
      <p:pic>
        <p:nvPicPr>
          <p:cNvPr id="165" name="Google Shape;165;p25"/>
          <p:cNvPicPr preferRelativeResize="0"/>
          <p:nvPr/>
        </p:nvPicPr>
        <p:blipFill rotWithShape="1">
          <a:blip r:embed="rId3">
            <a:alphaModFix/>
          </a:blip>
          <a:srcRect b="0" l="0" r="0" t="0"/>
          <a:stretch/>
        </p:blipFill>
        <p:spPr>
          <a:xfrm>
            <a:off x="2196500" y="4285900"/>
            <a:ext cx="5486400" cy="2286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6"/>
          <p:cNvSpPr txBox="1"/>
          <p:nvPr>
            <p:ph idx="4294967295" type="title"/>
          </p:nvPr>
        </p:nvSpPr>
        <p:spPr>
          <a:xfrm>
            <a:off x="457200" y="274638"/>
            <a:ext cx="8229600" cy="6399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22222"/>
              <a:buFont typeface="Arial"/>
              <a:buNone/>
            </a:pPr>
            <a:r>
              <a:rPr lang="en-US" sz="4000"/>
              <a:t>Design-Use Case Diagram</a:t>
            </a:r>
            <a:endParaRPr/>
          </a:p>
        </p:txBody>
      </p:sp>
      <p:sp>
        <p:nvSpPr>
          <p:cNvPr id="171" name="Google Shape;171;p26"/>
          <p:cNvSpPr txBox="1"/>
          <p:nvPr>
            <p:ph idx="4294967295" type="body"/>
          </p:nvPr>
        </p:nvSpPr>
        <p:spPr>
          <a:xfrm>
            <a:off x="228600" y="990600"/>
            <a:ext cx="8610600" cy="5257800"/>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SzPts val="3200"/>
              <a:buChar char="•"/>
            </a:pPr>
            <a:r>
              <a:rPr lang="en-US" sz="2800"/>
              <a:t>UML DIAGRAMS</a:t>
            </a:r>
            <a:endParaRPr sz="2800"/>
          </a:p>
          <a:p>
            <a:pPr indent="-342900" lvl="0" marL="342900" rtl="0" algn="l">
              <a:lnSpc>
                <a:spcPct val="100000"/>
              </a:lnSpc>
              <a:spcBef>
                <a:spcPts val="0"/>
              </a:spcBef>
              <a:spcAft>
                <a:spcPts val="0"/>
              </a:spcAft>
              <a:buSzPts val="3200"/>
              <a:buChar char="•"/>
            </a:pPr>
            <a:r>
              <a:rPr lang="en-US" sz="2800"/>
              <a:t> ADMIN</a:t>
            </a:r>
            <a:endParaRPr sz="2800"/>
          </a:p>
          <a:p>
            <a:pPr indent="-317500" lvl="0" marL="342900" rtl="0" algn="l">
              <a:lnSpc>
                <a:spcPct val="100000"/>
              </a:lnSpc>
              <a:spcBef>
                <a:spcPts val="0"/>
              </a:spcBef>
              <a:spcAft>
                <a:spcPts val="0"/>
              </a:spcAft>
              <a:buSzPts val="2800"/>
              <a:buChar char="•"/>
            </a:pPr>
            <a:r>
              <a:t/>
            </a:r>
            <a:endParaRPr sz="2800"/>
          </a:p>
        </p:txBody>
      </p:sp>
      <p:pic>
        <p:nvPicPr>
          <p:cNvPr id="172" name="Google Shape;172;p26"/>
          <p:cNvPicPr preferRelativeResize="0"/>
          <p:nvPr/>
        </p:nvPicPr>
        <p:blipFill rotWithShape="1">
          <a:blip r:embed="rId3">
            <a:alphaModFix/>
          </a:blip>
          <a:srcRect b="0" l="0" r="0" t="0"/>
          <a:stretch/>
        </p:blipFill>
        <p:spPr>
          <a:xfrm>
            <a:off x="914400" y="2514600"/>
            <a:ext cx="5714999" cy="3048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7"/>
          <p:cNvSpPr txBox="1"/>
          <p:nvPr>
            <p:ph idx="4294967295" type="title"/>
          </p:nvPr>
        </p:nvSpPr>
        <p:spPr>
          <a:xfrm>
            <a:off x="457200" y="274638"/>
            <a:ext cx="8229600" cy="6399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22222"/>
              <a:buFont typeface="Arial"/>
              <a:buNone/>
            </a:pPr>
            <a:r>
              <a:rPr lang="en-US" sz="4000"/>
              <a:t>Design-Class Diagram</a:t>
            </a:r>
            <a:endParaRPr/>
          </a:p>
        </p:txBody>
      </p:sp>
      <p:sp>
        <p:nvSpPr>
          <p:cNvPr id="178" name="Google Shape;178;p27"/>
          <p:cNvSpPr txBox="1"/>
          <p:nvPr>
            <p:ph idx="4294967295" type="body"/>
          </p:nvPr>
        </p:nvSpPr>
        <p:spPr>
          <a:xfrm>
            <a:off x="228600" y="990600"/>
            <a:ext cx="8610600" cy="5257800"/>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SzPts val="3200"/>
              <a:buChar char="•"/>
            </a:pPr>
            <a:r>
              <a:rPr lang="en-US" sz="2800"/>
              <a:t>Class Diagram:A class is a representation of an object and, in many ways; it is simply a template from which objects are created. Classes form the main building blocks of an object-oriented application. </a:t>
            </a:r>
            <a:endParaRPr sz="2800"/>
          </a:p>
          <a:p>
            <a:pPr indent="-342900" lvl="0" marL="342900" rtl="0" algn="l">
              <a:lnSpc>
                <a:spcPct val="100000"/>
              </a:lnSpc>
              <a:spcBef>
                <a:spcPts val="0"/>
              </a:spcBef>
              <a:spcAft>
                <a:spcPts val="0"/>
              </a:spcAft>
              <a:buSzPts val="3200"/>
              <a:buChar char="•"/>
            </a:pPr>
            <a:r>
              <a:rPr lang="en-US" sz="2800"/>
              <a:t>Although thousands of students attend the university, you would only model one class, called Student, which would represent the represent the entire collection of students.</a:t>
            </a:r>
            <a:endParaRPr sz="2800"/>
          </a:p>
          <a:p>
            <a:pPr indent="-342900" lvl="0" marL="342900" rtl="0" algn="l">
              <a:lnSpc>
                <a:spcPct val="100000"/>
              </a:lnSpc>
              <a:spcBef>
                <a:spcPts val="0"/>
              </a:spcBef>
              <a:spcAft>
                <a:spcPts val="0"/>
              </a:spcAft>
              <a:buSzPts val="3200"/>
              <a:buChar char="•"/>
            </a:pPr>
            <a:r>
              <a:t/>
            </a:r>
            <a:endParaRPr sz="2800"/>
          </a:p>
          <a:p>
            <a:pPr indent="-317500" lvl="0" marL="342900" rtl="0" algn="l">
              <a:lnSpc>
                <a:spcPct val="100000"/>
              </a:lnSpc>
              <a:spcBef>
                <a:spcPts val="0"/>
              </a:spcBef>
              <a:spcAft>
                <a:spcPts val="0"/>
              </a:spcAft>
              <a:buSzPts val="2800"/>
              <a:buChar char="•"/>
            </a:pPr>
            <a:r>
              <a:t/>
            </a:r>
            <a:endParaRPr sz="2800"/>
          </a:p>
          <a:p>
            <a:pPr indent="-317500" lvl="0" marL="342900" rtl="0" algn="l">
              <a:lnSpc>
                <a:spcPct val="100000"/>
              </a:lnSpc>
              <a:spcBef>
                <a:spcPts val="0"/>
              </a:spcBef>
              <a:spcAft>
                <a:spcPts val="0"/>
              </a:spcAft>
              <a:buSzPts val="2800"/>
              <a:buChar char="•"/>
            </a:pPr>
            <a:r>
              <a:t/>
            </a:r>
            <a:endParaRPr sz="2800"/>
          </a:p>
        </p:txBody>
      </p:sp>
      <p:pic>
        <p:nvPicPr>
          <p:cNvPr descr="C:\Users\Home 33\Downloads\ccclass.png" id="179" name="Google Shape;179;p27"/>
          <p:cNvPicPr preferRelativeResize="0"/>
          <p:nvPr/>
        </p:nvPicPr>
        <p:blipFill rotWithShape="1">
          <a:blip r:embed="rId3">
            <a:alphaModFix/>
          </a:blip>
          <a:srcRect b="0" l="0" r="0" t="0"/>
          <a:stretch/>
        </p:blipFill>
        <p:spPr>
          <a:xfrm>
            <a:off x="2005300" y="4095575"/>
            <a:ext cx="6629400" cy="243839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8"/>
          <p:cNvSpPr txBox="1"/>
          <p:nvPr>
            <p:ph idx="4294967295" type="title"/>
          </p:nvPr>
        </p:nvSpPr>
        <p:spPr>
          <a:xfrm>
            <a:off x="457200" y="274638"/>
            <a:ext cx="8229600" cy="6399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22222"/>
              <a:buFont typeface="Arial"/>
              <a:buNone/>
            </a:pPr>
            <a:r>
              <a:rPr lang="en-US" sz="4000"/>
              <a:t>Sequence Diagram - ecommerce example</a:t>
            </a:r>
            <a:endParaRPr/>
          </a:p>
        </p:txBody>
      </p:sp>
      <p:pic>
        <p:nvPicPr>
          <p:cNvPr id="185" name="Google Shape;185;p28"/>
          <p:cNvPicPr preferRelativeResize="0"/>
          <p:nvPr/>
        </p:nvPicPr>
        <p:blipFill rotWithShape="1">
          <a:blip r:embed="rId3">
            <a:alphaModFix/>
          </a:blip>
          <a:srcRect b="0" l="0" r="0" t="0"/>
          <a:stretch/>
        </p:blipFill>
        <p:spPr>
          <a:xfrm>
            <a:off x="152400" y="1066938"/>
            <a:ext cx="8630236" cy="563866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9"/>
          <p:cNvSpPr txBox="1"/>
          <p:nvPr>
            <p:ph idx="4294967295" type="title"/>
          </p:nvPr>
        </p:nvSpPr>
        <p:spPr>
          <a:xfrm>
            <a:off x="457200" y="274638"/>
            <a:ext cx="8229600" cy="6399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22222"/>
              <a:buFont typeface="Arial"/>
              <a:buNone/>
            </a:pPr>
            <a:r>
              <a:rPr lang="en-US" sz="4000"/>
              <a:t>Sequence Diagram</a:t>
            </a:r>
            <a:endParaRPr/>
          </a:p>
        </p:txBody>
      </p:sp>
      <p:pic>
        <p:nvPicPr>
          <p:cNvPr id="191" name="Google Shape;191;p29"/>
          <p:cNvPicPr preferRelativeResize="0"/>
          <p:nvPr/>
        </p:nvPicPr>
        <p:blipFill rotWithShape="1">
          <a:blip r:embed="rId3">
            <a:alphaModFix/>
          </a:blip>
          <a:srcRect b="-17149" l="0" r="-6974" t="0"/>
          <a:stretch/>
        </p:blipFill>
        <p:spPr>
          <a:xfrm>
            <a:off x="40750" y="1416224"/>
            <a:ext cx="8510675" cy="5405375"/>
          </a:xfrm>
          <a:prstGeom prst="rect">
            <a:avLst/>
          </a:prstGeom>
          <a:noFill/>
          <a:ln>
            <a:noFill/>
          </a:ln>
        </p:spPr>
      </p:pic>
      <p:sp>
        <p:nvSpPr>
          <p:cNvPr id="192" name="Google Shape;192;p29"/>
          <p:cNvSpPr txBox="1"/>
          <p:nvPr/>
        </p:nvSpPr>
        <p:spPr>
          <a:xfrm>
            <a:off x="597025" y="882825"/>
            <a:ext cx="7945500" cy="4059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Calibri"/>
                <a:ea typeface="Calibri"/>
                <a:cs typeface="Calibri"/>
                <a:sym typeface="Calibri"/>
              </a:rPr>
              <a:t>malware detection using machine learnng example</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0"/>
          <p:cNvSpPr txBox="1"/>
          <p:nvPr>
            <p:ph idx="4294967295" type="title"/>
          </p:nvPr>
        </p:nvSpPr>
        <p:spPr>
          <a:xfrm>
            <a:off x="457200" y="274638"/>
            <a:ext cx="8229600" cy="6399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22222"/>
              <a:buFont typeface="Arial"/>
              <a:buNone/>
            </a:pPr>
            <a:r>
              <a:rPr lang="en-US" sz="4000"/>
              <a:t>Sequence Diagram</a:t>
            </a:r>
            <a:endParaRPr/>
          </a:p>
        </p:txBody>
      </p:sp>
      <p:sp>
        <p:nvSpPr>
          <p:cNvPr id="198" name="Google Shape;198;p30"/>
          <p:cNvSpPr txBox="1"/>
          <p:nvPr/>
        </p:nvSpPr>
        <p:spPr>
          <a:xfrm>
            <a:off x="597025" y="882825"/>
            <a:ext cx="7945500" cy="4059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AI Product guide example</a:t>
            </a:r>
            <a:endParaRPr b="0" i="0" sz="2000" u="none" cap="none" strike="noStrike">
              <a:solidFill>
                <a:schemeClr val="dk1"/>
              </a:solidFill>
              <a:latin typeface="Calibri"/>
              <a:ea typeface="Calibri"/>
              <a:cs typeface="Calibri"/>
              <a:sym typeface="Calibri"/>
            </a:endParaRPr>
          </a:p>
        </p:txBody>
      </p:sp>
      <p:pic>
        <p:nvPicPr>
          <p:cNvPr id="199" name="Google Shape;199;p30"/>
          <p:cNvPicPr preferRelativeResize="0"/>
          <p:nvPr/>
        </p:nvPicPr>
        <p:blipFill rotWithShape="1">
          <a:blip r:embed="rId3">
            <a:alphaModFix/>
          </a:blip>
          <a:srcRect b="0" l="0" r="0" t="0"/>
          <a:stretch/>
        </p:blipFill>
        <p:spPr>
          <a:xfrm>
            <a:off x="152400" y="1441125"/>
            <a:ext cx="8421469" cy="526447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1"/>
          <p:cNvSpPr txBox="1"/>
          <p:nvPr>
            <p:ph idx="4294967295" type="title"/>
          </p:nvPr>
        </p:nvSpPr>
        <p:spPr>
          <a:xfrm>
            <a:off x="457200" y="274638"/>
            <a:ext cx="8229600" cy="6399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n-US"/>
              <a:t>Algorithms used</a:t>
            </a:r>
            <a:endParaRPr/>
          </a:p>
        </p:txBody>
      </p:sp>
      <p:sp>
        <p:nvSpPr>
          <p:cNvPr id="205" name="Google Shape;205;p31"/>
          <p:cNvSpPr txBox="1"/>
          <p:nvPr>
            <p:ph idx="4294967295" type="body"/>
          </p:nvPr>
        </p:nvSpPr>
        <p:spPr>
          <a:xfrm>
            <a:off x="228600" y="914550"/>
            <a:ext cx="8610600" cy="5763600"/>
          </a:xfrm>
          <a:prstGeom prst="rect">
            <a:avLst/>
          </a:prstGeom>
          <a:noFill/>
          <a:ln>
            <a:noFill/>
          </a:ln>
        </p:spPr>
        <p:txBody>
          <a:bodyPr anchorCtr="0" anchor="t" bIns="45700" lIns="91425" spcFirstLastPara="1" rIns="91425" wrap="square" tIns="45700">
            <a:noAutofit/>
          </a:bodyPr>
          <a:lstStyle/>
          <a:p>
            <a:pPr indent="-342900" lvl="0" marL="457200" rtl="0" algn="l">
              <a:lnSpc>
                <a:spcPct val="115000"/>
              </a:lnSpc>
              <a:spcBef>
                <a:spcPts val="1200"/>
              </a:spcBef>
              <a:spcAft>
                <a:spcPts val="0"/>
              </a:spcAft>
              <a:buSzPts val="1800"/>
              <a:buChar char="•"/>
            </a:pPr>
            <a:r>
              <a:rPr b="1" lang="en-US" sz="1800"/>
              <a:t>Edge Pre-Alert Algorithm</a:t>
            </a:r>
            <a:br>
              <a:rPr b="1" lang="en-US" sz="1800"/>
            </a:br>
            <a:r>
              <a:rPr lang="en-US" sz="1800"/>
              <a:t> – Rolling window on recent N readings → compute </a:t>
            </a:r>
            <a:r>
              <a:rPr b="1" lang="en-US" sz="1800"/>
              <a:t>rate-of-rise = (level_now − level_old) / Δt</a:t>
            </a:r>
            <a:r>
              <a:rPr lang="en-US" sz="1800"/>
              <a:t>.</a:t>
            </a:r>
            <a:br>
              <a:rPr lang="en-US" sz="1800"/>
            </a:br>
            <a:r>
              <a:rPr lang="en-US" sz="1800"/>
              <a:t> – If </a:t>
            </a:r>
            <a:r>
              <a:rPr b="1" lang="en-US" sz="1800"/>
              <a:t>rate-of-rise &gt; prealert_threshold</a:t>
            </a:r>
            <a:r>
              <a:rPr lang="en-US" sz="1800"/>
              <a:t> → trigger local buzzer &amp; publish </a:t>
            </a:r>
            <a:r>
              <a:rPr lang="en-US" sz="1800">
                <a:solidFill>
                  <a:srgbClr val="188038"/>
                </a:solidFill>
              </a:rPr>
              <a:t>pre_alert=true</a:t>
            </a:r>
            <a:r>
              <a:rPr lang="en-US" sz="1800"/>
              <a:t>.</a:t>
            </a:r>
            <a:br>
              <a:rPr lang="en-US" sz="1800"/>
            </a:br>
            <a:r>
              <a:rPr lang="en-US" sz="1800"/>
              <a:t> – Sampling state machine: NORMAL (60s) → WATCH (15s) → ALERT (5–10s).</a:t>
            </a:r>
            <a:br>
              <a:rPr lang="en-US" sz="1800"/>
            </a:br>
            <a:endParaRPr sz="1800"/>
          </a:p>
          <a:p>
            <a:pPr indent="-342900" lvl="0" marL="457200" rtl="0" algn="l">
              <a:lnSpc>
                <a:spcPct val="115000"/>
              </a:lnSpc>
              <a:spcBef>
                <a:spcPts val="0"/>
              </a:spcBef>
              <a:spcAft>
                <a:spcPts val="0"/>
              </a:spcAft>
              <a:buSzPts val="1800"/>
              <a:buChar char="•"/>
            </a:pPr>
            <a:r>
              <a:rPr b="1" lang="en-US" sz="1800"/>
              <a:t>Adaptive Thresholding (EWMA baseline)</a:t>
            </a:r>
            <a:br>
              <a:rPr b="1" lang="en-US" sz="1800"/>
            </a:br>
            <a:r>
              <a:rPr lang="en-US" sz="1800"/>
              <a:t> – Update baseline μₜ = α·xₜ + (1−α)·μₜ₋₁ (α = 0.05–0.2).</a:t>
            </a:r>
            <a:br>
              <a:rPr lang="en-US" sz="1800"/>
            </a:br>
            <a:r>
              <a:rPr lang="en-US" sz="1800"/>
              <a:t> – Dynamic threshold = μₜ + k·σₜ (k tuned to balance FP/FN).</a:t>
            </a:r>
            <a:br>
              <a:rPr lang="en-US" sz="1800"/>
            </a:br>
            <a:endParaRPr sz="1800"/>
          </a:p>
          <a:p>
            <a:pPr indent="-342900" lvl="0" marL="457200" rtl="0" algn="l">
              <a:lnSpc>
                <a:spcPct val="115000"/>
              </a:lnSpc>
              <a:spcBef>
                <a:spcPts val="0"/>
              </a:spcBef>
              <a:spcAft>
                <a:spcPts val="0"/>
              </a:spcAft>
              <a:buSzPts val="1800"/>
              <a:buChar char="•"/>
            </a:pPr>
            <a:r>
              <a:rPr b="1" lang="en-US" sz="1800"/>
              <a:t>Data Cleaning &amp; Windowing</a:t>
            </a:r>
            <a:br>
              <a:rPr b="1" lang="en-US" sz="1800"/>
            </a:br>
            <a:r>
              <a:rPr lang="en-US" sz="1800"/>
              <a:t> – Median filter to remove spikes; linear interpolation for missing samples.</a:t>
            </a:r>
            <a:br>
              <a:rPr lang="en-US" sz="1800"/>
            </a:br>
            <a:r>
              <a:rPr lang="en-US" sz="1800"/>
              <a:t> – Create sliding windows (e.g., 5–15 minute windows) and compute window-level features.</a:t>
            </a:r>
            <a:br>
              <a:rPr lang="en-US" sz="1800"/>
            </a:br>
            <a:endParaRPr sz="1800"/>
          </a:p>
          <a:p>
            <a:pPr indent="-342900" lvl="0" marL="457200" rtl="0" algn="l">
              <a:lnSpc>
                <a:spcPct val="115000"/>
              </a:lnSpc>
              <a:spcBef>
                <a:spcPts val="0"/>
              </a:spcBef>
              <a:spcAft>
                <a:spcPts val="0"/>
              </a:spcAft>
              <a:buSzPts val="1800"/>
              <a:buChar char="•"/>
            </a:pPr>
            <a:r>
              <a:rPr b="1" lang="en-US" sz="1800"/>
              <a:t>Feature Set (brief)</a:t>
            </a:r>
            <a:br>
              <a:rPr b="1" lang="en-US" sz="1800"/>
            </a:br>
            <a:r>
              <a:rPr lang="en-US" sz="1800"/>
              <a:t> – Level, rate (Δ), acceleration (Δ²), rolling mean (1h/6h), cumulative rainfall, time-of-day, sensor_health_flag.</a:t>
            </a:r>
            <a:endParaRPr sz="18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2"/>
          <p:cNvSpPr txBox="1"/>
          <p:nvPr>
            <p:ph idx="4294967295" type="title"/>
          </p:nvPr>
        </p:nvSpPr>
        <p:spPr>
          <a:xfrm>
            <a:off x="457200" y="274638"/>
            <a:ext cx="8229600" cy="6399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n-US"/>
              <a:t>Algorithms used</a:t>
            </a:r>
            <a:endParaRPr/>
          </a:p>
        </p:txBody>
      </p:sp>
      <p:sp>
        <p:nvSpPr>
          <p:cNvPr id="211" name="Google Shape;211;p32"/>
          <p:cNvSpPr txBox="1"/>
          <p:nvPr>
            <p:ph idx="4294967295" type="body"/>
          </p:nvPr>
        </p:nvSpPr>
        <p:spPr>
          <a:xfrm>
            <a:off x="228600" y="914550"/>
            <a:ext cx="8610600" cy="5763600"/>
          </a:xfrm>
          <a:prstGeom prst="rect">
            <a:avLst/>
          </a:prstGeom>
          <a:noFill/>
          <a:ln>
            <a:noFill/>
          </a:ln>
        </p:spPr>
        <p:txBody>
          <a:bodyPr anchorCtr="0" anchor="t" bIns="45700" lIns="91425" spcFirstLastPara="1" rIns="91425" wrap="square" tIns="45700">
            <a:noAutofit/>
          </a:bodyPr>
          <a:lstStyle/>
          <a:p>
            <a:pPr indent="-342900" lvl="0" marL="457200" rtl="0" algn="l">
              <a:lnSpc>
                <a:spcPct val="115000"/>
              </a:lnSpc>
              <a:spcBef>
                <a:spcPts val="1200"/>
              </a:spcBef>
              <a:spcAft>
                <a:spcPts val="0"/>
              </a:spcAft>
              <a:buSzPts val="1800"/>
              <a:buChar char="•"/>
            </a:pPr>
            <a:r>
              <a:rPr b="1" lang="en-US" sz="1800"/>
              <a:t>ML Models &amp; Training</a:t>
            </a:r>
            <a:br>
              <a:rPr b="1" lang="en-US" sz="1800"/>
            </a:br>
            <a:r>
              <a:rPr lang="en-US" sz="1800"/>
              <a:t> – Baseline: </a:t>
            </a:r>
            <a:r>
              <a:rPr b="1" lang="en-US" sz="1800"/>
              <a:t>Decision Tree + Logistic Regression</a:t>
            </a:r>
            <a:r>
              <a:rPr lang="en-US" sz="1800"/>
              <a:t> (interpretable).</a:t>
            </a:r>
            <a:br>
              <a:rPr lang="en-US" sz="1800"/>
            </a:br>
            <a:r>
              <a:rPr lang="en-US" sz="1800"/>
              <a:t> – Benchmarks: </a:t>
            </a:r>
            <a:r>
              <a:rPr b="1" lang="en-US" sz="1800"/>
              <a:t>RandomForest / XGBoost</a:t>
            </a:r>
            <a:r>
              <a:rPr lang="en-US" sz="1800"/>
              <a:t> to improve rare-event recall.</a:t>
            </a:r>
            <a:br>
              <a:rPr lang="en-US" sz="1800"/>
            </a:br>
            <a:r>
              <a:rPr lang="en-US" sz="1800"/>
              <a:t> – Train with time-aware split and 5-fold CV; handle class imbalance with class weights or SMOTE.</a:t>
            </a:r>
            <a:endParaRPr sz="1800"/>
          </a:p>
          <a:p>
            <a:pPr indent="-342900" lvl="0" marL="457200" rtl="0" algn="l">
              <a:lnSpc>
                <a:spcPct val="115000"/>
              </a:lnSpc>
              <a:spcBef>
                <a:spcPts val="0"/>
              </a:spcBef>
              <a:spcAft>
                <a:spcPts val="0"/>
              </a:spcAft>
              <a:buSzPts val="1800"/>
              <a:buChar char="•"/>
            </a:pPr>
            <a:r>
              <a:rPr b="1" lang="en-US" sz="1800"/>
              <a:t>Probability Calibration &amp; Decision Mapping</a:t>
            </a:r>
            <a:br>
              <a:rPr b="1" lang="en-US" sz="1800"/>
            </a:br>
            <a:r>
              <a:rPr lang="en-US" sz="1800"/>
              <a:t> – Calibrate scores (Platt / isotonic).</a:t>
            </a:r>
            <a:br>
              <a:rPr lang="en-US" sz="1800"/>
            </a:br>
            <a:r>
              <a:rPr lang="en-US" sz="1800"/>
              <a:t> – Map calibrated p → actions: p≥0.8 → Critical; 0.6–0.8 → High; else monitor.</a:t>
            </a:r>
            <a:endParaRPr sz="1800"/>
          </a:p>
          <a:p>
            <a:pPr indent="-342900" lvl="0" marL="457200" rtl="0" algn="l">
              <a:lnSpc>
                <a:spcPct val="115000"/>
              </a:lnSpc>
              <a:spcBef>
                <a:spcPts val="0"/>
              </a:spcBef>
              <a:spcAft>
                <a:spcPts val="0"/>
              </a:spcAft>
              <a:buSzPts val="1800"/>
              <a:buChar char="•"/>
            </a:pPr>
            <a:r>
              <a:rPr b="1" lang="en-US" sz="1800"/>
              <a:t>Anomaly Detection &amp; Sensor Fusion</a:t>
            </a:r>
            <a:br>
              <a:rPr b="1" lang="en-US" sz="1800"/>
            </a:br>
            <a:r>
              <a:rPr lang="en-US" sz="1800"/>
              <a:t> – Rule-based checks: (rise &amp;&amp; rain≈0 &amp;&amp; upstream_no_change) ⇒ mark anomaly &amp; suppress alert.</a:t>
            </a:r>
            <a:br>
              <a:rPr lang="en-US" sz="1800"/>
            </a:br>
            <a:r>
              <a:rPr lang="en-US" sz="1800"/>
              <a:t> – Statistical checks: stuck-sensor if identical reading for M cycles; z-score or IsolationForest for outliers.</a:t>
            </a:r>
            <a:endParaRPr sz="1800"/>
          </a:p>
          <a:p>
            <a:pPr indent="-342900" lvl="0" marL="457200" rtl="0" algn="l">
              <a:lnSpc>
                <a:spcPct val="115000"/>
              </a:lnSpc>
              <a:spcBef>
                <a:spcPts val="0"/>
              </a:spcBef>
              <a:spcAft>
                <a:spcPts val="0"/>
              </a:spcAft>
              <a:buSzPts val="1800"/>
              <a:buChar char="•"/>
            </a:pPr>
            <a:r>
              <a:rPr b="1" lang="en-US" sz="1800"/>
              <a:t>Alert Inference Logic (compact)</a:t>
            </a:r>
            <a:br>
              <a:rPr b="1" lang="en-US" sz="1800"/>
            </a:br>
            <a:r>
              <a:rPr lang="en-US" sz="1800"/>
              <a:t> – Priority: If </a:t>
            </a:r>
            <a:r>
              <a:rPr lang="en-US" sz="1800">
                <a:solidFill>
                  <a:srgbClr val="188038"/>
                </a:solidFill>
              </a:rPr>
              <a:t>pre_alert</a:t>
            </a:r>
            <a:r>
              <a:rPr lang="en-US" sz="1800"/>
              <a:t> received → run immediate cloud inference on latest window.</a:t>
            </a:r>
            <a:br>
              <a:rPr lang="en-US" sz="1800"/>
            </a:br>
            <a:r>
              <a:rPr lang="en-US" sz="1800"/>
              <a:t> – If model confirms (label or prob threshold) → Alert Manager sends SMS/Email + log event.</a:t>
            </a:r>
            <a:br>
              <a:rPr lang="en-US" sz="1800"/>
            </a:br>
            <a:r>
              <a:rPr lang="en-US" sz="1800"/>
              <a:t> – All events stored for retraining and audit.</a:t>
            </a:r>
            <a:endParaRPr sz="1800"/>
          </a:p>
          <a:p>
            <a:pPr indent="0" lvl="0" marL="457200" rtl="0" algn="l">
              <a:lnSpc>
                <a:spcPct val="115000"/>
              </a:lnSpc>
              <a:spcBef>
                <a:spcPts val="1200"/>
              </a:spcBef>
              <a:spcAft>
                <a:spcPts val="1200"/>
              </a:spcAft>
              <a:buNone/>
            </a:pPr>
            <a:r>
              <a:t/>
            </a:r>
            <a:endParaRPr b="1" sz="18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3"/>
          <p:cNvSpPr txBox="1"/>
          <p:nvPr>
            <p:ph idx="4294967295" type="title"/>
          </p:nvPr>
        </p:nvSpPr>
        <p:spPr>
          <a:xfrm>
            <a:off x="457200" y="274638"/>
            <a:ext cx="8229600" cy="6399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n-US"/>
              <a:t>Hardware and software selection </a:t>
            </a:r>
            <a:endParaRPr/>
          </a:p>
        </p:txBody>
      </p:sp>
      <p:sp>
        <p:nvSpPr>
          <p:cNvPr id="217" name="Google Shape;217;p33"/>
          <p:cNvSpPr txBox="1"/>
          <p:nvPr>
            <p:ph idx="4294967295" type="body"/>
          </p:nvPr>
        </p:nvSpPr>
        <p:spPr>
          <a:xfrm>
            <a:off x="122722" y="967339"/>
            <a:ext cx="9021300" cy="5755800"/>
          </a:xfrm>
          <a:prstGeom prst="rect">
            <a:avLst/>
          </a:prstGeom>
          <a:noFill/>
          <a:ln>
            <a:noFill/>
          </a:ln>
        </p:spPr>
        <p:txBody>
          <a:bodyPr anchorCtr="0" anchor="t" bIns="45700" lIns="91425" spcFirstLastPara="1" rIns="91425" wrap="square" tIns="45700">
            <a:normAutofit fontScale="70000" lnSpcReduction="20000"/>
          </a:bodyPr>
          <a:lstStyle/>
          <a:p>
            <a:pPr indent="0" lvl="0" marL="457200" rtl="0" algn="l">
              <a:lnSpc>
                <a:spcPct val="115000"/>
              </a:lnSpc>
              <a:spcBef>
                <a:spcPts val="1200"/>
              </a:spcBef>
              <a:spcAft>
                <a:spcPts val="0"/>
              </a:spcAft>
              <a:buNone/>
            </a:pPr>
            <a:r>
              <a:rPr b="1" lang="en-US" sz="3100"/>
              <a:t>• Hardware Used</a:t>
            </a:r>
            <a:br>
              <a:rPr b="1" lang="en-US" sz="3100"/>
            </a:br>
            <a:r>
              <a:rPr lang="en-US" sz="3100"/>
              <a:t> – </a:t>
            </a:r>
            <a:r>
              <a:rPr b="1" lang="en-US" sz="3100"/>
              <a:t>ESP32 Microcontroller</a:t>
            </a:r>
            <a:r>
              <a:rPr lang="en-US" sz="3100"/>
              <a:t> – Wi-Fi enabled, supports edge processing &amp; low power.</a:t>
            </a:r>
            <a:br>
              <a:rPr lang="en-US" sz="3100"/>
            </a:br>
            <a:r>
              <a:rPr lang="en-US" sz="3100"/>
              <a:t> – </a:t>
            </a:r>
            <a:r>
              <a:rPr b="1" lang="en-US" sz="3100"/>
              <a:t>Ultrasonic Water-Level Sensor</a:t>
            </a:r>
            <a:r>
              <a:rPr lang="en-US" sz="3100"/>
              <a:t> – Contactless and accurate measurement.</a:t>
            </a:r>
            <a:br>
              <a:rPr lang="en-US" sz="3100"/>
            </a:br>
            <a:r>
              <a:rPr lang="en-US" sz="3100"/>
              <a:t> – </a:t>
            </a:r>
            <a:r>
              <a:rPr b="1" lang="en-US" sz="3100"/>
              <a:t>Rain Gauge Sensor</a:t>
            </a:r>
            <a:r>
              <a:rPr lang="en-US" sz="3100"/>
              <a:t> – Captures real-time rainfall intensity.</a:t>
            </a:r>
            <a:br>
              <a:rPr lang="en-US" sz="3100"/>
            </a:br>
            <a:r>
              <a:rPr lang="en-US" sz="3100"/>
              <a:t> – </a:t>
            </a:r>
            <a:r>
              <a:rPr b="1" lang="en-US" sz="3100"/>
              <a:t>Buzzer / LED</a:t>
            </a:r>
            <a:r>
              <a:rPr lang="en-US" sz="3100"/>
              <a:t> – Immediate on-site warning during network failure.</a:t>
            </a:r>
            <a:br>
              <a:rPr lang="en-US" sz="3100"/>
            </a:br>
            <a:r>
              <a:rPr lang="en-US" sz="3100"/>
              <a:t> – </a:t>
            </a:r>
            <a:r>
              <a:rPr b="1" lang="en-US" sz="3100"/>
              <a:t>Power Supply (Battery/Adapter)</a:t>
            </a:r>
            <a:r>
              <a:rPr lang="en-US" sz="3100"/>
              <a:t> – Ensures continuous operation.</a:t>
            </a:r>
            <a:br>
              <a:rPr lang="en-US" sz="3100"/>
            </a:br>
            <a:endParaRPr sz="3100"/>
          </a:p>
          <a:p>
            <a:pPr indent="0" lvl="0" marL="457200" rtl="0" algn="l">
              <a:lnSpc>
                <a:spcPct val="115000"/>
              </a:lnSpc>
              <a:spcBef>
                <a:spcPts val="1200"/>
              </a:spcBef>
              <a:spcAft>
                <a:spcPts val="0"/>
              </a:spcAft>
              <a:buNone/>
            </a:pPr>
            <a:r>
              <a:rPr b="1" lang="en-US" sz="3100"/>
              <a:t>• Software &amp; Tools</a:t>
            </a:r>
            <a:br>
              <a:rPr b="1" lang="en-US" sz="3100"/>
            </a:br>
            <a:r>
              <a:rPr lang="en-US" sz="3100"/>
              <a:t> – </a:t>
            </a:r>
            <a:r>
              <a:rPr b="1" lang="en-US" sz="3100"/>
              <a:t>Arduino IDE</a:t>
            </a:r>
            <a:r>
              <a:rPr lang="en-US" sz="3100"/>
              <a:t> – Programming and firmware upload for ESP32.</a:t>
            </a:r>
            <a:br>
              <a:rPr lang="en-US" sz="3100"/>
            </a:br>
            <a:r>
              <a:rPr lang="en-US" sz="3100"/>
              <a:t> – </a:t>
            </a:r>
            <a:r>
              <a:rPr b="1" lang="en-US" sz="3100"/>
              <a:t>MQTT / HTTP Protocols</a:t>
            </a:r>
            <a:r>
              <a:rPr lang="en-US" sz="3100"/>
              <a:t> – Secure and reliable IoT data transfer.</a:t>
            </a:r>
            <a:br>
              <a:rPr lang="en-US" sz="3100"/>
            </a:br>
            <a:r>
              <a:rPr lang="en-US" sz="3100"/>
              <a:t> – </a:t>
            </a:r>
            <a:r>
              <a:rPr b="1" lang="en-US" sz="3100"/>
              <a:t>Flask Server + Database</a:t>
            </a:r>
            <a:r>
              <a:rPr lang="en-US" sz="3100"/>
              <a:t> – Sensor data ingestion, storage &amp; processing.</a:t>
            </a:r>
            <a:br>
              <a:rPr lang="en-US" sz="3100"/>
            </a:br>
            <a:r>
              <a:rPr lang="en-US" sz="3100"/>
              <a:t> – </a:t>
            </a:r>
            <a:r>
              <a:rPr b="1" lang="en-US" sz="3100"/>
              <a:t>Scikit-learn</a:t>
            </a:r>
            <a:r>
              <a:rPr lang="en-US" sz="3100"/>
              <a:t> – Machine learning-based flood risk prediction.</a:t>
            </a:r>
            <a:br>
              <a:rPr lang="en-US" sz="3100"/>
            </a:br>
            <a:r>
              <a:rPr lang="en-US" sz="3100"/>
              <a:t> – </a:t>
            </a:r>
            <a:r>
              <a:rPr b="1" lang="en-US" sz="3100"/>
              <a:t>Chart.js Dashboard + Twilio API</a:t>
            </a:r>
            <a:r>
              <a:rPr lang="en-US" sz="3100"/>
              <a:t> – Real-time visualization &amp; SMS alerts.</a:t>
            </a:r>
            <a:endParaRPr sz="3100"/>
          </a:p>
          <a:p>
            <a:pPr indent="0" lvl="0" marL="457200" rtl="0" algn="l">
              <a:lnSpc>
                <a:spcPct val="100000"/>
              </a:lnSpc>
              <a:spcBef>
                <a:spcPts val="1200"/>
              </a:spcBef>
              <a:spcAft>
                <a:spcPts val="0"/>
              </a:spcAft>
              <a:buNone/>
            </a:pPr>
            <a:r>
              <a:t/>
            </a:r>
            <a:endParaRPr/>
          </a:p>
          <a:p>
            <a:pPr indent="0" lvl="0" marL="0" rtl="0" algn="l">
              <a:lnSpc>
                <a:spcPct val="100000"/>
              </a:lnSpc>
              <a:spcBef>
                <a:spcPts val="0"/>
              </a:spcBef>
              <a:spcAft>
                <a:spcPts val="0"/>
              </a:spcAft>
              <a:buSzPct val="100000"/>
              <a:buNone/>
            </a:pPr>
            <a:r>
              <a:t/>
            </a:r>
            <a:endParaRPr/>
          </a:p>
        </p:txBody>
      </p:sp>
    </p:spTree>
  </p:cSld>
  <p:clrMapOvr>
    <a:masterClrMapping/>
  </p:clrMapOvr>
  <p:transition spd="med">
    <p:push/>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4"/>
          <p:cNvSpPr txBox="1"/>
          <p:nvPr>
            <p:ph idx="4294967295" type="title"/>
          </p:nvPr>
        </p:nvSpPr>
        <p:spPr>
          <a:xfrm>
            <a:off x="457200" y="274638"/>
            <a:ext cx="8229600" cy="6399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n-US"/>
              <a:t>Implementation</a:t>
            </a:r>
            <a:endParaRPr/>
          </a:p>
        </p:txBody>
      </p:sp>
      <p:sp>
        <p:nvSpPr>
          <p:cNvPr id="223" name="Google Shape;223;p34"/>
          <p:cNvSpPr txBox="1"/>
          <p:nvPr>
            <p:ph idx="4294967295" type="body"/>
          </p:nvPr>
        </p:nvSpPr>
        <p:spPr>
          <a:xfrm>
            <a:off x="228600" y="990600"/>
            <a:ext cx="8610600" cy="5257800"/>
          </a:xfrm>
          <a:prstGeom prst="rect">
            <a:avLst/>
          </a:prstGeom>
          <a:noFill/>
          <a:ln>
            <a:noFill/>
          </a:ln>
        </p:spPr>
        <p:txBody>
          <a:bodyPr anchorCtr="0" anchor="t" bIns="45700" lIns="91425" spcFirstLastPara="1" rIns="91425" wrap="square" tIns="45700">
            <a:noAutofit/>
          </a:bodyPr>
          <a:lstStyle/>
          <a:p>
            <a:pPr indent="-368300" lvl="0" marL="457200" rtl="0" algn="l">
              <a:lnSpc>
                <a:spcPct val="115000"/>
              </a:lnSpc>
              <a:spcBef>
                <a:spcPts val="1200"/>
              </a:spcBef>
              <a:spcAft>
                <a:spcPts val="0"/>
              </a:spcAft>
              <a:buSzPts val="2200"/>
              <a:buChar char="•"/>
            </a:pPr>
            <a:r>
              <a:rPr b="1" lang="en-US" sz="2200"/>
              <a:t>Edge Node Setup</a:t>
            </a:r>
            <a:br>
              <a:rPr b="1" lang="en-US" sz="2200"/>
            </a:br>
            <a:r>
              <a:rPr lang="en-US" sz="2200"/>
              <a:t> – Assemble ESP32 + ultrasonic + rain sensor, mount in weatherproof enclosure, connect buzzer/LED and power (battery/adapter).</a:t>
            </a:r>
            <a:br>
              <a:rPr lang="en-US" sz="2200"/>
            </a:br>
            <a:endParaRPr sz="2200"/>
          </a:p>
          <a:p>
            <a:pPr indent="-368300" lvl="0" marL="457200" rtl="0" algn="l">
              <a:lnSpc>
                <a:spcPct val="115000"/>
              </a:lnSpc>
              <a:spcBef>
                <a:spcPts val="0"/>
              </a:spcBef>
              <a:spcAft>
                <a:spcPts val="0"/>
              </a:spcAft>
              <a:buSzPts val="2200"/>
              <a:buChar char="•"/>
            </a:pPr>
            <a:r>
              <a:rPr b="1" lang="en-US" sz="2200"/>
              <a:t>Firmware &amp; Edge Logic</a:t>
            </a:r>
            <a:br>
              <a:rPr b="1" lang="en-US" sz="2200"/>
            </a:br>
            <a:r>
              <a:rPr lang="en-US" sz="2200"/>
              <a:t> – Implement sampling state machine (NORMAL/WATCH/ALERT), rolling Δ calculation, local pre-alert flag and MQTT/HTTP publish; enable offline buffering.</a:t>
            </a:r>
            <a:br>
              <a:rPr lang="en-US" sz="2200"/>
            </a:br>
            <a:endParaRPr sz="2200"/>
          </a:p>
          <a:p>
            <a:pPr indent="-368300" lvl="0" marL="457200" rtl="0" algn="l">
              <a:lnSpc>
                <a:spcPct val="115000"/>
              </a:lnSpc>
              <a:spcBef>
                <a:spcPts val="0"/>
              </a:spcBef>
              <a:spcAft>
                <a:spcPts val="0"/>
              </a:spcAft>
              <a:buSzPts val="2200"/>
              <a:buChar char="•"/>
            </a:pPr>
            <a:r>
              <a:rPr b="1" lang="en-US" sz="2200"/>
              <a:t>Cloud Ingest &amp; Storage</a:t>
            </a:r>
            <a:br>
              <a:rPr b="1" lang="en-US" sz="2200"/>
            </a:br>
            <a:r>
              <a:rPr lang="en-US" sz="2200"/>
              <a:t> – Deploy Flask API to receive sensor JSON, timestamp &amp; persist to DB (InfluxDB/Postgres); implement basic auth and input validation.</a:t>
            </a:r>
            <a:endParaRPr sz="2200"/>
          </a:p>
          <a:p>
            <a:pPr indent="0" lvl="0" marL="0" rtl="0" algn="l">
              <a:lnSpc>
                <a:spcPct val="100000"/>
              </a:lnSpc>
              <a:spcBef>
                <a:spcPts val="1200"/>
              </a:spcBef>
              <a:spcAft>
                <a:spcPts val="0"/>
              </a:spcAft>
              <a:buNone/>
            </a:pPr>
            <a:r>
              <a:t/>
            </a:r>
            <a:endParaRPr sz="22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5"/>
          <p:cNvSpPr txBox="1"/>
          <p:nvPr>
            <p:ph idx="4294967295" type="title"/>
          </p:nvPr>
        </p:nvSpPr>
        <p:spPr>
          <a:xfrm>
            <a:off x="457200" y="274638"/>
            <a:ext cx="8229600" cy="6399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n-US"/>
              <a:t>Implementation</a:t>
            </a:r>
            <a:endParaRPr/>
          </a:p>
        </p:txBody>
      </p:sp>
      <p:sp>
        <p:nvSpPr>
          <p:cNvPr id="230" name="Google Shape;230;p35"/>
          <p:cNvSpPr txBox="1"/>
          <p:nvPr/>
        </p:nvSpPr>
        <p:spPr>
          <a:xfrm>
            <a:off x="0" y="993325"/>
            <a:ext cx="8882100" cy="5586000"/>
          </a:xfrm>
          <a:prstGeom prst="rect">
            <a:avLst/>
          </a:prstGeom>
          <a:noFill/>
          <a:ln>
            <a:noFill/>
          </a:ln>
        </p:spPr>
        <p:txBody>
          <a:bodyPr anchorCtr="0" anchor="t" bIns="91425" lIns="91425" spcFirstLastPara="1" rIns="91425" wrap="square" tIns="91425">
            <a:spAutoFit/>
          </a:bodyPr>
          <a:lstStyle/>
          <a:p>
            <a:pPr indent="-368300" lvl="0" marL="457200" rtl="0" algn="l">
              <a:lnSpc>
                <a:spcPct val="115000"/>
              </a:lnSpc>
              <a:spcBef>
                <a:spcPts val="1200"/>
              </a:spcBef>
              <a:spcAft>
                <a:spcPts val="0"/>
              </a:spcAft>
              <a:buClr>
                <a:schemeClr val="dk1"/>
              </a:buClr>
              <a:buSzPts val="2200"/>
              <a:buChar char="•"/>
            </a:pPr>
            <a:r>
              <a:rPr b="1" lang="en-US" sz="2200">
                <a:solidFill>
                  <a:schemeClr val="dk1"/>
                </a:solidFill>
                <a:latin typeface="Calibri"/>
                <a:ea typeface="Calibri"/>
                <a:cs typeface="Calibri"/>
                <a:sym typeface="Calibri"/>
              </a:rPr>
              <a:t>ML Deployment &amp; Inference</a:t>
            </a:r>
            <a:br>
              <a:rPr b="1" lang="en-US" sz="2200">
                <a:solidFill>
                  <a:schemeClr val="dk1"/>
                </a:solidFill>
                <a:latin typeface="Calibri"/>
                <a:ea typeface="Calibri"/>
                <a:cs typeface="Calibri"/>
                <a:sym typeface="Calibri"/>
              </a:rPr>
            </a:br>
            <a:r>
              <a:rPr lang="en-US" sz="2200">
                <a:solidFill>
                  <a:schemeClr val="dk1"/>
                </a:solidFill>
                <a:latin typeface="Calibri"/>
                <a:ea typeface="Calibri"/>
                <a:cs typeface="Calibri"/>
                <a:sym typeface="Calibri"/>
              </a:rPr>
              <a:t> – Train models (DT/LR) offline, export with joblib; host inference service behind API endpoint; implement probability calibration and threshold mapping.</a:t>
            </a:r>
            <a:endParaRPr b="1" sz="2200">
              <a:solidFill>
                <a:schemeClr val="dk1"/>
              </a:solidFill>
              <a:latin typeface="Calibri"/>
              <a:ea typeface="Calibri"/>
              <a:cs typeface="Calibri"/>
              <a:sym typeface="Calibri"/>
            </a:endParaRPr>
          </a:p>
          <a:p>
            <a:pPr indent="-368300" lvl="0" marL="457200" rtl="0" algn="l">
              <a:lnSpc>
                <a:spcPct val="115000"/>
              </a:lnSpc>
              <a:spcBef>
                <a:spcPts val="0"/>
              </a:spcBef>
              <a:spcAft>
                <a:spcPts val="0"/>
              </a:spcAft>
              <a:buClr>
                <a:schemeClr val="dk1"/>
              </a:buClr>
              <a:buSzPts val="2200"/>
              <a:buChar char="•"/>
            </a:pPr>
            <a:r>
              <a:rPr b="1" lang="en-US" sz="2200">
                <a:solidFill>
                  <a:schemeClr val="dk1"/>
                </a:solidFill>
                <a:latin typeface="Calibri"/>
                <a:ea typeface="Calibri"/>
                <a:cs typeface="Calibri"/>
                <a:sym typeface="Calibri"/>
              </a:rPr>
              <a:t>Alert Manager &amp; Dashboard</a:t>
            </a:r>
            <a:br>
              <a:rPr b="1" lang="en-US" sz="2200">
                <a:solidFill>
                  <a:schemeClr val="dk1"/>
                </a:solidFill>
                <a:latin typeface="Calibri"/>
                <a:ea typeface="Calibri"/>
                <a:cs typeface="Calibri"/>
                <a:sym typeface="Calibri"/>
              </a:rPr>
            </a:br>
            <a:r>
              <a:rPr lang="en-US" sz="2200">
                <a:solidFill>
                  <a:schemeClr val="dk1"/>
                </a:solidFill>
                <a:latin typeface="Calibri"/>
                <a:ea typeface="Calibri"/>
                <a:cs typeface="Calibri"/>
                <a:sym typeface="Calibri"/>
              </a:rPr>
              <a:t> – Integrate Twilio for SMS; build Flask + Chart.js dashboard with live charts, node health, and “why this alert” panel; log all alerts for audit.</a:t>
            </a:r>
            <a:endParaRPr sz="2200">
              <a:solidFill>
                <a:schemeClr val="dk1"/>
              </a:solidFill>
              <a:latin typeface="Calibri"/>
              <a:ea typeface="Calibri"/>
              <a:cs typeface="Calibri"/>
              <a:sym typeface="Calibri"/>
            </a:endParaRPr>
          </a:p>
          <a:p>
            <a:pPr indent="-368300" lvl="0" marL="457200" rtl="0" algn="l">
              <a:lnSpc>
                <a:spcPct val="115000"/>
              </a:lnSpc>
              <a:spcBef>
                <a:spcPts val="0"/>
              </a:spcBef>
              <a:spcAft>
                <a:spcPts val="0"/>
              </a:spcAft>
              <a:buClr>
                <a:schemeClr val="dk1"/>
              </a:buClr>
              <a:buSzPts val="2200"/>
              <a:buChar char="•"/>
            </a:pPr>
            <a:r>
              <a:rPr b="1" lang="en-US" sz="2200">
                <a:solidFill>
                  <a:schemeClr val="dk1"/>
                </a:solidFill>
                <a:latin typeface="Calibri"/>
                <a:ea typeface="Calibri"/>
                <a:cs typeface="Calibri"/>
                <a:sym typeface="Calibri"/>
              </a:rPr>
              <a:t>Testing &amp; Pilot</a:t>
            </a:r>
            <a:br>
              <a:rPr b="1" lang="en-US" sz="2200">
                <a:solidFill>
                  <a:schemeClr val="dk1"/>
                </a:solidFill>
                <a:latin typeface="Calibri"/>
                <a:ea typeface="Calibri"/>
                <a:cs typeface="Calibri"/>
                <a:sym typeface="Calibri"/>
              </a:rPr>
            </a:br>
            <a:r>
              <a:rPr lang="en-US" sz="2200">
                <a:solidFill>
                  <a:schemeClr val="dk1"/>
                </a:solidFill>
                <a:latin typeface="Calibri"/>
                <a:ea typeface="Calibri"/>
                <a:cs typeface="Calibri"/>
                <a:sym typeface="Calibri"/>
              </a:rPr>
              <a:t> – Run synthetic scenario tests (rapid-rise, noise, comms loss); deploy 3-node pilot, measure accuracy, latency (sensor→SMS), and false-positive rate; iterate thresholds.</a:t>
            </a:r>
            <a:endParaRPr sz="2200">
              <a:solidFill>
                <a:schemeClr val="dk1"/>
              </a:solidFill>
              <a:latin typeface="Calibri"/>
              <a:ea typeface="Calibri"/>
              <a:cs typeface="Calibri"/>
              <a:sym typeface="Calibri"/>
            </a:endParaRPr>
          </a:p>
          <a:p>
            <a:pPr indent="-368300" lvl="0" marL="457200" rtl="0" algn="l">
              <a:lnSpc>
                <a:spcPct val="115000"/>
              </a:lnSpc>
              <a:spcBef>
                <a:spcPts val="0"/>
              </a:spcBef>
              <a:spcAft>
                <a:spcPts val="0"/>
              </a:spcAft>
              <a:buClr>
                <a:schemeClr val="dk1"/>
              </a:buClr>
              <a:buSzPts val="2200"/>
              <a:buChar char="•"/>
            </a:pPr>
            <a:r>
              <a:rPr b="1" lang="en-US" sz="2200">
                <a:solidFill>
                  <a:schemeClr val="dk1"/>
                </a:solidFill>
                <a:latin typeface="Calibri"/>
                <a:ea typeface="Calibri"/>
                <a:cs typeface="Calibri"/>
                <a:sym typeface="Calibri"/>
              </a:rPr>
              <a:t>Maintenance &amp; Security</a:t>
            </a:r>
            <a:br>
              <a:rPr b="1" lang="en-US" sz="2200">
                <a:solidFill>
                  <a:schemeClr val="dk1"/>
                </a:solidFill>
                <a:latin typeface="Calibri"/>
                <a:ea typeface="Calibri"/>
                <a:cs typeface="Calibri"/>
                <a:sym typeface="Calibri"/>
              </a:rPr>
            </a:br>
            <a:r>
              <a:rPr lang="en-US" sz="2200">
                <a:solidFill>
                  <a:schemeClr val="dk1"/>
                </a:solidFill>
                <a:latin typeface="Calibri"/>
                <a:ea typeface="Calibri"/>
                <a:cs typeface="Calibri"/>
                <a:sym typeface="Calibri"/>
              </a:rPr>
              <a:t> – Add OTA updates, TLS/MQTT authentication, sensor calibration schedule, and telemetry for uptime/packet-loss monitoring.</a:t>
            </a:r>
            <a:endParaRPr sz="22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6"/>
          <p:cNvSpPr txBox="1"/>
          <p:nvPr>
            <p:ph idx="4294967295" type="title"/>
          </p:nvPr>
        </p:nvSpPr>
        <p:spPr>
          <a:xfrm>
            <a:off x="457200" y="274638"/>
            <a:ext cx="8229600" cy="6399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n-US"/>
              <a:t>Important Code segments</a:t>
            </a:r>
            <a:endParaRPr/>
          </a:p>
        </p:txBody>
      </p:sp>
      <p:sp>
        <p:nvSpPr>
          <p:cNvPr id="236" name="Google Shape;236;p36"/>
          <p:cNvSpPr txBox="1"/>
          <p:nvPr>
            <p:ph idx="4294967295" type="body"/>
          </p:nvPr>
        </p:nvSpPr>
        <p:spPr>
          <a:xfrm>
            <a:off x="228600" y="990600"/>
            <a:ext cx="8610600" cy="5257800"/>
          </a:xfrm>
          <a:prstGeom prst="rect">
            <a:avLst/>
          </a:prstGeom>
          <a:noFill/>
          <a:ln>
            <a:noFill/>
          </a:ln>
        </p:spPr>
        <p:txBody>
          <a:bodyPr anchorCtr="0" anchor="t" bIns="45700" lIns="91425" spcFirstLastPara="1" rIns="91425" wrap="square" tIns="45700">
            <a:normAutofit fontScale="62500" lnSpcReduction="20000"/>
          </a:bodyPr>
          <a:lstStyle/>
          <a:p>
            <a:pPr indent="-266700" lvl="0" marL="342900" rtl="0" algn="just">
              <a:lnSpc>
                <a:spcPct val="100000"/>
              </a:lnSpc>
              <a:spcBef>
                <a:spcPts val="0"/>
              </a:spcBef>
              <a:spcAft>
                <a:spcPts val="0"/>
              </a:spcAft>
              <a:buSzPct val="177777"/>
              <a:buFont typeface="Times New Roman"/>
              <a:buChar char="•"/>
            </a:pPr>
            <a:r>
              <a:rPr b="1" lang="en-US">
                <a:latin typeface="Times New Roman"/>
                <a:ea typeface="Times New Roman"/>
                <a:cs typeface="Times New Roman"/>
                <a:sym typeface="Times New Roman"/>
              </a:rPr>
              <a:t>INPUT DATASET</a:t>
            </a:r>
            <a:endParaRPr sz="2400">
              <a:latin typeface="Times New Roman"/>
              <a:ea typeface="Times New Roman"/>
              <a:cs typeface="Times New Roman"/>
              <a:sym typeface="Times New Roman"/>
            </a:endParaRPr>
          </a:p>
          <a:p>
            <a:pPr indent="-342900" lvl="0" marL="342900" rtl="0" algn="just">
              <a:lnSpc>
                <a:spcPct val="100000"/>
              </a:lnSpc>
              <a:spcBef>
                <a:spcPts val="300"/>
              </a:spcBef>
              <a:spcAft>
                <a:spcPts val="0"/>
              </a:spcAft>
              <a:buSzPct val="213333"/>
              <a:buNone/>
            </a:pPr>
            <a:r>
              <a:t/>
            </a:r>
            <a:endParaRPr sz="2400">
              <a:latin typeface="Times New Roman"/>
              <a:ea typeface="Times New Roman"/>
              <a:cs typeface="Times New Roman"/>
              <a:sym typeface="Times New Roman"/>
            </a:endParaRPr>
          </a:p>
          <a:p>
            <a:pPr indent="-342900" lvl="0" marL="342900" rtl="0" algn="just">
              <a:lnSpc>
                <a:spcPct val="100000"/>
              </a:lnSpc>
              <a:spcBef>
                <a:spcPts val="300"/>
              </a:spcBef>
              <a:spcAft>
                <a:spcPts val="0"/>
              </a:spcAft>
              <a:buSzPct val="213333"/>
              <a:buNone/>
            </a:pPr>
            <a:r>
              <a:rPr lang="en-US" sz="2400">
                <a:latin typeface="Times New Roman"/>
                <a:ea typeface="Times New Roman"/>
                <a:cs typeface="Times New Roman"/>
                <a:sym typeface="Times New Roman"/>
              </a:rPr>
              <a:t>from admins.models import Prodcuts</a:t>
            </a:r>
            <a:endParaRPr sz="2400">
              <a:latin typeface="Times New Roman"/>
              <a:ea typeface="Times New Roman"/>
              <a:cs typeface="Times New Roman"/>
              <a:sym typeface="Times New Roman"/>
            </a:endParaRPr>
          </a:p>
          <a:p>
            <a:pPr indent="-342900" lvl="0" marL="342900" rtl="0" algn="just">
              <a:lnSpc>
                <a:spcPct val="100000"/>
              </a:lnSpc>
              <a:spcBef>
                <a:spcPts val="300"/>
              </a:spcBef>
              <a:spcAft>
                <a:spcPts val="0"/>
              </a:spcAft>
              <a:buSzPct val="213333"/>
              <a:buNone/>
            </a:pPr>
            <a:r>
              <a:rPr lang="en-US" sz="2400">
                <a:latin typeface="Times New Roman"/>
                <a:ea typeface="Times New Roman"/>
                <a:cs typeface="Times New Roman"/>
                <a:sym typeface="Times New Roman"/>
              </a:rPr>
              <a:t>from user.forms import UsersForm, PurchaseForm</a:t>
            </a:r>
            <a:endParaRPr sz="2400">
              <a:latin typeface="Times New Roman"/>
              <a:ea typeface="Times New Roman"/>
              <a:cs typeface="Times New Roman"/>
              <a:sym typeface="Times New Roman"/>
            </a:endParaRPr>
          </a:p>
          <a:p>
            <a:pPr indent="-342900" lvl="0" marL="342900" rtl="0" algn="just">
              <a:lnSpc>
                <a:spcPct val="100000"/>
              </a:lnSpc>
              <a:spcBef>
                <a:spcPts val="300"/>
              </a:spcBef>
              <a:spcAft>
                <a:spcPts val="0"/>
              </a:spcAft>
              <a:buSzPct val="213333"/>
              <a:buNone/>
            </a:pPr>
            <a:r>
              <a:rPr lang="en-US" sz="2400">
                <a:latin typeface="Times New Roman"/>
                <a:ea typeface="Times New Roman"/>
                <a:cs typeface="Times New Roman"/>
                <a:sym typeface="Times New Roman"/>
              </a:rPr>
              <a:t>from user.models import Users, Purchase, Feedback</a:t>
            </a:r>
            <a:endParaRPr sz="2400">
              <a:latin typeface="Times New Roman"/>
              <a:ea typeface="Times New Roman"/>
              <a:cs typeface="Times New Roman"/>
              <a:sym typeface="Times New Roman"/>
            </a:endParaRPr>
          </a:p>
          <a:p>
            <a:pPr indent="-342900" lvl="0" marL="342900" rtl="0" algn="just">
              <a:lnSpc>
                <a:spcPct val="100000"/>
              </a:lnSpc>
              <a:spcBef>
                <a:spcPts val="300"/>
              </a:spcBef>
              <a:spcAft>
                <a:spcPts val="0"/>
              </a:spcAft>
              <a:buSzPct val="213333"/>
              <a:buNone/>
            </a:pPr>
            <a:r>
              <a:rPr lang="en-US" sz="2400">
                <a:latin typeface="Times New Roman"/>
                <a:ea typeface="Times New Roman"/>
                <a:cs typeface="Times New Roman"/>
                <a:sym typeface="Times New Roman"/>
              </a:rPr>
              <a:t>from user.words import positive_words, negative_words</a:t>
            </a:r>
            <a:endParaRPr sz="2400">
              <a:latin typeface="Times New Roman"/>
              <a:ea typeface="Times New Roman"/>
              <a:cs typeface="Times New Roman"/>
              <a:sym typeface="Times New Roman"/>
            </a:endParaRPr>
          </a:p>
          <a:p>
            <a:pPr indent="-342900" lvl="0" marL="342900" rtl="0" algn="just">
              <a:lnSpc>
                <a:spcPct val="100000"/>
              </a:lnSpc>
              <a:spcBef>
                <a:spcPts val="300"/>
              </a:spcBef>
              <a:spcAft>
                <a:spcPts val="0"/>
              </a:spcAft>
              <a:buSzPct val="213333"/>
              <a:buNone/>
            </a:pPr>
            <a:r>
              <a:t/>
            </a:r>
            <a:endParaRPr sz="2400">
              <a:latin typeface="Times New Roman"/>
              <a:ea typeface="Times New Roman"/>
              <a:cs typeface="Times New Roman"/>
              <a:sym typeface="Times New Roman"/>
            </a:endParaRPr>
          </a:p>
          <a:p>
            <a:pPr indent="-342900" lvl="0" marL="342900" rtl="0" algn="just">
              <a:lnSpc>
                <a:spcPct val="100000"/>
              </a:lnSpc>
              <a:spcBef>
                <a:spcPts val="300"/>
              </a:spcBef>
              <a:spcAft>
                <a:spcPts val="0"/>
              </a:spcAft>
              <a:buSzPct val="213333"/>
              <a:buNone/>
            </a:pPr>
            <a:r>
              <a:rPr lang="en-US" sz="2400">
                <a:latin typeface="Times New Roman"/>
                <a:ea typeface="Times New Roman"/>
                <a:cs typeface="Times New Roman"/>
                <a:sym typeface="Times New Roman"/>
              </a:rPr>
              <a:t>/</a:t>
            </a:r>
            <a:r>
              <a:rPr b="1" lang="en-US" sz="2400">
                <a:latin typeface="Times New Roman"/>
                <a:ea typeface="Times New Roman"/>
                <a:cs typeface="Times New Roman"/>
                <a:sym typeface="Times New Roman"/>
              </a:rPr>
              <a:t>/Home page for user//</a:t>
            </a:r>
            <a:endParaRPr sz="2400">
              <a:latin typeface="Times New Roman"/>
              <a:ea typeface="Times New Roman"/>
              <a:cs typeface="Times New Roman"/>
              <a:sym typeface="Times New Roman"/>
            </a:endParaRPr>
          </a:p>
          <a:p>
            <a:pPr indent="-342900" lvl="0" marL="342900" rtl="0" algn="just">
              <a:lnSpc>
                <a:spcPct val="100000"/>
              </a:lnSpc>
              <a:spcBef>
                <a:spcPts val="300"/>
              </a:spcBef>
              <a:spcAft>
                <a:spcPts val="0"/>
              </a:spcAft>
              <a:buSzPct val="213333"/>
              <a:buNone/>
            </a:pPr>
            <a:r>
              <a:rPr lang="en-US" sz="2400">
                <a:latin typeface="Times New Roman"/>
                <a:ea typeface="Times New Roman"/>
                <a:cs typeface="Times New Roman"/>
                <a:sym typeface="Times New Roman"/>
              </a:rPr>
              <a:t>def home(request):</a:t>
            </a:r>
            <a:endParaRPr sz="2400">
              <a:latin typeface="Times New Roman"/>
              <a:ea typeface="Times New Roman"/>
              <a:cs typeface="Times New Roman"/>
              <a:sym typeface="Times New Roman"/>
            </a:endParaRPr>
          </a:p>
          <a:p>
            <a:pPr indent="-342900" lvl="0" marL="342900" rtl="0" algn="just">
              <a:lnSpc>
                <a:spcPct val="100000"/>
              </a:lnSpc>
              <a:spcBef>
                <a:spcPts val="300"/>
              </a:spcBef>
              <a:spcAft>
                <a:spcPts val="0"/>
              </a:spcAft>
              <a:buSzPct val="213333"/>
              <a:buNone/>
            </a:pPr>
            <a:r>
              <a:rPr lang="en-US" sz="2400">
                <a:latin typeface="Times New Roman"/>
                <a:ea typeface="Times New Roman"/>
                <a:cs typeface="Times New Roman"/>
                <a:sym typeface="Times New Roman"/>
              </a:rPr>
              <a:t>    products=Prodcuts.objects.all()</a:t>
            </a:r>
            <a:endParaRPr sz="2400">
              <a:latin typeface="Times New Roman"/>
              <a:ea typeface="Times New Roman"/>
              <a:cs typeface="Times New Roman"/>
              <a:sym typeface="Times New Roman"/>
            </a:endParaRPr>
          </a:p>
          <a:p>
            <a:pPr indent="-342900" lvl="0" marL="342900" rtl="0" algn="just">
              <a:lnSpc>
                <a:spcPct val="100000"/>
              </a:lnSpc>
              <a:spcBef>
                <a:spcPts val="300"/>
              </a:spcBef>
              <a:spcAft>
                <a:spcPts val="0"/>
              </a:spcAft>
              <a:buSzPct val="213333"/>
              <a:buNone/>
            </a:pPr>
            <a:r>
              <a:rPr lang="en-US" sz="2400">
                <a:latin typeface="Times New Roman"/>
                <a:ea typeface="Times New Roman"/>
                <a:cs typeface="Times New Roman"/>
                <a:sym typeface="Times New Roman"/>
              </a:rPr>
              <a:t>    return render(request,'user/home.html',{'products':products})</a:t>
            </a:r>
            <a:endParaRPr sz="2400">
              <a:latin typeface="Times New Roman"/>
              <a:ea typeface="Times New Roman"/>
              <a:cs typeface="Times New Roman"/>
              <a:sym typeface="Times New Roman"/>
            </a:endParaRPr>
          </a:p>
          <a:p>
            <a:pPr indent="-342900" lvl="0" marL="342900" rtl="0" algn="just">
              <a:lnSpc>
                <a:spcPct val="100000"/>
              </a:lnSpc>
              <a:spcBef>
                <a:spcPts val="300"/>
              </a:spcBef>
              <a:spcAft>
                <a:spcPts val="0"/>
              </a:spcAft>
              <a:buSzPct val="213333"/>
              <a:buNone/>
            </a:pPr>
            <a:r>
              <a:t/>
            </a:r>
            <a:endParaRPr sz="2400">
              <a:latin typeface="Times New Roman"/>
              <a:ea typeface="Times New Roman"/>
              <a:cs typeface="Times New Roman"/>
              <a:sym typeface="Times New Roman"/>
            </a:endParaRPr>
          </a:p>
          <a:p>
            <a:pPr indent="-342900" lvl="0" marL="342900" rtl="0" algn="just">
              <a:lnSpc>
                <a:spcPct val="100000"/>
              </a:lnSpc>
              <a:spcBef>
                <a:spcPts val="300"/>
              </a:spcBef>
              <a:spcAft>
                <a:spcPts val="0"/>
              </a:spcAft>
              <a:buSzPct val="213333"/>
              <a:buNone/>
            </a:pPr>
            <a:r>
              <a:rPr b="1" lang="en-US" sz="2400">
                <a:latin typeface="Times New Roman"/>
                <a:ea typeface="Times New Roman"/>
                <a:cs typeface="Times New Roman"/>
                <a:sym typeface="Times New Roman"/>
              </a:rPr>
              <a:t>//View Products page for user//</a:t>
            </a:r>
            <a:endParaRPr sz="2400">
              <a:latin typeface="Times New Roman"/>
              <a:ea typeface="Times New Roman"/>
              <a:cs typeface="Times New Roman"/>
              <a:sym typeface="Times New Roman"/>
            </a:endParaRPr>
          </a:p>
          <a:p>
            <a:pPr indent="-342900" lvl="0" marL="342900" rtl="0" algn="just">
              <a:lnSpc>
                <a:spcPct val="100000"/>
              </a:lnSpc>
              <a:spcBef>
                <a:spcPts val="300"/>
              </a:spcBef>
              <a:spcAft>
                <a:spcPts val="0"/>
              </a:spcAft>
              <a:buSzPct val="213333"/>
              <a:buNone/>
            </a:pPr>
            <a:r>
              <a:rPr lang="en-US" sz="2400">
                <a:latin typeface="Times New Roman"/>
                <a:ea typeface="Times New Roman"/>
                <a:cs typeface="Times New Roman"/>
                <a:sym typeface="Times New Roman"/>
              </a:rPr>
              <a:t>def viewproduct(request,pk):</a:t>
            </a:r>
            <a:endParaRPr sz="2400">
              <a:latin typeface="Times New Roman"/>
              <a:ea typeface="Times New Roman"/>
              <a:cs typeface="Times New Roman"/>
              <a:sym typeface="Times New Roman"/>
            </a:endParaRPr>
          </a:p>
          <a:p>
            <a:pPr indent="-342900" lvl="0" marL="342900" rtl="0" algn="just">
              <a:lnSpc>
                <a:spcPct val="100000"/>
              </a:lnSpc>
              <a:spcBef>
                <a:spcPts val="300"/>
              </a:spcBef>
              <a:spcAft>
                <a:spcPts val="0"/>
              </a:spcAft>
              <a:buSzPct val="213333"/>
              <a:buNone/>
            </a:pPr>
            <a:r>
              <a:rPr lang="en-US" sz="2400">
                <a:latin typeface="Times New Roman"/>
                <a:ea typeface="Times New Roman"/>
                <a:cs typeface="Times New Roman"/>
                <a:sym typeface="Times New Roman"/>
              </a:rPr>
              <a:t>    pros=Prodcuts.objects.get(id=pk)</a:t>
            </a:r>
            <a:endParaRPr sz="2400">
              <a:latin typeface="Times New Roman"/>
              <a:ea typeface="Times New Roman"/>
              <a:cs typeface="Times New Roman"/>
              <a:sym typeface="Times New Roman"/>
            </a:endParaRPr>
          </a:p>
          <a:p>
            <a:pPr indent="-342900" lvl="0" marL="342900" rtl="0" algn="just">
              <a:lnSpc>
                <a:spcPct val="100000"/>
              </a:lnSpc>
              <a:spcBef>
                <a:spcPts val="300"/>
              </a:spcBef>
              <a:spcAft>
                <a:spcPts val="0"/>
              </a:spcAft>
              <a:buSzPct val="213333"/>
              <a:buNone/>
            </a:pPr>
            <a:r>
              <a:rPr lang="en-US" sz="2400">
                <a:latin typeface="Times New Roman"/>
                <a:ea typeface="Times New Roman"/>
                <a:cs typeface="Times New Roman"/>
                <a:sym typeface="Times New Roman"/>
              </a:rPr>
              <a:t>    uid=request.session['userid']</a:t>
            </a:r>
            <a:endParaRPr sz="2400">
              <a:latin typeface="Times New Roman"/>
              <a:ea typeface="Times New Roman"/>
              <a:cs typeface="Times New Roman"/>
              <a:sym typeface="Times New Roman"/>
            </a:endParaRPr>
          </a:p>
          <a:p>
            <a:pPr indent="-342900" lvl="0" marL="342900" rtl="0" algn="just">
              <a:lnSpc>
                <a:spcPct val="100000"/>
              </a:lnSpc>
              <a:spcBef>
                <a:spcPts val="300"/>
              </a:spcBef>
              <a:spcAft>
                <a:spcPts val="0"/>
              </a:spcAft>
              <a:buSzPct val="213333"/>
              <a:buNone/>
            </a:pPr>
            <a:r>
              <a:rPr lang="en-US" sz="2400">
                <a:latin typeface="Times New Roman"/>
                <a:ea typeface="Times New Roman"/>
                <a:cs typeface="Times New Roman"/>
                <a:sym typeface="Times New Roman"/>
              </a:rPr>
              <a:t>    uses = get_object_or_404(Users, id=uid)</a:t>
            </a:r>
            <a:endParaRPr sz="2400">
              <a:latin typeface="Times New Roman"/>
              <a:ea typeface="Times New Roman"/>
              <a:cs typeface="Times New Roman"/>
              <a:sym typeface="Times New Roman"/>
            </a:endParaRPr>
          </a:p>
          <a:p>
            <a:pPr indent="-342900" lvl="0" marL="342900" rtl="0" algn="just">
              <a:lnSpc>
                <a:spcPct val="100000"/>
              </a:lnSpc>
              <a:spcBef>
                <a:spcPts val="300"/>
              </a:spcBef>
              <a:spcAft>
                <a:spcPts val="0"/>
              </a:spcAft>
              <a:buSzPct val="213333"/>
              <a:buNone/>
            </a:pPr>
            <a:r>
              <a:rPr lang="en-US" sz="2400">
                <a:latin typeface="Times New Roman"/>
                <a:ea typeface="Times New Roman"/>
                <a:cs typeface="Times New Roman"/>
                <a:sym typeface="Times New Roman"/>
              </a:rPr>
              <a:t>    if request.method=="POST":</a:t>
            </a:r>
            <a:endParaRPr sz="2400">
              <a:latin typeface="Times New Roman"/>
              <a:ea typeface="Times New Roman"/>
              <a:cs typeface="Times New Roman"/>
              <a:sym typeface="Times New Roman"/>
            </a:endParaRPr>
          </a:p>
          <a:p>
            <a:pPr indent="-342900" lvl="0" marL="342900" rtl="0" algn="just">
              <a:lnSpc>
                <a:spcPct val="100000"/>
              </a:lnSpc>
              <a:spcBef>
                <a:spcPts val="300"/>
              </a:spcBef>
              <a:spcAft>
                <a:spcPts val="0"/>
              </a:spcAft>
              <a:buSzPct val="213333"/>
              <a:buNone/>
            </a:pPr>
            <a:r>
              <a:rPr lang="en-US" sz="2400">
                <a:latin typeface="Times New Roman"/>
                <a:ea typeface="Times New Roman"/>
                <a:cs typeface="Times New Roman"/>
                <a:sym typeface="Times New Roman"/>
              </a:rPr>
              <a:t>        form=PurchaseForm(request.POST)</a:t>
            </a:r>
            <a:endParaRPr sz="2400">
              <a:latin typeface="Times New Roman"/>
              <a:ea typeface="Times New Roman"/>
              <a:cs typeface="Times New Roman"/>
              <a:sym typeface="Times New Roman"/>
            </a:endParaRPr>
          </a:p>
          <a:p>
            <a:pPr indent="-342900" lvl="0" marL="342900" rtl="0" algn="just">
              <a:lnSpc>
                <a:spcPct val="100000"/>
              </a:lnSpc>
              <a:spcBef>
                <a:spcPts val="300"/>
              </a:spcBef>
              <a:spcAft>
                <a:spcPts val="0"/>
              </a:spcAft>
              <a:buSzPct val="213333"/>
              <a:buNone/>
            </a:pPr>
            <a:r>
              <a:rPr lang="en-US" sz="2400">
                <a:latin typeface="Times New Roman"/>
                <a:ea typeface="Times New Roman"/>
                <a:cs typeface="Times New Roman"/>
                <a:sym typeface="Times New Roman"/>
              </a:rPr>
              <a:t>        if form.is_valid():</a:t>
            </a:r>
            <a:endParaRPr sz="2400">
              <a:latin typeface="Times New Roman"/>
              <a:ea typeface="Times New Roman"/>
              <a:cs typeface="Times New Roman"/>
              <a:sym typeface="Times New Roman"/>
            </a:endParaRPr>
          </a:p>
          <a:p>
            <a:pPr indent="-342900" lvl="0" marL="342900" rtl="0" algn="just">
              <a:lnSpc>
                <a:spcPct val="100000"/>
              </a:lnSpc>
              <a:spcBef>
                <a:spcPts val="300"/>
              </a:spcBef>
              <a:spcAft>
                <a:spcPts val="0"/>
              </a:spcAft>
              <a:buSzPct val="213333"/>
              <a:buNone/>
            </a:pPr>
            <a:r>
              <a:rPr lang="en-US" sz="2400">
                <a:latin typeface="Times New Roman"/>
                <a:ea typeface="Times New Roman"/>
                <a:cs typeface="Times New Roman"/>
                <a:sym typeface="Times New Roman"/>
              </a:rPr>
              <a:t>            ff=form.save(commit=False)</a:t>
            </a:r>
            <a:endParaRPr sz="2400">
              <a:latin typeface="Times New Roman"/>
              <a:ea typeface="Times New Roman"/>
              <a:cs typeface="Times New Roman"/>
              <a:sym typeface="Times New Roman"/>
            </a:endParaRPr>
          </a:p>
          <a:p>
            <a:pPr indent="-342900" lvl="0" marL="342900" rtl="0" algn="just">
              <a:lnSpc>
                <a:spcPct val="100000"/>
              </a:lnSpc>
              <a:spcBef>
                <a:spcPts val="300"/>
              </a:spcBef>
              <a:spcAft>
                <a:spcPts val="0"/>
              </a:spcAft>
              <a:buSzPct val="213333"/>
              <a:buNone/>
            </a:pPr>
            <a:r>
              <a:rPr lang="en-US" sz="2400">
                <a:latin typeface="Times New Roman"/>
                <a:ea typeface="Times New Roman"/>
                <a:cs typeface="Times New Roman"/>
                <a:sym typeface="Times New Roman"/>
              </a:rPr>
              <a:t>            ff.customer=uses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7"/>
          <p:cNvSpPr txBox="1"/>
          <p:nvPr>
            <p:ph idx="4294967295" type="title"/>
          </p:nvPr>
        </p:nvSpPr>
        <p:spPr>
          <a:xfrm>
            <a:off x="457200" y="274638"/>
            <a:ext cx="8229600" cy="6399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n-US"/>
              <a:t>Important Code segments</a:t>
            </a:r>
            <a:endParaRPr/>
          </a:p>
        </p:txBody>
      </p:sp>
      <p:sp>
        <p:nvSpPr>
          <p:cNvPr id="242" name="Google Shape;242;p37"/>
          <p:cNvSpPr txBox="1"/>
          <p:nvPr>
            <p:ph idx="4294967295" type="body"/>
          </p:nvPr>
        </p:nvSpPr>
        <p:spPr>
          <a:xfrm>
            <a:off x="228600" y="990600"/>
            <a:ext cx="8610600" cy="5257800"/>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just">
              <a:lnSpc>
                <a:spcPct val="100000"/>
              </a:lnSpc>
              <a:spcBef>
                <a:spcPts val="300"/>
              </a:spcBef>
              <a:spcAft>
                <a:spcPts val="0"/>
              </a:spcAft>
              <a:buSzPct val="156862"/>
              <a:buNone/>
            </a:pPr>
            <a:r>
              <a:t/>
            </a:r>
            <a:endParaRPr sz="2400">
              <a:latin typeface="Times New Roman"/>
              <a:ea typeface="Times New Roman"/>
              <a:cs typeface="Times New Roman"/>
              <a:sym typeface="Times New Roman"/>
            </a:endParaRPr>
          </a:p>
          <a:p>
            <a:pPr indent="-342900" lvl="0" marL="342900" rtl="0" algn="just">
              <a:lnSpc>
                <a:spcPct val="100000"/>
              </a:lnSpc>
              <a:spcBef>
                <a:spcPts val="0"/>
              </a:spcBef>
              <a:spcAft>
                <a:spcPts val="0"/>
              </a:spcAft>
              <a:buClr>
                <a:schemeClr val="dk1"/>
              </a:buClr>
              <a:buSzPct val="100000"/>
              <a:buFont typeface="Arial"/>
              <a:buNone/>
            </a:pPr>
            <a:r>
              <a:rPr lang="en-US" sz="1600">
                <a:latin typeface="Times New Roman"/>
                <a:ea typeface="Times New Roman"/>
                <a:cs typeface="Times New Roman"/>
                <a:sym typeface="Times New Roman"/>
              </a:rPr>
              <a:t>ff.purhased=pros</a:t>
            </a:r>
            <a:endParaRPr sz="2400">
              <a:latin typeface="Times New Roman"/>
              <a:ea typeface="Times New Roman"/>
              <a:cs typeface="Times New Roman"/>
              <a:sym typeface="Times New Roman"/>
            </a:endParaRPr>
          </a:p>
          <a:p>
            <a:pPr indent="-342900" lvl="0" marL="342900" rtl="0" algn="just">
              <a:lnSpc>
                <a:spcPct val="100000"/>
              </a:lnSpc>
              <a:spcBef>
                <a:spcPts val="320"/>
              </a:spcBef>
              <a:spcAft>
                <a:spcPts val="0"/>
              </a:spcAft>
              <a:buClr>
                <a:schemeClr val="dk1"/>
              </a:buClr>
              <a:buSzPct val="100000"/>
              <a:buFont typeface="Arial"/>
              <a:buNone/>
            </a:pPr>
            <a:r>
              <a:rPr lang="en-US" sz="1600">
                <a:latin typeface="Times New Roman"/>
                <a:ea typeface="Times New Roman"/>
                <a:cs typeface="Times New Roman"/>
                <a:sym typeface="Times New Roman"/>
              </a:rPr>
              <a:t>            ff.totalprice=0</a:t>
            </a:r>
            <a:endParaRPr sz="2400">
              <a:latin typeface="Times New Roman"/>
              <a:ea typeface="Times New Roman"/>
              <a:cs typeface="Times New Roman"/>
              <a:sym typeface="Times New Roman"/>
            </a:endParaRPr>
          </a:p>
          <a:p>
            <a:pPr indent="-342900" lvl="0" marL="342900" rtl="0" algn="just">
              <a:lnSpc>
                <a:spcPct val="100000"/>
              </a:lnSpc>
              <a:spcBef>
                <a:spcPts val="320"/>
              </a:spcBef>
              <a:spcAft>
                <a:spcPts val="0"/>
              </a:spcAft>
              <a:buClr>
                <a:schemeClr val="dk1"/>
              </a:buClr>
              <a:buSzPct val="100000"/>
              <a:buFont typeface="Arial"/>
              <a:buNone/>
            </a:pPr>
            <a:r>
              <a:rPr lang="en-US" sz="1600">
                <a:latin typeface="Times New Roman"/>
                <a:ea typeface="Times New Roman"/>
                <a:cs typeface="Times New Roman"/>
                <a:sym typeface="Times New Roman"/>
              </a:rPr>
              <a:t>            ff.save()</a:t>
            </a:r>
            <a:endParaRPr sz="2400">
              <a:latin typeface="Times New Roman"/>
              <a:ea typeface="Times New Roman"/>
              <a:cs typeface="Times New Roman"/>
              <a:sym typeface="Times New Roman"/>
            </a:endParaRPr>
          </a:p>
          <a:p>
            <a:pPr indent="-342900" lvl="0" marL="342900" rtl="0" algn="just">
              <a:lnSpc>
                <a:spcPct val="100000"/>
              </a:lnSpc>
              <a:spcBef>
                <a:spcPts val="320"/>
              </a:spcBef>
              <a:spcAft>
                <a:spcPts val="0"/>
              </a:spcAft>
              <a:buClr>
                <a:schemeClr val="dk1"/>
              </a:buClr>
              <a:buSzPct val="100000"/>
              <a:buFont typeface="Arial"/>
              <a:buNone/>
            </a:pPr>
            <a:r>
              <a:rPr lang="en-US" sz="1600">
                <a:latin typeface="Times New Roman"/>
                <a:ea typeface="Times New Roman"/>
                <a:cs typeface="Times New Roman"/>
                <a:sym typeface="Times New Roman"/>
              </a:rPr>
              <a:t>            return redirect('user:cart')</a:t>
            </a:r>
            <a:endParaRPr sz="2400">
              <a:latin typeface="Times New Roman"/>
              <a:ea typeface="Times New Roman"/>
              <a:cs typeface="Times New Roman"/>
              <a:sym typeface="Times New Roman"/>
            </a:endParaRPr>
          </a:p>
          <a:p>
            <a:pPr indent="-342900" lvl="0" marL="342900" rtl="0" algn="just">
              <a:lnSpc>
                <a:spcPct val="100000"/>
              </a:lnSpc>
              <a:spcBef>
                <a:spcPts val="320"/>
              </a:spcBef>
              <a:spcAft>
                <a:spcPts val="0"/>
              </a:spcAft>
              <a:buClr>
                <a:schemeClr val="dk1"/>
              </a:buClr>
              <a:buSzPct val="100000"/>
              <a:buFont typeface="Arial"/>
              <a:buNone/>
            </a:pPr>
            <a:r>
              <a:rPr lang="en-US" sz="1600">
                <a:latin typeface="Times New Roman"/>
                <a:ea typeface="Times New Roman"/>
                <a:cs typeface="Times New Roman"/>
                <a:sym typeface="Times New Roman"/>
              </a:rPr>
              <a:t>    else:</a:t>
            </a:r>
            <a:endParaRPr sz="2400">
              <a:latin typeface="Times New Roman"/>
              <a:ea typeface="Times New Roman"/>
              <a:cs typeface="Times New Roman"/>
              <a:sym typeface="Times New Roman"/>
            </a:endParaRPr>
          </a:p>
          <a:p>
            <a:pPr indent="-342900" lvl="0" marL="342900" rtl="0" algn="just">
              <a:lnSpc>
                <a:spcPct val="100000"/>
              </a:lnSpc>
              <a:spcBef>
                <a:spcPts val="320"/>
              </a:spcBef>
              <a:spcAft>
                <a:spcPts val="0"/>
              </a:spcAft>
              <a:buClr>
                <a:schemeClr val="dk1"/>
              </a:buClr>
              <a:buSzPct val="100000"/>
              <a:buFont typeface="Arial"/>
              <a:buNone/>
            </a:pPr>
            <a:r>
              <a:rPr lang="en-US" sz="1600">
                <a:latin typeface="Times New Roman"/>
                <a:ea typeface="Times New Roman"/>
                <a:cs typeface="Times New Roman"/>
                <a:sym typeface="Times New Roman"/>
              </a:rPr>
              <a:t>        form=PurchaseForm()</a:t>
            </a:r>
            <a:endParaRPr sz="2400">
              <a:latin typeface="Times New Roman"/>
              <a:ea typeface="Times New Roman"/>
              <a:cs typeface="Times New Roman"/>
              <a:sym typeface="Times New Roman"/>
            </a:endParaRPr>
          </a:p>
          <a:p>
            <a:pPr indent="-342900" lvl="0" marL="342900" rtl="0" algn="just">
              <a:lnSpc>
                <a:spcPct val="100000"/>
              </a:lnSpc>
              <a:spcBef>
                <a:spcPts val="320"/>
              </a:spcBef>
              <a:spcAft>
                <a:spcPts val="0"/>
              </a:spcAft>
              <a:buClr>
                <a:schemeClr val="dk1"/>
              </a:buClr>
              <a:buSzPct val="100000"/>
              <a:buFont typeface="Arial"/>
              <a:buNone/>
            </a:pPr>
            <a:r>
              <a:rPr lang="en-US" sz="1600">
                <a:latin typeface="Times New Roman"/>
                <a:ea typeface="Times New Roman"/>
                <a:cs typeface="Times New Roman"/>
                <a:sym typeface="Times New Roman"/>
              </a:rPr>
              <a:t>    return render(request,'user/viewproduct.html',{'prod':pro,'ipk':pk,'form':form})</a:t>
            </a:r>
            <a:endParaRPr sz="2400">
              <a:latin typeface="Times New Roman"/>
              <a:ea typeface="Times New Roman"/>
              <a:cs typeface="Times New Roman"/>
              <a:sym typeface="Times New Roman"/>
            </a:endParaRPr>
          </a:p>
          <a:p>
            <a:pPr indent="-342900" lvl="0" marL="342900" rtl="0" algn="just">
              <a:lnSpc>
                <a:spcPct val="100000"/>
              </a:lnSpc>
              <a:spcBef>
                <a:spcPts val="320"/>
              </a:spcBef>
              <a:spcAft>
                <a:spcPts val="0"/>
              </a:spcAft>
              <a:buClr>
                <a:schemeClr val="dk1"/>
              </a:buClr>
              <a:buSzPct val="100000"/>
              <a:buFont typeface="Arial"/>
              <a:buNone/>
            </a:pPr>
            <a:r>
              <a:t/>
            </a:r>
            <a:endParaRPr sz="1600">
              <a:latin typeface="Times New Roman"/>
              <a:ea typeface="Times New Roman"/>
              <a:cs typeface="Times New Roman"/>
              <a:sym typeface="Times New Roman"/>
            </a:endParaRPr>
          </a:p>
          <a:p>
            <a:pPr indent="-342900" lvl="0" marL="342900" rtl="0" algn="just">
              <a:lnSpc>
                <a:spcPct val="100000"/>
              </a:lnSpc>
              <a:spcBef>
                <a:spcPts val="320"/>
              </a:spcBef>
              <a:spcAft>
                <a:spcPts val="0"/>
              </a:spcAft>
              <a:buClr>
                <a:schemeClr val="dk1"/>
              </a:buClr>
              <a:buSzPct val="100000"/>
              <a:buFont typeface="Arial"/>
              <a:buNone/>
            </a:pPr>
            <a:r>
              <a:rPr b="1" lang="en-US" sz="1600">
                <a:latin typeface="Times New Roman"/>
                <a:ea typeface="Times New Roman"/>
                <a:cs typeface="Times New Roman"/>
                <a:sym typeface="Times New Roman"/>
              </a:rPr>
              <a:t>//Cart page for user//</a:t>
            </a:r>
            <a:endParaRPr sz="2400">
              <a:latin typeface="Times New Roman"/>
              <a:ea typeface="Times New Roman"/>
              <a:cs typeface="Times New Roman"/>
              <a:sym typeface="Times New Roman"/>
            </a:endParaRPr>
          </a:p>
          <a:p>
            <a:pPr indent="-342900" lvl="0" marL="342900" rtl="0" algn="just">
              <a:lnSpc>
                <a:spcPct val="100000"/>
              </a:lnSpc>
              <a:spcBef>
                <a:spcPts val="320"/>
              </a:spcBef>
              <a:spcAft>
                <a:spcPts val="0"/>
              </a:spcAft>
              <a:buClr>
                <a:schemeClr val="dk1"/>
              </a:buClr>
              <a:buSzPct val="100000"/>
              <a:buFont typeface="Arial"/>
              <a:buNone/>
            </a:pPr>
            <a:r>
              <a:rPr lang="en-US" sz="1600">
                <a:latin typeface="Times New Roman"/>
                <a:ea typeface="Times New Roman"/>
                <a:cs typeface="Times New Roman"/>
                <a:sym typeface="Times New Roman"/>
              </a:rPr>
              <a:t>def cart(request):</a:t>
            </a:r>
            <a:endParaRPr sz="2400">
              <a:latin typeface="Times New Roman"/>
              <a:ea typeface="Times New Roman"/>
              <a:cs typeface="Times New Roman"/>
              <a:sym typeface="Times New Roman"/>
            </a:endParaRPr>
          </a:p>
          <a:p>
            <a:pPr indent="-342900" lvl="0" marL="342900" rtl="0" algn="just">
              <a:lnSpc>
                <a:spcPct val="100000"/>
              </a:lnSpc>
              <a:spcBef>
                <a:spcPts val="320"/>
              </a:spcBef>
              <a:spcAft>
                <a:spcPts val="0"/>
              </a:spcAft>
              <a:buClr>
                <a:schemeClr val="dk1"/>
              </a:buClr>
              <a:buSzPct val="100000"/>
              <a:buFont typeface="Arial"/>
              <a:buNone/>
            </a:pPr>
            <a:r>
              <a:rPr lang="en-US" sz="1600">
                <a:latin typeface="Times New Roman"/>
                <a:ea typeface="Times New Roman"/>
                <a:cs typeface="Times New Roman"/>
                <a:sym typeface="Times New Roman"/>
              </a:rPr>
              <a:t>    uid = request.session['userid']</a:t>
            </a:r>
            <a:endParaRPr sz="2400">
              <a:latin typeface="Times New Roman"/>
              <a:ea typeface="Times New Roman"/>
              <a:cs typeface="Times New Roman"/>
              <a:sym typeface="Times New Roman"/>
            </a:endParaRPr>
          </a:p>
          <a:p>
            <a:pPr indent="-342900" lvl="0" marL="342900" rtl="0" algn="just">
              <a:lnSpc>
                <a:spcPct val="100000"/>
              </a:lnSpc>
              <a:spcBef>
                <a:spcPts val="320"/>
              </a:spcBef>
              <a:spcAft>
                <a:spcPts val="0"/>
              </a:spcAft>
              <a:buClr>
                <a:schemeClr val="dk1"/>
              </a:buClr>
              <a:buSzPct val="100000"/>
              <a:buFont typeface="Arial"/>
              <a:buNone/>
            </a:pPr>
            <a:r>
              <a:rPr lang="en-US" sz="1600">
                <a:latin typeface="Times New Roman"/>
                <a:ea typeface="Times New Roman"/>
                <a:cs typeface="Times New Roman"/>
                <a:sym typeface="Times New Roman"/>
              </a:rPr>
              <a:t>    uses = get_object_or_404(Users, id=uid)</a:t>
            </a:r>
            <a:endParaRPr sz="2400">
              <a:latin typeface="Times New Roman"/>
              <a:ea typeface="Times New Roman"/>
              <a:cs typeface="Times New Roman"/>
              <a:sym typeface="Times New Roman"/>
            </a:endParaRPr>
          </a:p>
          <a:p>
            <a:pPr indent="-342900" lvl="0" marL="342900" rtl="0" algn="just">
              <a:lnSpc>
                <a:spcPct val="100000"/>
              </a:lnSpc>
              <a:spcBef>
                <a:spcPts val="320"/>
              </a:spcBef>
              <a:spcAft>
                <a:spcPts val="0"/>
              </a:spcAft>
              <a:buClr>
                <a:schemeClr val="dk1"/>
              </a:buClr>
              <a:buSzPct val="100000"/>
              <a:buFont typeface="Arial"/>
              <a:buNone/>
            </a:pPr>
            <a:r>
              <a:rPr lang="en-US" sz="1600">
                <a:latin typeface="Times New Roman"/>
                <a:ea typeface="Times New Roman"/>
                <a:cs typeface="Times New Roman"/>
                <a:sym typeface="Times New Roman"/>
              </a:rPr>
              <a:t>    p=Purchase.objects.filter(customer=uses,status='incart')</a:t>
            </a:r>
            <a:endParaRPr sz="2400">
              <a:latin typeface="Times New Roman"/>
              <a:ea typeface="Times New Roman"/>
              <a:cs typeface="Times New Roman"/>
              <a:sym typeface="Times New Roman"/>
            </a:endParaRPr>
          </a:p>
          <a:p>
            <a:pPr indent="-342900" lvl="0" marL="342900" rtl="0" algn="just">
              <a:lnSpc>
                <a:spcPct val="100000"/>
              </a:lnSpc>
              <a:spcBef>
                <a:spcPts val="320"/>
              </a:spcBef>
              <a:spcAft>
                <a:spcPts val="0"/>
              </a:spcAft>
              <a:buClr>
                <a:schemeClr val="dk1"/>
              </a:buClr>
              <a:buSzPct val="100000"/>
              <a:buFont typeface="Arial"/>
              <a:buNone/>
            </a:pPr>
            <a:r>
              <a:rPr lang="en-US" sz="1600">
                <a:latin typeface="Times New Roman"/>
                <a:ea typeface="Times New Roman"/>
                <a:cs typeface="Times New Roman"/>
                <a:sym typeface="Times New Roman"/>
              </a:rPr>
              <a:t>    if request.method == "POST":</a:t>
            </a:r>
            <a:endParaRPr sz="2400">
              <a:latin typeface="Times New Roman"/>
              <a:ea typeface="Times New Roman"/>
              <a:cs typeface="Times New Roman"/>
              <a:sym typeface="Times New Roman"/>
            </a:endParaRPr>
          </a:p>
          <a:p>
            <a:pPr indent="-342900" lvl="0" marL="342900" rtl="0" algn="just">
              <a:lnSpc>
                <a:spcPct val="100000"/>
              </a:lnSpc>
              <a:spcBef>
                <a:spcPts val="320"/>
              </a:spcBef>
              <a:spcAft>
                <a:spcPts val="0"/>
              </a:spcAft>
              <a:buClr>
                <a:schemeClr val="dk1"/>
              </a:buClr>
              <a:buSzPct val="100000"/>
              <a:buFont typeface="Arial"/>
              <a:buNone/>
            </a:pPr>
            <a:r>
              <a:rPr lang="en-US" sz="1600">
                <a:latin typeface="Times New Roman"/>
                <a:ea typeface="Times New Roman"/>
                <a:cs typeface="Times New Roman"/>
                <a:sym typeface="Times New Roman"/>
              </a:rPr>
              <a:t>        Purchase.objects.filter(customer=uses, status='incart').update(status='checkout')</a:t>
            </a:r>
            <a:endParaRPr sz="2400">
              <a:latin typeface="Times New Roman"/>
              <a:ea typeface="Times New Roman"/>
              <a:cs typeface="Times New Roman"/>
              <a:sym typeface="Times New Roman"/>
            </a:endParaRPr>
          </a:p>
          <a:p>
            <a:pPr indent="-342900" lvl="0" marL="342900" rtl="0" algn="just">
              <a:lnSpc>
                <a:spcPct val="100000"/>
              </a:lnSpc>
              <a:spcBef>
                <a:spcPts val="320"/>
              </a:spcBef>
              <a:spcAft>
                <a:spcPts val="0"/>
              </a:spcAft>
              <a:buClr>
                <a:schemeClr val="dk1"/>
              </a:buClr>
              <a:buSzPct val="100000"/>
              <a:buFont typeface="Arial"/>
              <a:buNone/>
            </a:pPr>
            <a:r>
              <a:rPr lang="en-US" sz="1600">
                <a:latin typeface="Times New Roman"/>
                <a:ea typeface="Times New Roman"/>
                <a:cs typeface="Times New Roman"/>
                <a:sym typeface="Times New Roman"/>
              </a:rPr>
              <a:t>        return redirect('user:home')</a:t>
            </a:r>
            <a:endParaRPr sz="2400">
              <a:latin typeface="Times New Roman"/>
              <a:ea typeface="Times New Roman"/>
              <a:cs typeface="Times New Roman"/>
              <a:sym typeface="Times New Roman"/>
            </a:endParaRPr>
          </a:p>
          <a:p>
            <a:pPr indent="-342900" lvl="0" marL="342900" rtl="0" algn="just">
              <a:lnSpc>
                <a:spcPct val="100000"/>
              </a:lnSpc>
              <a:spcBef>
                <a:spcPts val="320"/>
              </a:spcBef>
              <a:spcAft>
                <a:spcPts val="0"/>
              </a:spcAft>
              <a:buClr>
                <a:schemeClr val="dk1"/>
              </a:buClr>
              <a:buSzPct val="100000"/>
              <a:buFont typeface="Arial"/>
              <a:buNone/>
            </a:pPr>
            <a:r>
              <a:rPr lang="en-US" sz="1600">
                <a:latin typeface="Times New Roman"/>
                <a:ea typeface="Times New Roman"/>
                <a:cs typeface="Times New Roman"/>
                <a:sym typeface="Times New Roman"/>
              </a:rPr>
              <a:t>        return render(request,'user/cart.html',{'p':p})</a:t>
            </a:r>
            <a:endParaRPr sz="2400">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8"/>
          <p:cNvSpPr txBox="1"/>
          <p:nvPr>
            <p:ph idx="4294967295" type="title"/>
          </p:nvPr>
        </p:nvSpPr>
        <p:spPr>
          <a:xfrm>
            <a:off x="457200" y="274638"/>
            <a:ext cx="8229600" cy="6399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n-US"/>
              <a:t>Important Code segments</a:t>
            </a:r>
            <a:endParaRPr/>
          </a:p>
        </p:txBody>
      </p:sp>
      <p:sp>
        <p:nvSpPr>
          <p:cNvPr id="248" name="Google Shape;248;p38"/>
          <p:cNvSpPr txBox="1"/>
          <p:nvPr>
            <p:ph idx="4294967295" type="body"/>
          </p:nvPr>
        </p:nvSpPr>
        <p:spPr>
          <a:xfrm>
            <a:off x="228600" y="990600"/>
            <a:ext cx="8610600" cy="5257800"/>
          </a:xfrm>
          <a:prstGeom prst="rect">
            <a:avLst/>
          </a:prstGeom>
          <a:noFill/>
          <a:ln>
            <a:noFill/>
          </a:ln>
        </p:spPr>
        <p:txBody>
          <a:bodyPr anchorCtr="0" anchor="t" bIns="45700" lIns="91425" spcFirstLastPara="1" rIns="91425" wrap="square" tIns="45700">
            <a:normAutofit fontScale="62500" lnSpcReduction="20000"/>
          </a:bodyPr>
          <a:lstStyle/>
          <a:p>
            <a:pPr indent="-342900" lvl="0" marL="342900" rtl="0" algn="just">
              <a:lnSpc>
                <a:spcPct val="100000"/>
              </a:lnSpc>
              <a:spcBef>
                <a:spcPts val="300"/>
              </a:spcBef>
              <a:spcAft>
                <a:spcPts val="0"/>
              </a:spcAft>
              <a:buSzPct val="213333"/>
              <a:buNone/>
            </a:pPr>
            <a:r>
              <a:t/>
            </a:r>
            <a:endParaRPr sz="2400">
              <a:latin typeface="Times New Roman"/>
              <a:ea typeface="Times New Roman"/>
              <a:cs typeface="Times New Roman"/>
              <a:sym typeface="Times New Roman"/>
            </a:endParaRPr>
          </a:p>
          <a:p>
            <a:pPr indent="-342900" lvl="0" marL="342900" rtl="0" algn="just">
              <a:lnSpc>
                <a:spcPct val="100000"/>
              </a:lnSpc>
              <a:spcBef>
                <a:spcPts val="0"/>
              </a:spcBef>
              <a:spcAft>
                <a:spcPts val="0"/>
              </a:spcAft>
              <a:buClr>
                <a:schemeClr val="dk1"/>
              </a:buClr>
              <a:buSzPct val="100000"/>
              <a:buFont typeface="Arial"/>
              <a:buNone/>
            </a:pPr>
            <a:r>
              <a:rPr b="1" lang="en-US" sz="2800">
                <a:latin typeface="Times New Roman"/>
                <a:ea typeface="Times New Roman"/>
                <a:cs typeface="Times New Roman"/>
                <a:sym typeface="Times New Roman"/>
              </a:rPr>
              <a:t>//View ratings page for user//</a:t>
            </a:r>
            <a:endParaRPr sz="2400">
              <a:latin typeface="Times New Roman"/>
              <a:ea typeface="Times New Roman"/>
              <a:cs typeface="Times New Roman"/>
              <a:sym typeface="Times New Roman"/>
            </a:endParaRPr>
          </a:p>
          <a:p>
            <a:pPr indent="-342900" lvl="0" marL="342900" rtl="0" algn="just">
              <a:lnSpc>
                <a:spcPct val="100000"/>
              </a:lnSpc>
              <a:spcBef>
                <a:spcPts val="308"/>
              </a:spcBef>
              <a:spcAft>
                <a:spcPts val="0"/>
              </a:spcAft>
              <a:buClr>
                <a:schemeClr val="dk1"/>
              </a:buClr>
              <a:buSzPct val="100000"/>
              <a:buFont typeface="Arial"/>
              <a:buNone/>
            </a:pPr>
            <a:r>
              <a:rPr lang="en-US" sz="2800">
                <a:latin typeface="Times New Roman"/>
                <a:ea typeface="Times New Roman"/>
                <a:cs typeface="Times New Roman"/>
                <a:sym typeface="Times New Roman"/>
              </a:rPr>
              <a:t>def viewratings(request,pk):</a:t>
            </a:r>
            <a:endParaRPr sz="2400">
              <a:latin typeface="Times New Roman"/>
              <a:ea typeface="Times New Roman"/>
              <a:cs typeface="Times New Roman"/>
              <a:sym typeface="Times New Roman"/>
            </a:endParaRPr>
          </a:p>
          <a:p>
            <a:pPr indent="-342900" lvl="0" marL="342900" rtl="0" algn="just">
              <a:lnSpc>
                <a:spcPct val="100000"/>
              </a:lnSpc>
              <a:spcBef>
                <a:spcPts val="308"/>
              </a:spcBef>
              <a:spcAft>
                <a:spcPts val="0"/>
              </a:spcAft>
              <a:buClr>
                <a:schemeClr val="dk1"/>
              </a:buClr>
              <a:buSzPct val="100000"/>
              <a:buFont typeface="Arial"/>
              <a:buNone/>
            </a:pPr>
            <a:r>
              <a:rPr lang="en-US" sz="2800">
                <a:latin typeface="Times New Roman"/>
                <a:ea typeface="Times New Roman"/>
                <a:cs typeface="Times New Roman"/>
                <a:sym typeface="Times New Roman"/>
              </a:rPr>
              <a:t>    pro = get_object_or_404(Prodcuts, pk=pk)</a:t>
            </a:r>
            <a:endParaRPr sz="2400">
              <a:latin typeface="Times New Roman"/>
              <a:ea typeface="Times New Roman"/>
              <a:cs typeface="Times New Roman"/>
              <a:sym typeface="Times New Roman"/>
            </a:endParaRPr>
          </a:p>
          <a:p>
            <a:pPr indent="-342900" lvl="0" marL="342900" rtl="0" algn="just">
              <a:lnSpc>
                <a:spcPct val="100000"/>
              </a:lnSpc>
              <a:spcBef>
                <a:spcPts val="308"/>
              </a:spcBef>
              <a:spcAft>
                <a:spcPts val="0"/>
              </a:spcAft>
              <a:buClr>
                <a:schemeClr val="dk1"/>
              </a:buClr>
              <a:buSzPct val="100000"/>
              <a:buFont typeface="Arial"/>
              <a:buNone/>
            </a:pPr>
            <a:r>
              <a:rPr lang="en-US" sz="2800">
                <a:latin typeface="Times New Roman"/>
                <a:ea typeface="Times New Roman"/>
                <a:cs typeface="Times New Roman"/>
                <a:sym typeface="Times New Roman"/>
              </a:rPr>
              <a:t>    fedbck=Feedback.objects.filter(product=pro)</a:t>
            </a:r>
            <a:endParaRPr sz="2400">
              <a:latin typeface="Times New Roman"/>
              <a:ea typeface="Times New Roman"/>
              <a:cs typeface="Times New Roman"/>
              <a:sym typeface="Times New Roman"/>
            </a:endParaRPr>
          </a:p>
          <a:p>
            <a:pPr indent="-342900" lvl="0" marL="342900" rtl="0" algn="just">
              <a:lnSpc>
                <a:spcPct val="100000"/>
              </a:lnSpc>
              <a:spcBef>
                <a:spcPts val="308"/>
              </a:spcBef>
              <a:spcAft>
                <a:spcPts val="0"/>
              </a:spcAft>
              <a:buClr>
                <a:schemeClr val="dk1"/>
              </a:buClr>
              <a:buSzPct val="100000"/>
              <a:buFont typeface="Arial"/>
              <a:buNone/>
            </a:pPr>
            <a:r>
              <a:rPr lang="en-US" sz="2800">
                <a:latin typeface="Times New Roman"/>
                <a:ea typeface="Times New Roman"/>
                <a:cs typeface="Times New Roman"/>
                <a:sym typeface="Times New Roman"/>
              </a:rPr>
              <a:t>    return render(request,'user/viewratings.html',{'feedbacks':fedbck})</a:t>
            </a:r>
            <a:endParaRPr sz="2400">
              <a:latin typeface="Times New Roman"/>
              <a:ea typeface="Times New Roman"/>
              <a:cs typeface="Times New Roman"/>
              <a:sym typeface="Times New Roman"/>
            </a:endParaRPr>
          </a:p>
          <a:p>
            <a:pPr indent="-342900" lvl="0" marL="342900" rtl="0" algn="just">
              <a:lnSpc>
                <a:spcPct val="100000"/>
              </a:lnSpc>
              <a:spcBef>
                <a:spcPts val="308"/>
              </a:spcBef>
              <a:spcAft>
                <a:spcPts val="0"/>
              </a:spcAft>
              <a:buClr>
                <a:schemeClr val="dk1"/>
              </a:buClr>
              <a:buSzPct val="100000"/>
              <a:buFont typeface="Arial"/>
              <a:buNone/>
            </a:pPr>
            <a:r>
              <a:t/>
            </a:r>
            <a:endParaRPr sz="2800">
              <a:latin typeface="Times New Roman"/>
              <a:ea typeface="Times New Roman"/>
              <a:cs typeface="Times New Roman"/>
              <a:sym typeface="Times New Roman"/>
            </a:endParaRPr>
          </a:p>
          <a:p>
            <a:pPr indent="-342900" lvl="0" marL="342900" rtl="0" algn="just">
              <a:lnSpc>
                <a:spcPct val="100000"/>
              </a:lnSpc>
              <a:spcBef>
                <a:spcPts val="308"/>
              </a:spcBef>
              <a:spcAft>
                <a:spcPts val="0"/>
              </a:spcAft>
              <a:buClr>
                <a:schemeClr val="dk1"/>
              </a:buClr>
              <a:buSzPct val="100000"/>
              <a:buFont typeface="Arial"/>
              <a:buNone/>
            </a:pPr>
            <a:r>
              <a:rPr b="1" lang="en-US" sz="2800">
                <a:latin typeface="Times New Roman"/>
                <a:ea typeface="Times New Roman"/>
                <a:cs typeface="Times New Roman"/>
                <a:sym typeface="Times New Roman"/>
              </a:rPr>
              <a:t>//Add ratings page for user//</a:t>
            </a:r>
            <a:endParaRPr sz="2400">
              <a:latin typeface="Times New Roman"/>
              <a:ea typeface="Times New Roman"/>
              <a:cs typeface="Times New Roman"/>
              <a:sym typeface="Times New Roman"/>
            </a:endParaRPr>
          </a:p>
          <a:p>
            <a:pPr indent="-342900" lvl="0" marL="342900" rtl="0" algn="just">
              <a:lnSpc>
                <a:spcPct val="100000"/>
              </a:lnSpc>
              <a:spcBef>
                <a:spcPts val="308"/>
              </a:spcBef>
              <a:spcAft>
                <a:spcPts val="0"/>
              </a:spcAft>
              <a:buClr>
                <a:schemeClr val="dk1"/>
              </a:buClr>
              <a:buSzPct val="100000"/>
              <a:buFont typeface="Arial"/>
              <a:buNone/>
            </a:pPr>
            <a:r>
              <a:rPr lang="en-US" sz="2800">
                <a:latin typeface="Times New Roman"/>
                <a:ea typeface="Times New Roman"/>
                <a:cs typeface="Times New Roman"/>
                <a:sym typeface="Times New Roman"/>
              </a:rPr>
              <a:t>def addratings(request,pk):</a:t>
            </a:r>
            <a:endParaRPr sz="2400">
              <a:latin typeface="Times New Roman"/>
              <a:ea typeface="Times New Roman"/>
              <a:cs typeface="Times New Roman"/>
              <a:sym typeface="Times New Roman"/>
            </a:endParaRPr>
          </a:p>
          <a:p>
            <a:pPr indent="-342900" lvl="0" marL="342900" rtl="0" algn="just">
              <a:lnSpc>
                <a:spcPct val="100000"/>
              </a:lnSpc>
              <a:spcBef>
                <a:spcPts val="308"/>
              </a:spcBef>
              <a:spcAft>
                <a:spcPts val="0"/>
              </a:spcAft>
              <a:buClr>
                <a:schemeClr val="dk1"/>
              </a:buClr>
              <a:buSzPct val="100000"/>
              <a:buFont typeface="Arial"/>
              <a:buNone/>
            </a:pPr>
            <a:r>
              <a:rPr lang="en-US" sz="2800">
                <a:latin typeface="Times New Roman"/>
                <a:ea typeface="Times New Roman"/>
                <a:cs typeface="Times New Roman"/>
                <a:sym typeface="Times New Roman"/>
              </a:rPr>
              <a:t>    pos,neg=0,0</a:t>
            </a:r>
            <a:endParaRPr sz="2400">
              <a:latin typeface="Times New Roman"/>
              <a:ea typeface="Times New Roman"/>
              <a:cs typeface="Times New Roman"/>
              <a:sym typeface="Times New Roman"/>
            </a:endParaRPr>
          </a:p>
          <a:p>
            <a:pPr indent="-342900" lvl="0" marL="342900" rtl="0" algn="just">
              <a:lnSpc>
                <a:spcPct val="100000"/>
              </a:lnSpc>
              <a:spcBef>
                <a:spcPts val="308"/>
              </a:spcBef>
              <a:spcAft>
                <a:spcPts val="0"/>
              </a:spcAft>
              <a:buClr>
                <a:schemeClr val="dk1"/>
              </a:buClr>
              <a:buSzPct val="100000"/>
              <a:buFont typeface="Arial"/>
              <a:buNone/>
            </a:pPr>
            <a:r>
              <a:rPr lang="en-US" sz="2800">
                <a:latin typeface="Times New Roman"/>
                <a:ea typeface="Times New Roman"/>
                <a:cs typeface="Times New Roman"/>
                <a:sym typeface="Times New Roman"/>
              </a:rPr>
              <a:t>    sen='pending'</a:t>
            </a:r>
            <a:endParaRPr sz="2400">
              <a:latin typeface="Times New Roman"/>
              <a:ea typeface="Times New Roman"/>
              <a:cs typeface="Times New Roman"/>
              <a:sym typeface="Times New Roman"/>
            </a:endParaRPr>
          </a:p>
          <a:p>
            <a:pPr indent="-342900" lvl="0" marL="342900" rtl="0" algn="just">
              <a:lnSpc>
                <a:spcPct val="100000"/>
              </a:lnSpc>
              <a:spcBef>
                <a:spcPts val="308"/>
              </a:spcBef>
              <a:spcAft>
                <a:spcPts val="0"/>
              </a:spcAft>
              <a:buClr>
                <a:schemeClr val="dk1"/>
              </a:buClr>
              <a:buSzPct val="100000"/>
              <a:buFont typeface="Arial"/>
              <a:buNone/>
            </a:pPr>
            <a:r>
              <a:rPr lang="en-US" sz="2800">
                <a:latin typeface="Times New Roman"/>
                <a:ea typeface="Times New Roman"/>
                <a:cs typeface="Times New Roman"/>
                <a:sym typeface="Times New Roman"/>
              </a:rPr>
              <a:t>    pro = get_object_or_404(Prodcuts, pk=pk)</a:t>
            </a:r>
            <a:endParaRPr sz="2400">
              <a:latin typeface="Times New Roman"/>
              <a:ea typeface="Times New Roman"/>
              <a:cs typeface="Times New Roman"/>
              <a:sym typeface="Times New Roman"/>
            </a:endParaRPr>
          </a:p>
          <a:p>
            <a:pPr indent="-342900" lvl="0" marL="342900" rtl="0" algn="just">
              <a:lnSpc>
                <a:spcPct val="100000"/>
              </a:lnSpc>
              <a:spcBef>
                <a:spcPts val="308"/>
              </a:spcBef>
              <a:spcAft>
                <a:spcPts val="0"/>
              </a:spcAft>
              <a:buClr>
                <a:schemeClr val="dk1"/>
              </a:buClr>
              <a:buSzPct val="100000"/>
              <a:buFont typeface="Arial"/>
              <a:buNone/>
            </a:pPr>
            <a:r>
              <a:rPr lang="en-US" sz="2800">
                <a:latin typeface="Times New Roman"/>
                <a:ea typeface="Times New Roman"/>
                <a:cs typeface="Times New Roman"/>
                <a:sym typeface="Times New Roman"/>
              </a:rPr>
              <a:t>    uid = request.session['userid']</a:t>
            </a:r>
            <a:endParaRPr sz="2400">
              <a:latin typeface="Times New Roman"/>
              <a:ea typeface="Times New Roman"/>
              <a:cs typeface="Times New Roman"/>
              <a:sym typeface="Times New Roman"/>
            </a:endParaRPr>
          </a:p>
          <a:p>
            <a:pPr indent="-342900" lvl="0" marL="342900" rtl="0" algn="just">
              <a:lnSpc>
                <a:spcPct val="100000"/>
              </a:lnSpc>
              <a:spcBef>
                <a:spcPts val="308"/>
              </a:spcBef>
              <a:spcAft>
                <a:spcPts val="0"/>
              </a:spcAft>
              <a:buClr>
                <a:schemeClr val="dk1"/>
              </a:buClr>
              <a:buSzPct val="100000"/>
              <a:buFont typeface="Arial"/>
              <a:buNone/>
            </a:pPr>
            <a:r>
              <a:rPr lang="en-US" sz="2800">
                <a:latin typeface="Times New Roman"/>
                <a:ea typeface="Times New Roman"/>
                <a:cs typeface="Times New Roman"/>
                <a:sym typeface="Times New Roman"/>
              </a:rPr>
              <a:t>    uses = get_object_or_404(Users, id=uid)</a:t>
            </a:r>
            <a:endParaRPr sz="2400">
              <a:latin typeface="Times New Roman"/>
              <a:ea typeface="Times New Roman"/>
              <a:cs typeface="Times New Roman"/>
              <a:sym typeface="Times New Roman"/>
            </a:endParaRPr>
          </a:p>
          <a:p>
            <a:pPr indent="-342900" lvl="0" marL="342900" rtl="0" algn="just">
              <a:lnSpc>
                <a:spcPct val="100000"/>
              </a:lnSpc>
              <a:spcBef>
                <a:spcPts val="308"/>
              </a:spcBef>
              <a:spcAft>
                <a:spcPts val="0"/>
              </a:spcAft>
              <a:buClr>
                <a:schemeClr val="dk1"/>
              </a:buClr>
              <a:buSzPct val="100000"/>
              <a:buFont typeface="Arial"/>
              <a:buNone/>
            </a:pPr>
            <a:r>
              <a:rPr lang="en-US" sz="2800">
                <a:latin typeface="Times New Roman"/>
                <a:ea typeface="Times New Roman"/>
                <a:cs typeface="Times New Roman"/>
                <a:sym typeface="Times New Roman"/>
              </a:rPr>
              <a:t>    stat = 'pending'</a:t>
            </a:r>
            <a:endParaRPr sz="2400">
              <a:latin typeface="Times New Roman"/>
              <a:ea typeface="Times New Roman"/>
              <a:cs typeface="Times New Roman"/>
              <a:sym typeface="Times New Roman"/>
            </a:endParaRPr>
          </a:p>
          <a:p>
            <a:pPr indent="-342900" lvl="0" marL="342900" rtl="0" algn="just">
              <a:lnSpc>
                <a:spcPct val="100000"/>
              </a:lnSpc>
              <a:spcBef>
                <a:spcPts val="308"/>
              </a:spcBef>
              <a:spcAft>
                <a:spcPts val="0"/>
              </a:spcAft>
              <a:buClr>
                <a:schemeClr val="dk1"/>
              </a:buClr>
              <a:buSzPct val="100000"/>
              <a:buFont typeface="Arial"/>
              <a:buNone/>
            </a:pPr>
            <a:r>
              <a:rPr lang="en-US" sz="2800">
                <a:latin typeface="Times New Roman"/>
                <a:ea typeface="Times New Roman"/>
                <a:cs typeface="Times New Roman"/>
                <a:sym typeface="Times New Roman"/>
              </a:rPr>
              <a:t>    try:</a:t>
            </a:r>
            <a:endParaRPr sz="2400">
              <a:latin typeface="Times New Roman"/>
              <a:ea typeface="Times New Roman"/>
              <a:cs typeface="Times New Roman"/>
              <a:sym typeface="Times New Roman"/>
            </a:endParaRPr>
          </a:p>
          <a:p>
            <a:pPr indent="-342900" lvl="0" marL="342900" rtl="0" algn="just">
              <a:lnSpc>
                <a:spcPct val="100000"/>
              </a:lnSpc>
              <a:spcBef>
                <a:spcPts val="308"/>
              </a:spcBef>
              <a:spcAft>
                <a:spcPts val="0"/>
              </a:spcAft>
              <a:buClr>
                <a:schemeClr val="dk1"/>
              </a:buClr>
              <a:buSzPct val="100000"/>
              <a:buFont typeface="Arial"/>
              <a:buNone/>
            </a:pPr>
            <a:r>
              <a:rPr lang="en-US" sz="2800">
                <a:latin typeface="Times New Roman"/>
                <a:ea typeface="Times New Roman"/>
                <a:cs typeface="Times New Roman"/>
                <a:sym typeface="Times New Roman"/>
              </a:rPr>
              <a:t>        uud = Purchase.objects.get(customer=uses,purhased=pro,status='purchased')</a:t>
            </a:r>
            <a:endParaRPr sz="2400">
              <a:latin typeface="Times New Roman"/>
              <a:ea typeface="Times New Roman"/>
              <a:cs typeface="Times New Roman"/>
              <a:sym typeface="Times New Roman"/>
            </a:endParaRPr>
          </a:p>
          <a:p>
            <a:pPr indent="-342900" lvl="0" marL="342900" rtl="0" algn="just">
              <a:lnSpc>
                <a:spcPct val="100000"/>
              </a:lnSpc>
              <a:spcBef>
                <a:spcPts val="308"/>
              </a:spcBef>
              <a:spcAft>
                <a:spcPts val="0"/>
              </a:spcAft>
              <a:buClr>
                <a:schemeClr val="dk1"/>
              </a:buClr>
              <a:buSzPct val="100000"/>
              <a:buFont typeface="Arial"/>
              <a:buNone/>
            </a:pPr>
            <a:r>
              <a:rPr lang="en-US" sz="2800">
                <a:latin typeface="Times New Roman"/>
                <a:ea typeface="Times New Roman"/>
                <a:cs typeface="Times New Roman"/>
                <a:sym typeface="Times New Roman"/>
              </a:rPr>
              <a:t>        stat = 'purchased'</a:t>
            </a:r>
            <a:endParaRPr sz="2400">
              <a:latin typeface="Times New Roman"/>
              <a:ea typeface="Times New Roman"/>
              <a:cs typeface="Times New Roman"/>
              <a:sym typeface="Times New Roman"/>
            </a:endParaRPr>
          </a:p>
          <a:p>
            <a:pPr indent="-342900" lvl="0" marL="342900" rtl="0" algn="just">
              <a:lnSpc>
                <a:spcPct val="100000"/>
              </a:lnSpc>
              <a:spcBef>
                <a:spcPts val="308"/>
              </a:spcBef>
              <a:spcAft>
                <a:spcPts val="0"/>
              </a:spcAft>
              <a:buClr>
                <a:schemeClr val="dk1"/>
              </a:buClr>
              <a:buSzPct val="100000"/>
              <a:buFont typeface="Arial"/>
              <a:buNone/>
            </a:pPr>
            <a:r>
              <a:rPr lang="en-US" sz="2800">
                <a:latin typeface="Times New Roman"/>
                <a:ea typeface="Times New Roman"/>
                <a:cs typeface="Times New Roman"/>
                <a:sym typeface="Times New Roman"/>
              </a:rPr>
              <a:t>    except:</a:t>
            </a:r>
            <a:endParaRPr sz="2400">
              <a:latin typeface="Times New Roman"/>
              <a:ea typeface="Times New Roman"/>
              <a:cs typeface="Times New Roman"/>
              <a:sym typeface="Times New Roman"/>
            </a:endParaRPr>
          </a:p>
          <a:p>
            <a:pPr indent="-342900" lvl="0" marL="342900" rtl="0" algn="just">
              <a:lnSpc>
                <a:spcPct val="100000"/>
              </a:lnSpc>
              <a:spcBef>
                <a:spcPts val="308"/>
              </a:spcBef>
              <a:spcAft>
                <a:spcPts val="0"/>
              </a:spcAft>
              <a:buClr>
                <a:schemeClr val="dk1"/>
              </a:buClr>
              <a:buSzPct val="100000"/>
              <a:buFont typeface="Arial"/>
              <a:buNone/>
            </a:pPr>
            <a:r>
              <a:rPr lang="en-US" sz="2800">
                <a:latin typeface="Times New Roman"/>
                <a:ea typeface="Times New Roman"/>
                <a:cs typeface="Times New Roman"/>
                <a:sym typeface="Times New Roman"/>
              </a:rPr>
              <a:t>        stat='not purchased'</a:t>
            </a:r>
            <a:endParaRPr sz="2400">
              <a:latin typeface="Times New Roman"/>
              <a:ea typeface="Times New Roman"/>
              <a:cs typeface="Times New Roman"/>
              <a:sym typeface="Times New Roman"/>
            </a:endParaRPr>
          </a:p>
          <a:p>
            <a:pPr indent="-342900" lvl="0" marL="342900" rtl="0" algn="just">
              <a:lnSpc>
                <a:spcPct val="100000"/>
              </a:lnSpc>
              <a:spcBef>
                <a:spcPts val="320"/>
              </a:spcBef>
              <a:spcAft>
                <a:spcPts val="0"/>
              </a:spcAft>
              <a:buSzPct val="320000"/>
              <a:buNone/>
            </a:pPr>
            <a:r>
              <a:t/>
            </a:r>
            <a:endParaRPr sz="1600">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9"/>
          <p:cNvSpPr txBox="1"/>
          <p:nvPr>
            <p:ph idx="4294967295" type="title"/>
          </p:nvPr>
        </p:nvSpPr>
        <p:spPr>
          <a:xfrm>
            <a:off x="457200" y="274638"/>
            <a:ext cx="8229600" cy="639762"/>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n-US"/>
              <a:t>Output</a:t>
            </a:r>
            <a:endParaRPr/>
          </a:p>
        </p:txBody>
      </p:sp>
      <p:sp>
        <p:nvSpPr>
          <p:cNvPr id="254" name="Google Shape;254;p39"/>
          <p:cNvSpPr txBox="1"/>
          <p:nvPr>
            <p:ph idx="4294967295" type="body"/>
          </p:nvPr>
        </p:nvSpPr>
        <p:spPr>
          <a:xfrm>
            <a:off x="228600" y="990600"/>
            <a:ext cx="8610600" cy="5257800"/>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SzPts val="3200"/>
              <a:buChar char="•"/>
            </a:pPr>
            <a:r>
              <a:rPr b="1" lang="en-US" sz="2200">
                <a:latin typeface="Times New Roman"/>
                <a:ea typeface="Times New Roman"/>
                <a:cs typeface="Times New Roman"/>
                <a:sym typeface="Times New Roman"/>
              </a:rPr>
              <a:t>OUTPUT</a:t>
            </a:r>
            <a:r>
              <a:rPr lang="en-US" sz="2200">
                <a:latin typeface="Times New Roman"/>
                <a:ea typeface="Times New Roman"/>
                <a:cs typeface="Times New Roman"/>
                <a:sym typeface="Times New Roman"/>
              </a:rPr>
              <a:t>:</a:t>
            </a:r>
            <a:endParaRPr sz="2400">
              <a:latin typeface="Times New Roman"/>
              <a:ea typeface="Times New Roman"/>
              <a:cs typeface="Times New Roman"/>
              <a:sym typeface="Times New Roman"/>
            </a:endParaRPr>
          </a:p>
          <a:p>
            <a:pPr indent="-342900" lvl="0" marL="342900" rtl="0" algn="just">
              <a:lnSpc>
                <a:spcPct val="100000"/>
              </a:lnSpc>
              <a:spcBef>
                <a:spcPts val="407"/>
              </a:spcBef>
              <a:spcAft>
                <a:spcPts val="0"/>
              </a:spcAft>
              <a:buSzPts val="3200"/>
              <a:buChar char="•"/>
            </a:pPr>
            <a:r>
              <a:rPr lang="en-US" sz="2200">
                <a:latin typeface="Times New Roman"/>
                <a:ea typeface="Times New Roman"/>
                <a:cs typeface="Times New Roman"/>
                <a:sym typeface="Times New Roman"/>
              </a:rPr>
              <a:t>After browsing for our website, the following page will be shown first. The user needs to enter Log in details, in case if the person has not registered yet then he/she needs to register for the website.  </a:t>
            </a:r>
            <a:endParaRPr sz="2200">
              <a:latin typeface="Times New Roman"/>
              <a:ea typeface="Times New Roman"/>
              <a:cs typeface="Times New Roman"/>
              <a:sym typeface="Times New Roman"/>
            </a:endParaRPr>
          </a:p>
          <a:p>
            <a:pPr indent="-279400" lvl="0" marL="342900" rtl="0" algn="just">
              <a:lnSpc>
                <a:spcPct val="100000"/>
              </a:lnSpc>
              <a:spcBef>
                <a:spcPts val="407"/>
              </a:spcBef>
              <a:spcAft>
                <a:spcPts val="0"/>
              </a:spcAft>
              <a:buSzPts val="2200"/>
              <a:buFont typeface="Times New Roman"/>
              <a:buChar char="•"/>
            </a:pPr>
            <a:r>
              <a:t/>
            </a:r>
            <a:endParaRPr sz="2200">
              <a:latin typeface="Times New Roman"/>
              <a:ea typeface="Times New Roman"/>
              <a:cs typeface="Times New Roman"/>
              <a:sym typeface="Times New Roman"/>
            </a:endParaRPr>
          </a:p>
        </p:txBody>
      </p:sp>
      <p:pic>
        <p:nvPicPr>
          <p:cNvPr id="255" name="Google Shape;255;p39"/>
          <p:cNvPicPr preferRelativeResize="0"/>
          <p:nvPr/>
        </p:nvPicPr>
        <p:blipFill rotWithShape="1">
          <a:blip r:embed="rId3">
            <a:alphaModFix/>
          </a:blip>
          <a:srcRect b="0" l="0" r="0" t="0"/>
          <a:stretch/>
        </p:blipFill>
        <p:spPr>
          <a:xfrm>
            <a:off x="914400" y="2819400"/>
            <a:ext cx="6477000" cy="31242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40"/>
          <p:cNvSpPr txBox="1"/>
          <p:nvPr>
            <p:ph idx="4294967295" type="title"/>
          </p:nvPr>
        </p:nvSpPr>
        <p:spPr>
          <a:xfrm>
            <a:off x="457200" y="274638"/>
            <a:ext cx="8229600" cy="6399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n-US"/>
              <a:t>Output</a:t>
            </a:r>
            <a:endParaRPr/>
          </a:p>
        </p:txBody>
      </p:sp>
      <p:sp>
        <p:nvSpPr>
          <p:cNvPr id="261" name="Google Shape;261;p40"/>
          <p:cNvSpPr txBox="1"/>
          <p:nvPr>
            <p:ph idx="4294967295" type="body"/>
          </p:nvPr>
        </p:nvSpPr>
        <p:spPr>
          <a:xfrm>
            <a:off x="228600" y="990600"/>
            <a:ext cx="8610600" cy="5257800"/>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SzPts val="3200"/>
              <a:buChar char="•"/>
            </a:pPr>
            <a:r>
              <a:rPr b="1" lang="en-US" sz="2200">
                <a:latin typeface="Times New Roman"/>
                <a:ea typeface="Times New Roman"/>
                <a:cs typeface="Times New Roman"/>
                <a:sym typeface="Times New Roman"/>
              </a:rPr>
              <a:t>OUTPUT</a:t>
            </a:r>
            <a:r>
              <a:rPr lang="en-US" sz="2200">
                <a:latin typeface="Times New Roman"/>
                <a:ea typeface="Times New Roman"/>
                <a:cs typeface="Times New Roman"/>
                <a:sym typeface="Times New Roman"/>
              </a:rPr>
              <a:t>:</a:t>
            </a:r>
            <a:endParaRPr sz="2400">
              <a:latin typeface="Times New Roman"/>
              <a:ea typeface="Times New Roman"/>
              <a:cs typeface="Times New Roman"/>
              <a:sym typeface="Times New Roman"/>
            </a:endParaRPr>
          </a:p>
          <a:p>
            <a:pPr indent="-342900" lvl="0" marL="342900" rtl="0" algn="just">
              <a:lnSpc>
                <a:spcPct val="100000"/>
              </a:lnSpc>
              <a:spcBef>
                <a:spcPts val="0"/>
              </a:spcBef>
              <a:spcAft>
                <a:spcPts val="0"/>
              </a:spcAft>
              <a:buSzPts val="3200"/>
              <a:buChar char="•"/>
            </a:pPr>
            <a:r>
              <a:rPr lang="en-US" sz="2200">
                <a:latin typeface="Times New Roman"/>
                <a:ea typeface="Times New Roman"/>
                <a:cs typeface="Times New Roman"/>
                <a:sym typeface="Times New Roman"/>
              </a:rPr>
              <a:t>After logging in to the website, the following page will be shown to the user.</a:t>
            </a:r>
            <a:endParaRPr sz="2400">
              <a:latin typeface="Times New Roman"/>
              <a:ea typeface="Times New Roman"/>
              <a:cs typeface="Times New Roman"/>
              <a:sym typeface="Times New Roman"/>
            </a:endParaRPr>
          </a:p>
          <a:p>
            <a:pPr indent="-266700" lvl="0" marL="342900" rtl="0" algn="just">
              <a:lnSpc>
                <a:spcPct val="100000"/>
              </a:lnSpc>
              <a:spcBef>
                <a:spcPts val="407"/>
              </a:spcBef>
              <a:spcAft>
                <a:spcPts val="0"/>
              </a:spcAft>
              <a:buSzPts val="2000"/>
              <a:buFont typeface="Times New Roman"/>
              <a:buChar char="•"/>
            </a:pPr>
            <a:r>
              <a:t/>
            </a:r>
            <a:endParaRPr sz="2000">
              <a:latin typeface="Times New Roman"/>
              <a:ea typeface="Times New Roman"/>
              <a:cs typeface="Times New Roman"/>
              <a:sym typeface="Times New Roman"/>
            </a:endParaRPr>
          </a:p>
          <a:p>
            <a:pPr indent="-279400" lvl="0" marL="342900" rtl="0" algn="just">
              <a:lnSpc>
                <a:spcPct val="100000"/>
              </a:lnSpc>
              <a:spcBef>
                <a:spcPts val="407"/>
              </a:spcBef>
              <a:spcAft>
                <a:spcPts val="0"/>
              </a:spcAft>
              <a:buSzPts val="2200"/>
              <a:buFont typeface="Times New Roman"/>
              <a:buChar char="•"/>
            </a:pPr>
            <a:r>
              <a:t/>
            </a:r>
            <a:endParaRPr sz="2200">
              <a:latin typeface="Times New Roman"/>
              <a:ea typeface="Times New Roman"/>
              <a:cs typeface="Times New Roman"/>
              <a:sym typeface="Times New Roman"/>
            </a:endParaRPr>
          </a:p>
        </p:txBody>
      </p:sp>
      <p:sp>
        <p:nvSpPr>
          <p:cNvPr id="262" name="Google Shape;262;p40"/>
          <p:cNvSpPr/>
          <p:nvPr/>
        </p:nvSpPr>
        <p:spPr>
          <a:xfrm>
            <a:off x="3070350" y="6164675"/>
            <a:ext cx="2393700" cy="339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Home Page</a:t>
            </a:r>
            <a:endParaRPr b="0" i="0" sz="1400" u="none" cap="none" strike="noStrike">
              <a:solidFill>
                <a:srgbClr val="000000"/>
              </a:solidFill>
              <a:latin typeface="Calibri"/>
              <a:ea typeface="Calibri"/>
              <a:cs typeface="Calibri"/>
              <a:sym typeface="Calibri"/>
            </a:endParaRPr>
          </a:p>
        </p:txBody>
      </p:sp>
      <p:pic>
        <p:nvPicPr>
          <p:cNvPr id="263" name="Google Shape;263;p40"/>
          <p:cNvPicPr preferRelativeResize="0"/>
          <p:nvPr/>
        </p:nvPicPr>
        <p:blipFill rotWithShape="1">
          <a:blip r:embed="rId3">
            <a:alphaModFix/>
          </a:blip>
          <a:srcRect b="0" l="0" r="0" t="0"/>
          <a:stretch/>
        </p:blipFill>
        <p:spPr>
          <a:xfrm>
            <a:off x="1008025" y="2507075"/>
            <a:ext cx="6934199" cy="36576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1"/>
          <p:cNvSpPr txBox="1"/>
          <p:nvPr>
            <p:ph idx="4294967295" type="title"/>
          </p:nvPr>
        </p:nvSpPr>
        <p:spPr>
          <a:xfrm>
            <a:off x="457200" y="274638"/>
            <a:ext cx="8229600" cy="6399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n-US"/>
              <a:t>Output</a:t>
            </a:r>
            <a:endParaRPr/>
          </a:p>
        </p:txBody>
      </p:sp>
      <p:sp>
        <p:nvSpPr>
          <p:cNvPr id="269" name="Google Shape;269;p41"/>
          <p:cNvSpPr txBox="1"/>
          <p:nvPr>
            <p:ph idx="4294967295" type="body"/>
          </p:nvPr>
        </p:nvSpPr>
        <p:spPr>
          <a:xfrm>
            <a:off x="228600" y="990600"/>
            <a:ext cx="8610600" cy="5257800"/>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SzPts val="3200"/>
              <a:buChar char="•"/>
            </a:pPr>
            <a:r>
              <a:rPr b="1" lang="en-US" sz="2200">
                <a:latin typeface="Times New Roman"/>
                <a:ea typeface="Times New Roman"/>
                <a:cs typeface="Times New Roman"/>
                <a:sym typeface="Times New Roman"/>
              </a:rPr>
              <a:t>OUTPUT</a:t>
            </a:r>
            <a:r>
              <a:rPr lang="en-US" sz="2200">
                <a:latin typeface="Times New Roman"/>
                <a:ea typeface="Times New Roman"/>
                <a:cs typeface="Times New Roman"/>
                <a:sym typeface="Times New Roman"/>
              </a:rPr>
              <a:t>:</a:t>
            </a:r>
            <a:endParaRPr sz="2400">
              <a:latin typeface="Times New Roman"/>
              <a:ea typeface="Times New Roman"/>
              <a:cs typeface="Times New Roman"/>
              <a:sym typeface="Times New Roman"/>
            </a:endParaRPr>
          </a:p>
          <a:p>
            <a:pPr indent="-342900" lvl="0" marL="342900" rtl="0" algn="just">
              <a:lnSpc>
                <a:spcPct val="100000"/>
              </a:lnSpc>
              <a:spcBef>
                <a:spcPts val="0"/>
              </a:spcBef>
              <a:spcAft>
                <a:spcPts val="0"/>
              </a:spcAft>
              <a:buSzPts val="3200"/>
              <a:buChar char="•"/>
            </a:pPr>
            <a:r>
              <a:rPr lang="en-US" sz="2800">
                <a:latin typeface="Times New Roman"/>
                <a:ea typeface="Times New Roman"/>
                <a:cs typeface="Times New Roman"/>
                <a:sym typeface="Times New Roman"/>
              </a:rPr>
              <a:t>If user wants to view the reviews of a product, he/she needs to click the “View  Review” option. If he wants to give his review, he needs to click “Add review”  option.</a:t>
            </a:r>
            <a:endParaRPr sz="2200">
              <a:latin typeface="Times New Roman"/>
              <a:ea typeface="Times New Roman"/>
              <a:cs typeface="Times New Roman"/>
              <a:sym typeface="Times New Roman"/>
            </a:endParaRPr>
          </a:p>
          <a:p>
            <a:pPr indent="0" lvl="0" marL="342900" rtl="0" algn="just">
              <a:lnSpc>
                <a:spcPct val="100000"/>
              </a:lnSpc>
              <a:spcBef>
                <a:spcPts val="407"/>
              </a:spcBef>
              <a:spcAft>
                <a:spcPts val="0"/>
              </a:spcAft>
              <a:buSzPts val="3200"/>
              <a:buNone/>
            </a:pPr>
            <a:r>
              <a:t/>
            </a:r>
            <a:endParaRPr sz="2200">
              <a:latin typeface="Times New Roman"/>
              <a:ea typeface="Times New Roman"/>
              <a:cs typeface="Times New Roman"/>
              <a:sym typeface="Times New Roman"/>
            </a:endParaRPr>
          </a:p>
        </p:txBody>
      </p:sp>
      <p:sp>
        <p:nvSpPr>
          <p:cNvPr id="270" name="Google Shape;270;p41"/>
          <p:cNvSpPr/>
          <p:nvPr/>
        </p:nvSpPr>
        <p:spPr>
          <a:xfrm>
            <a:off x="3070350" y="6164675"/>
            <a:ext cx="2393700" cy="339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View Review Page</a:t>
            </a:r>
            <a:endParaRPr b="0" i="0" sz="1400" u="none" cap="none" strike="noStrike">
              <a:solidFill>
                <a:srgbClr val="000000"/>
              </a:solidFill>
              <a:latin typeface="Calibri"/>
              <a:ea typeface="Calibri"/>
              <a:cs typeface="Calibri"/>
              <a:sym typeface="Calibri"/>
            </a:endParaRPr>
          </a:p>
        </p:txBody>
      </p:sp>
      <p:pic>
        <p:nvPicPr>
          <p:cNvPr id="271" name="Google Shape;271;p41"/>
          <p:cNvPicPr preferRelativeResize="0"/>
          <p:nvPr/>
        </p:nvPicPr>
        <p:blipFill rotWithShape="1">
          <a:blip r:embed="rId3">
            <a:alphaModFix/>
          </a:blip>
          <a:srcRect b="0" l="0" r="0" t="0"/>
          <a:stretch/>
        </p:blipFill>
        <p:spPr>
          <a:xfrm>
            <a:off x="2319475" y="3024275"/>
            <a:ext cx="5529124" cy="30717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2"/>
          <p:cNvSpPr txBox="1"/>
          <p:nvPr>
            <p:ph idx="4294967295" type="title"/>
          </p:nvPr>
        </p:nvSpPr>
        <p:spPr>
          <a:xfrm>
            <a:off x="457200" y="274638"/>
            <a:ext cx="8229600" cy="6399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n-US"/>
              <a:t>Output</a:t>
            </a:r>
            <a:endParaRPr/>
          </a:p>
        </p:txBody>
      </p:sp>
      <p:sp>
        <p:nvSpPr>
          <p:cNvPr id="277" name="Google Shape;277;p42"/>
          <p:cNvSpPr txBox="1"/>
          <p:nvPr>
            <p:ph idx="4294967295" type="body"/>
          </p:nvPr>
        </p:nvSpPr>
        <p:spPr>
          <a:xfrm>
            <a:off x="228600" y="990600"/>
            <a:ext cx="8610600" cy="5257800"/>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SzPts val="3200"/>
              <a:buChar char="•"/>
            </a:pPr>
            <a:r>
              <a:rPr b="1" lang="en-US" sz="2200">
                <a:latin typeface="Times New Roman"/>
                <a:ea typeface="Times New Roman"/>
                <a:cs typeface="Times New Roman"/>
                <a:sym typeface="Times New Roman"/>
              </a:rPr>
              <a:t>OUTPUT</a:t>
            </a:r>
            <a:r>
              <a:rPr lang="en-US" sz="2200">
                <a:latin typeface="Times New Roman"/>
                <a:ea typeface="Times New Roman"/>
                <a:cs typeface="Times New Roman"/>
                <a:sym typeface="Times New Roman"/>
              </a:rPr>
              <a:t>:</a:t>
            </a:r>
            <a:endParaRPr sz="2400">
              <a:latin typeface="Times New Roman"/>
              <a:ea typeface="Times New Roman"/>
              <a:cs typeface="Times New Roman"/>
              <a:sym typeface="Times New Roman"/>
            </a:endParaRPr>
          </a:p>
          <a:p>
            <a:pPr indent="-342900" lvl="0" marL="342900" rtl="0" algn="just">
              <a:lnSpc>
                <a:spcPct val="100000"/>
              </a:lnSpc>
              <a:spcBef>
                <a:spcPts val="407"/>
              </a:spcBef>
              <a:spcAft>
                <a:spcPts val="0"/>
              </a:spcAft>
              <a:buSzPts val="3200"/>
              <a:buChar char="•"/>
            </a:pPr>
            <a:r>
              <a:rPr lang="en-US" sz="2000">
                <a:latin typeface="Times New Roman"/>
                <a:ea typeface="Times New Roman"/>
                <a:cs typeface="Times New Roman"/>
                <a:sym typeface="Times New Roman"/>
              </a:rPr>
              <a:t>The person needs to enter following details for the registration process.</a:t>
            </a:r>
            <a:r>
              <a:rPr lang="en-US" sz="2200">
                <a:latin typeface="Times New Roman"/>
                <a:ea typeface="Times New Roman"/>
                <a:cs typeface="Times New Roman"/>
                <a:sym typeface="Times New Roman"/>
              </a:rPr>
              <a:t>  </a:t>
            </a:r>
            <a:endParaRPr sz="2200">
              <a:latin typeface="Times New Roman"/>
              <a:ea typeface="Times New Roman"/>
              <a:cs typeface="Times New Roman"/>
              <a:sym typeface="Times New Roman"/>
            </a:endParaRPr>
          </a:p>
          <a:p>
            <a:pPr indent="-279400" lvl="0" marL="342900" rtl="0" algn="just">
              <a:lnSpc>
                <a:spcPct val="100000"/>
              </a:lnSpc>
              <a:spcBef>
                <a:spcPts val="407"/>
              </a:spcBef>
              <a:spcAft>
                <a:spcPts val="0"/>
              </a:spcAft>
              <a:buSzPts val="2200"/>
              <a:buFont typeface="Times New Roman"/>
              <a:buChar char="•"/>
            </a:pPr>
            <a:r>
              <a:t/>
            </a:r>
            <a:endParaRPr sz="2200">
              <a:latin typeface="Times New Roman"/>
              <a:ea typeface="Times New Roman"/>
              <a:cs typeface="Times New Roman"/>
              <a:sym typeface="Times New Roman"/>
            </a:endParaRPr>
          </a:p>
        </p:txBody>
      </p:sp>
      <p:pic>
        <p:nvPicPr>
          <p:cNvPr id="278" name="Google Shape;278;p42"/>
          <p:cNvPicPr preferRelativeResize="0"/>
          <p:nvPr/>
        </p:nvPicPr>
        <p:blipFill rotWithShape="1">
          <a:blip r:embed="rId3">
            <a:alphaModFix/>
          </a:blip>
          <a:srcRect b="0" l="0" r="0" t="0"/>
          <a:stretch/>
        </p:blipFill>
        <p:spPr>
          <a:xfrm>
            <a:off x="1066800" y="2438400"/>
            <a:ext cx="6400800" cy="3581399"/>
          </a:xfrm>
          <a:prstGeom prst="rect">
            <a:avLst/>
          </a:prstGeom>
          <a:noFill/>
          <a:ln>
            <a:noFill/>
          </a:ln>
        </p:spPr>
      </p:pic>
      <p:sp>
        <p:nvSpPr>
          <p:cNvPr id="279" name="Google Shape;279;p42"/>
          <p:cNvSpPr/>
          <p:nvPr/>
        </p:nvSpPr>
        <p:spPr>
          <a:xfrm>
            <a:off x="3070350" y="6164675"/>
            <a:ext cx="2393700" cy="339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Registration Page</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43"/>
          <p:cNvSpPr txBox="1"/>
          <p:nvPr>
            <p:ph idx="4294967295" type="title"/>
          </p:nvPr>
        </p:nvSpPr>
        <p:spPr>
          <a:xfrm>
            <a:off x="457200" y="274638"/>
            <a:ext cx="8229600" cy="6399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n-US"/>
              <a:t>Test Cases</a:t>
            </a:r>
            <a:endParaRPr/>
          </a:p>
        </p:txBody>
      </p:sp>
      <p:sp>
        <p:nvSpPr>
          <p:cNvPr id="285" name="Google Shape;285;p43"/>
          <p:cNvSpPr txBox="1"/>
          <p:nvPr>
            <p:ph idx="4294967295" type="body"/>
          </p:nvPr>
        </p:nvSpPr>
        <p:spPr>
          <a:xfrm>
            <a:off x="228600" y="990600"/>
            <a:ext cx="8610600" cy="5257800"/>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SzPts val="3200"/>
              <a:buChar char="•"/>
            </a:pPr>
            <a:r>
              <a:rPr b="1" lang="en-US" sz="2200">
                <a:latin typeface="Times New Roman"/>
                <a:ea typeface="Times New Roman"/>
                <a:cs typeface="Times New Roman"/>
                <a:sym typeface="Times New Roman"/>
              </a:rPr>
              <a:t>Test Cases</a:t>
            </a:r>
            <a:endParaRPr sz="2200">
              <a:latin typeface="Times New Roman"/>
              <a:ea typeface="Times New Roman"/>
              <a:cs typeface="Times New Roman"/>
              <a:sym typeface="Times New Roman"/>
            </a:endParaRPr>
          </a:p>
        </p:txBody>
      </p:sp>
      <p:graphicFrame>
        <p:nvGraphicFramePr>
          <p:cNvPr id="286" name="Google Shape;286;p43"/>
          <p:cNvGraphicFramePr/>
          <p:nvPr/>
        </p:nvGraphicFramePr>
        <p:xfrm>
          <a:off x="587700" y="1446351"/>
          <a:ext cx="3000000" cy="3000000"/>
        </p:xfrm>
        <a:graphic>
          <a:graphicData uri="http://schemas.openxmlformats.org/drawingml/2006/table">
            <a:tbl>
              <a:tblPr>
                <a:noFill/>
                <a:tableStyleId>{BA6F371E-30D8-4491-AECF-ADC82B9DB73C}</a:tableStyleId>
              </a:tblPr>
              <a:tblGrid>
                <a:gridCol w="689450"/>
                <a:gridCol w="2005650"/>
                <a:gridCol w="1554375"/>
                <a:gridCol w="1119475"/>
                <a:gridCol w="1086750"/>
                <a:gridCol w="1278600"/>
              </a:tblGrid>
              <a:tr h="429225">
                <a:tc>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t>S.NO</a:t>
                      </a:r>
                      <a:endParaRPr sz="900" u="none" cap="none" strike="noStrike">
                        <a:latin typeface="Calibri"/>
                        <a:ea typeface="Calibri"/>
                        <a:cs typeface="Calibri"/>
                        <a:sym typeface="Calibri"/>
                      </a:endParaRPr>
                    </a:p>
                  </a:txBody>
                  <a:tcPr marT="9525" marB="0" marR="68575" marL="6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t>Action</a:t>
                      </a:r>
                      <a:endParaRPr sz="900" u="none" cap="none" strike="noStrike">
                        <a:latin typeface="Calibri"/>
                        <a:ea typeface="Calibri"/>
                        <a:cs typeface="Calibri"/>
                        <a:sym typeface="Calibri"/>
                      </a:endParaRPr>
                    </a:p>
                  </a:txBody>
                  <a:tcPr marT="9525" marB="0" marR="68575" marL="6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t>Input</a:t>
                      </a:r>
                      <a:endParaRPr sz="900" u="none" cap="none" strike="noStrike">
                        <a:latin typeface="Calibri"/>
                        <a:ea typeface="Calibri"/>
                        <a:cs typeface="Calibri"/>
                        <a:sym typeface="Calibri"/>
                      </a:endParaRPr>
                    </a:p>
                  </a:txBody>
                  <a:tcPr marT="9525" marB="0" marR="68575" marL="6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t>Expected output</a:t>
                      </a:r>
                      <a:endParaRPr sz="900" u="none" cap="none" strike="noStrike">
                        <a:latin typeface="Calibri"/>
                        <a:ea typeface="Calibri"/>
                        <a:cs typeface="Calibri"/>
                        <a:sym typeface="Calibri"/>
                      </a:endParaRPr>
                    </a:p>
                  </a:txBody>
                  <a:tcPr marT="9525" marB="0" marR="68575" marL="6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t>Actual output</a:t>
                      </a:r>
                      <a:endParaRPr sz="900" u="none" cap="none" strike="noStrike">
                        <a:latin typeface="Calibri"/>
                        <a:ea typeface="Calibri"/>
                        <a:cs typeface="Calibri"/>
                        <a:sym typeface="Calibri"/>
                      </a:endParaRPr>
                    </a:p>
                  </a:txBody>
                  <a:tcPr marT="9525" marB="0" marR="68575" marL="6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t>Test Result</a:t>
                      </a:r>
                      <a:endParaRPr sz="900" u="none" cap="none" strike="noStrike">
                        <a:latin typeface="Calibri"/>
                        <a:ea typeface="Calibri"/>
                        <a:cs typeface="Calibri"/>
                        <a:sym typeface="Calibri"/>
                      </a:endParaRPr>
                    </a:p>
                  </a:txBody>
                  <a:tcPr marT="9525" marB="0" marR="68575" marL="6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000000"/>
                      </a:solidFill>
                      <a:prstDash val="solid"/>
                      <a:round/>
                      <a:headEnd len="sm" w="sm" type="none"/>
                      <a:tailEnd len="sm" w="sm" type="none"/>
                    </a:lnB>
                  </a:tcPr>
                </a:tc>
              </a:tr>
              <a:tr h="675725">
                <a:tc>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t>1</a:t>
                      </a:r>
                      <a:endParaRPr sz="900" u="none" cap="none" strike="noStrike"/>
                    </a:p>
                  </a:txBody>
                  <a:tcPr marT="9525" marB="0" marR="68575" marL="68575" anchor="b">
                    <a:lnL cap="flat" cmpd="sng" w="9525">
                      <a:solidFill>
                        <a:srgbClr val="FFFFFF"/>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900"/>
                        <a:buFont typeface="Arial"/>
                        <a:buNone/>
                      </a:pPr>
                      <a:r>
                        <a:rPr lang="en-US" sz="900" u="none" cap="none" strike="noStrike"/>
                        <a:t>Test Case 1: User Registration</a:t>
                      </a:r>
                      <a:endParaRPr sz="900" u="none" cap="none" strike="noStrike"/>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900"/>
                        <a:buFont typeface="Arial"/>
                        <a:buNone/>
                      </a:pPr>
                      <a:r>
                        <a:rPr lang="en-US" sz="900" u="none" cap="none" strike="noStrike"/>
                        <a:t>Input: New user details (username, email, password).</a:t>
                      </a:r>
                      <a:endParaRPr sz="900" u="none" cap="none" strike="noStrike"/>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900"/>
                        <a:buFont typeface="Arial"/>
                        <a:buNone/>
                      </a:pPr>
                      <a:r>
                        <a:rPr lang="en-US" sz="900" u="none" cap="none" strike="noStrike"/>
                        <a:t>Expected Output: User account is created successfully, and a confirmation message is displayed.</a:t>
                      </a:r>
                      <a:endParaRPr sz="900" u="none" cap="none" strike="noStrike"/>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900"/>
                        <a:buFont typeface="Arial"/>
                        <a:buNone/>
                      </a:pPr>
                      <a:r>
                        <a:rPr lang="en-US" sz="900" u="none" cap="none" strike="noStrike"/>
                        <a:t>Actual Output: [To be filled after testing]</a:t>
                      </a:r>
                      <a:endParaRPr sz="900" u="none" cap="none" strike="noStrike"/>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900"/>
                        <a:buFont typeface="Arial"/>
                        <a:buNone/>
                      </a:pPr>
                      <a:r>
                        <a:rPr lang="en-US" sz="900" u="none" cap="none" strike="noStrike"/>
                        <a:t>Result: Pass/Fail</a:t>
                      </a:r>
                      <a:endParaRPr sz="900" u="none" cap="none" strike="noStrike"/>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75725">
                <a:tc>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t>2</a:t>
                      </a:r>
                      <a:endParaRPr sz="900" u="none" cap="none" strike="noStrike"/>
                    </a:p>
                  </a:txBody>
                  <a:tcPr marT="9525" marB="0" marR="68575" marL="68575" anchor="b">
                    <a:lnL cap="flat" cmpd="sng" w="9525">
                      <a:solidFill>
                        <a:srgbClr val="FFFFFF"/>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900"/>
                        <a:buFont typeface="Arial"/>
                        <a:buNone/>
                      </a:pPr>
                      <a:r>
                        <a:rPr lang="en-US" sz="900" u="none" cap="none" strike="noStrike"/>
                        <a:t>Test Case 2: User Login</a:t>
                      </a:r>
                      <a:endParaRPr sz="900" u="none" cap="none" strike="noStrike"/>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900"/>
                        <a:buFont typeface="Arial"/>
                        <a:buNone/>
                      </a:pPr>
                      <a:r>
                        <a:rPr lang="en-US" sz="900" u="none" cap="none" strike="noStrike"/>
                        <a:t>Input: Registered user’s login details (email, password).</a:t>
                      </a:r>
                      <a:endParaRPr sz="900" u="none" cap="none" strike="noStrike"/>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900"/>
                        <a:buFont typeface="Arial"/>
                        <a:buNone/>
                      </a:pPr>
                      <a:r>
                        <a:rPr lang="en-US" sz="900" u="none" cap="none" strike="noStrike"/>
                        <a:t>Expected Output: User is successfully logged in and redirected to the dashboard.</a:t>
                      </a:r>
                      <a:endParaRPr sz="900" u="none" cap="none" strike="noStrike"/>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900"/>
                        <a:buFont typeface="Arial"/>
                        <a:buNone/>
                      </a:pPr>
                      <a:r>
                        <a:rPr lang="en-US" sz="900" u="none" cap="none" strike="noStrike"/>
                        <a:t>Actual Output: [To be filled after testing]</a:t>
                      </a:r>
                      <a:endParaRPr sz="900" u="none" cap="none" strike="noStrike"/>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900"/>
                        <a:buFont typeface="Arial"/>
                        <a:buNone/>
                      </a:pPr>
                      <a:r>
                        <a:rPr lang="en-US" sz="900" u="none" cap="none" strike="noStrike"/>
                        <a:t>Result: Pass/Fail</a:t>
                      </a:r>
                      <a:endParaRPr sz="900" u="none" cap="none" strike="noStrike"/>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964725">
                <a:tc>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t>3</a:t>
                      </a:r>
                      <a:endParaRPr sz="900" u="none" cap="none" strike="noStrike"/>
                    </a:p>
                  </a:txBody>
                  <a:tcPr marT="9525" marB="0" marR="68575" marL="68575" anchor="b">
                    <a:lnL cap="flat" cmpd="sng" w="9525">
                      <a:solidFill>
                        <a:srgbClr val="FFFFFF"/>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900"/>
                        <a:buFont typeface="Arial"/>
                        <a:buNone/>
                      </a:pPr>
                      <a:r>
                        <a:rPr lang="en-US" sz="900" u="none" cap="none" strike="noStrike"/>
                        <a:t>Test Case 3: Image Upload</a:t>
                      </a:r>
                      <a:endParaRPr sz="900" u="none" cap="none" strike="noStrike"/>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900"/>
                        <a:buFont typeface="Arial"/>
                        <a:buNone/>
                      </a:pPr>
                      <a:r>
                        <a:rPr lang="en-US" sz="900" u="none" cap="none" strike="noStrike"/>
                        <a:t>Input: X-ray image file uploaded by the user.</a:t>
                      </a:r>
                      <a:endParaRPr sz="900" u="none" cap="none" strike="noStrike"/>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900"/>
                        <a:buFont typeface="Arial"/>
                        <a:buNone/>
                      </a:pPr>
                      <a:r>
                        <a:rPr lang="en-US" sz="900" u="none" cap="none" strike="noStrike"/>
                        <a:t>Expected Output: Image is uploaded successfully, and a progress bar is displayed.</a:t>
                      </a:r>
                      <a:endParaRPr sz="900" u="none" cap="none" strike="noStrike"/>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900"/>
                        <a:buFont typeface="Arial"/>
                        <a:buNone/>
                      </a:pPr>
                      <a:r>
                        <a:rPr lang="en-US" sz="900" u="none" cap="none" strike="noStrike"/>
                        <a:t>Actual Output: [To be filled after testing]</a:t>
                      </a:r>
                      <a:endParaRPr sz="900" u="none" cap="none" strike="noStrike"/>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900"/>
                        <a:buFont typeface="Arial"/>
                        <a:buNone/>
                      </a:pPr>
                      <a:r>
                        <a:rPr lang="en-US" sz="900" u="none" cap="none" strike="noStrike"/>
                        <a:t>Result: Pass/Fail</a:t>
                      </a:r>
                      <a:endParaRPr sz="900" u="none" cap="none" strike="noStrike"/>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75725">
                <a:tc>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t>4</a:t>
                      </a:r>
                      <a:endParaRPr sz="900" u="none" cap="none" strike="noStrike"/>
                    </a:p>
                  </a:txBody>
                  <a:tcPr marT="9525" marB="0" marR="68575" marL="68575" anchor="b">
                    <a:lnL cap="flat" cmpd="sng" w="9525">
                      <a:solidFill>
                        <a:srgbClr val="FFFFFF"/>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900"/>
                        <a:buFont typeface="Arial"/>
                        <a:buNone/>
                      </a:pPr>
                      <a:r>
                        <a:rPr lang="en-US" sz="900" u="none" cap="none" strike="noStrike"/>
                        <a:t>Test Case 4: Prediction Result Display</a:t>
                      </a:r>
                      <a:endParaRPr sz="900" u="none" cap="none" strike="noStrike"/>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900"/>
                        <a:buFont typeface="Arial"/>
                        <a:buNone/>
                      </a:pPr>
                      <a:r>
                        <a:rPr lang="en-US" sz="900" u="none" cap="none" strike="noStrike"/>
                        <a:t>Input: Uploaded X-ray image.</a:t>
                      </a:r>
                      <a:endParaRPr sz="900" u="none" cap="none" strike="noStrike"/>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900"/>
                        <a:buFont typeface="Arial"/>
                        <a:buNone/>
                      </a:pPr>
                      <a:r>
                        <a:rPr lang="en-US" sz="900" u="none" cap="none" strike="noStrike"/>
                        <a:t>Expected Output: Model processes the image, and the prediction result is displayed on the user’s dashboard.</a:t>
                      </a:r>
                      <a:endParaRPr sz="900" u="none" cap="none" strike="noStrike"/>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900"/>
                        <a:buFont typeface="Arial"/>
                        <a:buNone/>
                      </a:pPr>
                      <a:r>
                        <a:rPr lang="en-US" sz="900" u="none" cap="none" strike="noStrike"/>
                        <a:t>Actual Output: [To be filled after testing]</a:t>
                      </a:r>
                      <a:endParaRPr sz="900" u="none" cap="none" strike="noStrike"/>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900"/>
                        <a:buFont typeface="Arial"/>
                        <a:buNone/>
                      </a:pPr>
                      <a:r>
                        <a:rPr lang="en-US" sz="900" u="none" cap="none" strike="noStrike"/>
                        <a:t>Result: Pass/Fail</a:t>
                      </a:r>
                      <a:endParaRPr sz="900" u="none" cap="none" strike="noStrike"/>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75725">
                <a:tc>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t>5</a:t>
                      </a:r>
                      <a:endParaRPr sz="900" u="none" cap="none" strike="noStrike">
                        <a:latin typeface="Calibri"/>
                        <a:ea typeface="Calibri"/>
                        <a:cs typeface="Calibri"/>
                        <a:sym typeface="Calibri"/>
                      </a:endParaRPr>
                    </a:p>
                  </a:txBody>
                  <a:tcPr marT="9525" marB="0" marR="68575" marL="68575" anchor="b">
                    <a:lnL cap="flat" cmpd="sng" w="9525">
                      <a:solidFill>
                        <a:srgbClr val="FFFFFF"/>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900"/>
                        <a:buFont typeface="Arial"/>
                        <a:buNone/>
                      </a:pPr>
                      <a:r>
                        <a:rPr lang="en-US" sz="900" u="none" cap="none" strike="noStrike"/>
                        <a:t>Test Case 5: View Prediction History</a:t>
                      </a:r>
                      <a:endParaRPr sz="900" u="none" cap="none" strike="noStrike"/>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900"/>
                        <a:buFont typeface="Arial"/>
                        <a:buNone/>
                      </a:pPr>
                      <a:r>
                        <a:rPr lang="en-US" sz="900" u="none" cap="none" strike="noStrike"/>
                        <a:t>Input: Logged-in user navigates to the prediction history page.</a:t>
                      </a:r>
                      <a:endParaRPr sz="900" u="none" cap="none" strike="noStrike"/>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900"/>
                        <a:buFont typeface="Arial"/>
                        <a:buNone/>
                      </a:pPr>
                      <a:r>
                        <a:rPr lang="en-US" sz="900" u="none" cap="none" strike="noStrike"/>
                        <a:t>Expected Output: List of all previous predictions with dates and results is displayed.</a:t>
                      </a:r>
                      <a:endParaRPr sz="900" u="none" cap="none" strike="noStrike"/>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900"/>
                        <a:buFont typeface="Arial"/>
                        <a:buNone/>
                      </a:pPr>
                      <a:r>
                        <a:rPr lang="en-US" sz="900" u="none" cap="none" strike="noStrike"/>
                        <a:t>Actual Output: [To be filled after testing]</a:t>
                      </a:r>
                      <a:endParaRPr sz="900" u="none" cap="none" strike="noStrike"/>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900"/>
                        <a:buFont typeface="Arial"/>
                        <a:buNone/>
                      </a:pPr>
                      <a:r>
                        <a:rPr lang="en-US" sz="900" u="none" cap="none" strike="noStrike"/>
                        <a:t>Result: Pass/Fail</a:t>
                      </a:r>
                      <a:endParaRPr sz="900" u="none" cap="none" strike="noStrike"/>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44"/>
          <p:cNvSpPr txBox="1"/>
          <p:nvPr>
            <p:ph idx="4294967295" type="title"/>
          </p:nvPr>
        </p:nvSpPr>
        <p:spPr>
          <a:xfrm>
            <a:off x="457200" y="274638"/>
            <a:ext cx="8229600" cy="6399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n-US"/>
              <a:t>Test Cases</a:t>
            </a:r>
            <a:endParaRPr/>
          </a:p>
        </p:txBody>
      </p:sp>
      <p:sp>
        <p:nvSpPr>
          <p:cNvPr id="292" name="Google Shape;292;p44"/>
          <p:cNvSpPr txBox="1"/>
          <p:nvPr>
            <p:ph idx="4294967295" type="body"/>
          </p:nvPr>
        </p:nvSpPr>
        <p:spPr>
          <a:xfrm>
            <a:off x="228600" y="990600"/>
            <a:ext cx="8610600" cy="5257800"/>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SzPts val="3200"/>
              <a:buChar char="•"/>
            </a:pPr>
            <a:r>
              <a:rPr b="1" lang="en-US" sz="2200">
                <a:latin typeface="Times New Roman"/>
                <a:ea typeface="Times New Roman"/>
                <a:cs typeface="Times New Roman"/>
                <a:sym typeface="Times New Roman"/>
              </a:rPr>
              <a:t>Test Cases (for ecommerce type of projects)</a:t>
            </a:r>
            <a:endParaRPr sz="2200">
              <a:latin typeface="Times New Roman"/>
              <a:ea typeface="Times New Roman"/>
              <a:cs typeface="Times New Roman"/>
              <a:sym typeface="Times New Roman"/>
            </a:endParaRPr>
          </a:p>
        </p:txBody>
      </p:sp>
      <p:graphicFrame>
        <p:nvGraphicFramePr>
          <p:cNvPr id="293" name="Google Shape;293;p44"/>
          <p:cNvGraphicFramePr/>
          <p:nvPr/>
        </p:nvGraphicFramePr>
        <p:xfrm>
          <a:off x="647700" y="1905001"/>
          <a:ext cx="3000000" cy="3000000"/>
        </p:xfrm>
        <a:graphic>
          <a:graphicData uri="http://schemas.openxmlformats.org/drawingml/2006/table">
            <a:tbl>
              <a:tblPr>
                <a:noFill/>
                <a:tableStyleId>{BA6F371E-30D8-4491-AECF-ADC82B9DB73C}</a:tableStyleId>
              </a:tblPr>
              <a:tblGrid>
                <a:gridCol w="689450"/>
                <a:gridCol w="2005650"/>
                <a:gridCol w="1554375"/>
                <a:gridCol w="1119475"/>
                <a:gridCol w="1086750"/>
                <a:gridCol w="1278600"/>
              </a:tblGrid>
              <a:tr h="675725">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S.NO</a:t>
                      </a:r>
                      <a:endParaRPr sz="1100" u="none" cap="none" strike="noStrike">
                        <a:latin typeface="Calibri"/>
                        <a:ea typeface="Calibri"/>
                        <a:cs typeface="Calibri"/>
                        <a:sym typeface="Calibri"/>
                      </a:endParaRPr>
                    </a:p>
                  </a:txBody>
                  <a:tcPr marT="9525" marB="0" marR="68575" marL="68575" anchor="b"/>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Action</a:t>
                      </a:r>
                      <a:endParaRPr sz="1100" u="none" cap="none" strike="noStrike">
                        <a:latin typeface="Calibri"/>
                        <a:ea typeface="Calibri"/>
                        <a:cs typeface="Calibri"/>
                        <a:sym typeface="Calibri"/>
                      </a:endParaRPr>
                    </a:p>
                  </a:txBody>
                  <a:tcPr marT="9525" marB="0" marR="68575" marL="68575" anchor="b"/>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Input</a:t>
                      </a:r>
                      <a:endParaRPr sz="1100" u="none" cap="none" strike="noStrike">
                        <a:latin typeface="Calibri"/>
                        <a:ea typeface="Calibri"/>
                        <a:cs typeface="Calibri"/>
                        <a:sym typeface="Calibri"/>
                      </a:endParaRPr>
                    </a:p>
                  </a:txBody>
                  <a:tcPr marT="9525" marB="0" marR="68575" marL="68575" anchor="b"/>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Expected output</a:t>
                      </a:r>
                      <a:endParaRPr sz="1100" u="none" cap="none" strike="noStrike">
                        <a:latin typeface="Calibri"/>
                        <a:ea typeface="Calibri"/>
                        <a:cs typeface="Calibri"/>
                        <a:sym typeface="Calibri"/>
                      </a:endParaRPr>
                    </a:p>
                  </a:txBody>
                  <a:tcPr marT="9525" marB="0" marR="68575" marL="68575" anchor="b"/>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Actual output</a:t>
                      </a:r>
                      <a:endParaRPr sz="1100" u="none" cap="none" strike="noStrike">
                        <a:latin typeface="Calibri"/>
                        <a:ea typeface="Calibri"/>
                        <a:cs typeface="Calibri"/>
                        <a:sym typeface="Calibri"/>
                      </a:endParaRPr>
                    </a:p>
                  </a:txBody>
                  <a:tcPr marT="9525" marB="0" marR="68575" marL="68575" anchor="b"/>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Test Result</a:t>
                      </a:r>
                      <a:endParaRPr sz="1100" u="none" cap="none" strike="noStrike">
                        <a:latin typeface="Calibri"/>
                        <a:ea typeface="Calibri"/>
                        <a:cs typeface="Calibri"/>
                        <a:sym typeface="Calibri"/>
                      </a:endParaRPr>
                    </a:p>
                  </a:txBody>
                  <a:tcPr marT="9525" marB="0" marR="68575" marL="68575" anchor="b"/>
                </a:tc>
              </a:tr>
              <a:tr h="675725">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1</a:t>
                      </a:r>
                      <a:endParaRPr sz="1100" u="none" cap="none" strike="noStrike">
                        <a:latin typeface="Calibri"/>
                        <a:ea typeface="Calibri"/>
                        <a:cs typeface="Calibri"/>
                        <a:sym typeface="Calibri"/>
                      </a:endParaRPr>
                    </a:p>
                  </a:txBody>
                  <a:tcPr marT="9525" marB="0" marR="68575" marL="68575" anchor="b"/>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The admin uploads product into the website</a:t>
                      </a:r>
                      <a:endParaRPr sz="1100" u="none" cap="none" strike="noStrike">
                        <a:latin typeface="Calibri"/>
                        <a:ea typeface="Calibri"/>
                        <a:cs typeface="Calibri"/>
                        <a:sym typeface="Calibri"/>
                      </a:endParaRPr>
                    </a:p>
                  </a:txBody>
                  <a:tcPr marT="9525" marB="0" marR="68575" marL="68575" anchor="b"/>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Product details</a:t>
                      </a:r>
                      <a:endParaRPr sz="1400" u="none" cap="none" strike="noStrike"/>
                    </a:p>
                  </a:txBody>
                  <a:tcPr marT="9525" marB="0" marR="68575" marL="68575" anchor="b"/>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The added product should be visible to the customer</a:t>
                      </a:r>
                      <a:endParaRPr sz="1400" u="none" cap="none" strike="noStrike"/>
                    </a:p>
                  </a:txBody>
                  <a:tcPr marT="9525" marB="0" marR="68575" marL="68575" anchor="b"/>
                </a:tc>
                <a:tc>
                  <a:txBody>
                    <a:bodyPr/>
                    <a:lstStyle/>
                    <a:p>
                      <a:pPr indent="0" lvl="0" marL="0" marR="0" rtl="0" algn="l">
                        <a:lnSpc>
                          <a:spcPct val="100000"/>
                        </a:lnSpc>
                        <a:spcBef>
                          <a:spcPts val="0"/>
                        </a:spcBef>
                        <a:spcAft>
                          <a:spcPts val="0"/>
                        </a:spcAft>
                        <a:buClr>
                          <a:srgbClr val="000000"/>
                        </a:buClr>
                        <a:buSzPts val="1100"/>
                        <a:buFont typeface="Calibri"/>
                        <a:buNone/>
                      </a:pPr>
                      <a:r>
                        <a:rPr lang="en-US" sz="1100" u="none" cap="none" strike="noStrike">
                          <a:latin typeface="Calibri"/>
                          <a:ea typeface="Calibri"/>
                          <a:cs typeface="Calibri"/>
                          <a:sym typeface="Calibri"/>
                        </a:rPr>
                        <a:t>The added product should be visible to the customer</a:t>
                      </a:r>
                      <a:endParaRPr sz="1400" u="none" cap="none" strike="noStrike"/>
                    </a:p>
                  </a:txBody>
                  <a:tcPr marT="9525" marB="0" marR="68575" marL="68575" anchor="b"/>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Pass</a:t>
                      </a:r>
                      <a:endParaRPr sz="1100" u="none" cap="none" strike="noStrike">
                        <a:latin typeface="Calibri"/>
                        <a:ea typeface="Calibri"/>
                        <a:cs typeface="Calibri"/>
                        <a:sym typeface="Calibri"/>
                      </a:endParaRPr>
                    </a:p>
                  </a:txBody>
                  <a:tcPr marT="9525" marB="0" marR="68575" marL="68575" anchor="b"/>
                </a:tc>
              </a:tr>
              <a:tr h="675725">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2</a:t>
                      </a:r>
                      <a:endParaRPr sz="1100" u="none" cap="none" strike="noStrike">
                        <a:latin typeface="Calibri"/>
                        <a:ea typeface="Calibri"/>
                        <a:cs typeface="Calibri"/>
                        <a:sym typeface="Calibri"/>
                      </a:endParaRPr>
                    </a:p>
                  </a:txBody>
                  <a:tcPr marT="9525" marB="0" marR="68575" marL="68575" anchor="b"/>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Customer search for product</a:t>
                      </a:r>
                      <a:endParaRPr sz="1400" u="none" cap="none" strike="noStrike"/>
                    </a:p>
                  </a:txBody>
                  <a:tcPr marT="9525" marB="0" marR="68575" marL="68575" anchor="b"/>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 Product name in the search bar</a:t>
                      </a:r>
                      <a:endParaRPr sz="1100" u="none" cap="none" strike="noStrike">
                        <a:latin typeface="Calibri"/>
                        <a:ea typeface="Calibri"/>
                        <a:cs typeface="Calibri"/>
                        <a:sym typeface="Calibri"/>
                      </a:endParaRPr>
                    </a:p>
                  </a:txBody>
                  <a:tcPr marT="9525" marB="0" marR="68575" marL="68575" anchor="b"/>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The respective product should be shown to the user</a:t>
                      </a:r>
                      <a:endParaRPr sz="1400" u="none" cap="none" strike="noStrike"/>
                    </a:p>
                  </a:txBody>
                  <a:tcPr marT="9525" marB="0" marR="68575" marL="68575" anchor="b"/>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The product will be available in the list shown to the user</a:t>
                      </a:r>
                      <a:endParaRPr sz="1400" u="none" cap="none" strike="noStrike"/>
                    </a:p>
                  </a:txBody>
                  <a:tcPr marT="9525" marB="0" marR="68575" marL="68575" anchor="b"/>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Pass</a:t>
                      </a:r>
                      <a:endParaRPr sz="1100" u="none" cap="none" strike="noStrike">
                        <a:latin typeface="Calibri"/>
                        <a:ea typeface="Calibri"/>
                        <a:cs typeface="Calibri"/>
                        <a:sym typeface="Calibri"/>
                      </a:endParaRPr>
                    </a:p>
                  </a:txBody>
                  <a:tcPr marT="9525" marB="0" marR="68575" marL="68575" anchor="b"/>
                </a:tc>
              </a:tr>
              <a:tr h="964725">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3</a:t>
                      </a:r>
                      <a:endParaRPr sz="1100" u="none" cap="none" strike="noStrike">
                        <a:latin typeface="Calibri"/>
                        <a:ea typeface="Calibri"/>
                        <a:cs typeface="Calibri"/>
                        <a:sym typeface="Calibri"/>
                      </a:endParaRPr>
                    </a:p>
                  </a:txBody>
                  <a:tcPr marT="9525" marB="0" marR="68575" marL="68575" anchor="b"/>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User gives review to the product</a:t>
                      </a:r>
                      <a:endParaRPr sz="1100" u="none" cap="none" strike="noStrike">
                        <a:latin typeface="Calibri"/>
                        <a:ea typeface="Calibri"/>
                        <a:cs typeface="Calibri"/>
                        <a:sym typeface="Calibri"/>
                      </a:endParaRPr>
                    </a:p>
                  </a:txBody>
                  <a:tcPr marT="9525" marB="0" marR="68575" marL="68575" anchor="b"/>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Comment on the product</a:t>
                      </a:r>
                      <a:endParaRPr sz="1100" u="none" cap="none" strike="noStrike">
                        <a:latin typeface="Calibri"/>
                        <a:ea typeface="Calibri"/>
                        <a:cs typeface="Calibri"/>
                        <a:sym typeface="Calibri"/>
                      </a:endParaRPr>
                    </a:p>
                  </a:txBody>
                  <a:tcPr marT="9525" marB="0" marR="68575" marL="68575" anchor="b"/>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The comment will be visible in the comment section to all the users</a:t>
                      </a:r>
                      <a:endParaRPr sz="1400" u="none" cap="none" strike="noStrike"/>
                    </a:p>
                  </a:txBody>
                  <a:tcPr marT="9525" marB="0" marR="68575" marL="68575" anchor="b"/>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The given comment is not visible because the person did not register in the website</a:t>
                      </a:r>
                      <a:endParaRPr sz="1100" u="none" cap="none" strike="noStrike">
                        <a:latin typeface="Calibri"/>
                        <a:ea typeface="Calibri"/>
                        <a:cs typeface="Calibri"/>
                        <a:sym typeface="Calibri"/>
                      </a:endParaRPr>
                    </a:p>
                  </a:txBody>
                  <a:tcPr marT="9525" marB="0" marR="68575" marL="68575" anchor="b"/>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Fail</a:t>
                      </a:r>
                      <a:endParaRPr sz="1400" u="none" cap="none" strike="noStrike"/>
                    </a:p>
                  </a:txBody>
                  <a:tcPr marT="9525" marB="0" marR="68575" marL="68575" anchor="b"/>
                </a:tc>
              </a:tr>
              <a:tr h="675725">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4</a:t>
                      </a:r>
                      <a:endParaRPr sz="1100" u="none" cap="none" strike="noStrike">
                        <a:latin typeface="Calibri"/>
                        <a:ea typeface="Calibri"/>
                        <a:cs typeface="Calibri"/>
                        <a:sym typeface="Calibri"/>
                      </a:endParaRPr>
                    </a:p>
                  </a:txBody>
                  <a:tcPr marT="9525" marB="0" marR="68575" marL="68575" anchor="b"/>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The user gets the overall review of the product</a:t>
                      </a:r>
                      <a:endParaRPr sz="1100" u="none" cap="none" strike="noStrike">
                        <a:latin typeface="Calibri"/>
                        <a:ea typeface="Calibri"/>
                        <a:cs typeface="Calibri"/>
                        <a:sym typeface="Calibri"/>
                      </a:endParaRPr>
                    </a:p>
                  </a:txBody>
                  <a:tcPr marT="9525" marB="0" marR="68575" marL="68575" anchor="b"/>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This is a very good product</a:t>
                      </a:r>
                      <a:endParaRPr sz="1400" u="none" cap="none" strike="noStrike"/>
                    </a:p>
                  </a:txBody>
                  <a:tcPr marT="9525" marB="0" marR="68575" marL="68575" anchor="b"/>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Positive</a:t>
                      </a:r>
                      <a:endParaRPr sz="1100" u="none" cap="none" strike="noStrike">
                        <a:latin typeface="Calibri"/>
                        <a:ea typeface="Calibri"/>
                        <a:cs typeface="Calibri"/>
                        <a:sym typeface="Calibri"/>
                      </a:endParaRPr>
                    </a:p>
                  </a:txBody>
                  <a:tcPr marT="9525" marB="0" marR="68575" marL="68575" anchor="b"/>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Positive</a:t>
                      </a:r>
                      <a:endParaRPr sz="1100" u="none" cap="none" strike="noStrike">
                        <a:latin typeface="Calibri"/>
                        <a:ea typeface="Calibri"/>
                        <a:cs typeface="Calibri"/>
                        <a:sym typeface="Calibri"/>
                      </a:endParaRPr>
                    </a:p>
                  </a:txBody>
                  <a:tcPr marT="9525" marB="0" marR="68575" marL="68575" anchor="b"/>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Pass</a:t>
                      </a:r>
                      <a:endParaRPr sz="1100" u="none" cap="none" strike="noStrike">
                        <a:latin typeface="Calibri"/>
                        <a:ea typeface="Calibri"/>
                        <a:cs typeface="Calibri"/>
                        <a:sym typeface="Calibri"/>
                      </a:endParaRPr>
                    </a:p>
                  </a:txBody>
                  <a:tcPr marT="9525" marB="0" marR="68575" marL="68575" anchor="b"/>
                </a:tc>
              </a:tr>
              <a:tr h="675725">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5</a:t>
                      </a:r>
                      <a:endParaRPr sz="1100" u="none" cap="none" strike="noStrike">
                        <a:latin typeface="Calibri"/>
                        <a:ea typeface="Calibri"/>
                        <a:cs typeface="Calibri"/>
                        <a:sym typeface="Calibri"/>
                      </a:endParaRPr>
                    </a:p>
                  </a:txBody>
                  <a:tcPr marT="9525" marB="0" marR="68575" marL="68575" anchor="b"/>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User buys the product</a:t>
                      </a:r>
                      <a:endParaRPr sz="1400" u="none" cap="none" strike="noStrike"/>
                    </a:p>
                  </a:txBody>
                  <a:tcPr marT="9525" marB="0" marR="68575" marL="68575" anchor="b"/>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Adds the product to the cart and buys the product</a:t>
                      </a:r>
                      <a:endParaRPr sz="1400" u="none" cap="none" strike="noStrike"/>
                    </a:p>
                  </a:txBody>
                  <a:tcPr marT="9525" marB="0" marR="68575" marL="68575" anchor="b"/>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The product will be bought by the user </a:t>
                      </a:r>
                      <a:endParaRPr sz="1400" u="none" cap="none" strike="noStrike"/>
                    </a:p>
                  </a:txBody>
                  <a:tcPr marT="9525" marB="0" marR="68575" marL="68575" anchor="b"/>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User will get the error because of not log in to the website</a:t>
                      </a:r>
                      <a:endParaRPr sz="1100" u="none" cap="none" strike="noStrike">
                        <a:latin typeface="Calibri"/>
                        <a:ea typeface="Calibri"/>
                        <a:cs typeface="Calibri"/>
                        <a:sym typeface="Calibri"/>
                      </a:endParaRPr>
                    </a:p>
                  </a:txBody>
                  <a:tcPr marT="9525" marB="0" marR="68575" marL="68575" anchor="b"/>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Fail</a:t>
                      </a:r>
                      <a:endParaRPr sz="1400" u="none" cap="none" strike="noStrike"/>
                    </a:p>
                  </a:txBody>
                  <a:tcPr marT="9525" marB="0" marR="68575" marL="68575" anchor="b"/>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5"/>
          <p:cNvSpPr txBox="1"/>
          <p:nvPr>
            <p:ph idx="4294967295" type="title"/>
          </p:nvPr>
        </p:nvSpPr>
        <p:spPr>
          <a:xfrm>
            <a:off x="457200" y="274638"/>
            <a:ext cx="8229600" cy="6399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n-US"/>
              <a:t>Results</a:t>
            </a:r>
            <a:endParaRPr/>
          </a:p>
        </p:txBody>
      </p:sp>
      <p:sp>
        <p:nvSpPr>
          <p:cNvPr id="299" name="Google Shape;299;p45"/>
          <p:cNvSpPr txBox="1"/>
          <p:nvPr>
            <p:ph idx="4294967295" type="body"/>
          </p:nvPr>
        </p:nvSpPr>
        <p:spPr>
          <a:xfrm>
            <a:off x="228600" y="990600"/>
            <a:ext cx="8610600" cy="5257800"/>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n-US"/>
              <a:t>Machine learning</a:t>
            </a:r>
            <a:endParaRPr/>
          </a:p>
          <a:p>
            <a:pPr indent="-285750" lvl="1" marL="742950" rtl="0" algn="l">
              <a:lnSpc>
                <a:spcPct val="100000"/>
              </a:lnSpc>
              <a:spcBef>
                <a:spcPts val="518"/>
              </a:spcBef>
              <a:spcAft>
                <a:spcPts val="0"/>
              </a:spcAft>
              <a:buSzPts val="2800"/>
              <a:buChar char="–"/>
            </a:pPr>
            <a:r>
              <a:rPr lang="en-US"/>
              <a:t>Accuracy: 90%</a:t>
            </a:r>
            <a:endParaRPr/>
          </a:p>
          <a:p>
            <a:pPr indent="-285750" lvl="1" marL="742950" rtl="0" algn="l">
              <a:lnSpc>
                <a:spcPct val="100000"/>
              </a:lnSpc>
              <a:spcBef>
                <a:spcPts val="518"/>
              </a:spcBef>
              <a:spcAft>
                <a:spcPts val="0"/>
              </a:spcAft>
              <a:buSzPts val="2800"/>
              <a:buChar char="–"/>
            </a:pPr>
            <a:r>
              <a:rPr lang="en-US"/>
              <a:t>Precision: 93%</a:t>
            </a:r>
            <a:endParaRPr/>
          </a:p>
          <a:p>
            <a:pPr indent="-285750" lvl="1" marL="742950" rtl="0" algn="l">
              <a:lnSpc>
                <a:spcPct val="100000"/>
              </a:lnSpc>
              <a:spcBef>
                <a:spcPts val="518"/>
              </a:spcBef>
              <a:spcAft>
                <a:spcPts val="0"/>
              </a:spcAft>
              <a:buSzPts val="2800"/>
              <a:buChar char="–"/>
            </a:pPr>
            <a:r>
              <a:rPr lang="en-US"/>
              <a:t>Recall: 92%</a:t>
            </a:r>
            <a:endParaRPr/>
          </a:p>
          <a:p>
            <a:pPr indent="-285750" lvl="1" marL="742950" rtl="0" algn="l">
              <a:lnSpc>
                <a:spcPct val="100000"/>
              </a:lnSpc>
              <a:spcBef>
                <a:spcPts val="518"/>
              </a:spcBef>
              <a:spcAft>
                <a:spcPts val="0"/>
              </a:spcAft>
              <a:buSzPts val="2800"/>
              <a:buChar char="–"/>
            </a:pPr>
            <a:r>
              <a:rPr lang="en-US"/>
              <a:t>Inferences: Effective predictions, faster diagnosis.</a:t>
            </a:r>
            <a:endParaRPr/>
          </a:p>
          <a:p>
            <a:pPr indent="-299085" lvl="1" marL="742950" rtl="0" algn="l">
              <a:lnSpc>
                <a:spcPct val="100000"/>
              </a:lnSpc>
              <a:spcBef>
                <a:spcPts val="518"/>
              </a:spcBef>
              <a:spcAft>
                <a:spcPts val="0"/>
              </a:spcAft>
              <a:buSzPts val="2800"/>
              <a:buChar char="–"/>
            </a:pPr>
            <a:r>
              <a:t/>
            </a:r>
            <a:endParaRPr/>
          </a:p>
        </p:txBody>
      </p:sp>
      <p:pic>
        <p:nvPicPr>
          <p:cNvPr id="300" name="Google Shape;300;p45"/>
          <p:cNvPicPr preferRelativeResize="0"/>
          <p:nvPr/>
        </p:nvPicPr>
        <p:blipFill rotWithShape="1">
          <a:blip r:embed="rId3">
            <a:alphaModFix/>
          </a:blip>
          <a:srcRect b="0" l="0" r="0" t="0"/>
          <a:stretch/>
        </p:blipFill>
        <p:spPr>
          <a:xfrm>
            <a:off x="1502100" y="3731238"/>
            <a:ext cx="5114925" cy="29622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46"/>
          <p:cNvSpPr txBox="1"/>
          <p:nvPr>
            <p:ph idx="4294967295" type="title"/>
          </p:nvPr>
        </p:nvSpPr>
        <p:spPr>
          <a:xfrm>
            <a:off x="457200" y="274638"/>
            <a:ext cx="8229600" cy="6399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n-US"/>
              <a:t>Conclusion</a:t>
            </a:r>
            <a:endParaRPr/>
          </a:p>
        </p:txBody>
      </p:sp>
      <p:sp>
        <p:nvSpPr>
          <p:cNvPr id="306" name="Google Shape;306;p46"/>
          <p:cNvSpPr txBox="1"/>
          <p:nvPr>
            <p:ph idx="4294967295" type="body"/>
          </p:nvPr>
        </p:nvSpPr>
        <p:spPr>
          <a:xfrm>
            <a:off x="228600" y="990600"/>
            <a:ext cx="8610600" cy="5257800"/>
          </a:xfrm>
          <a:prstGeom prst="rect">
            <a:avLst/>
          </a:prstGeom>
          <a:noFill/>
          <a:ln>
            <a:noFill/>
          </a:ln>
        </p:spPr>
        <p:txBody>
          <a:bodyPr anchorCtr="0" anchor="t" bIns="45700" lIns="91425" spcFirstLastPara="1" rIns="91425" wrap="square" tIns="45700">
            <a:normAutofit/>
          </a:bodyPr>
          <a:lstStyle/>
          <a:p>
            <a:pPr indent="-279400" lvl="0" marL="342900" rtl="0" algn="just">
              <a:lnSpc>
                <a:spcPct val="100000"/>
              </a:lnSpc>
              <a:spcBef>
                <a:spcPts val="0"/>
              </a:spcBef>
              <a:spcAft>
                <a:spcPts val="0"/>
              </a:spcAft>
              <a:buSzPts val="2200"/>
              <a:buChar char="•"/>
            </a:pPr>
            <a:r>
              <a:rPr lang="en-US" sz="2800"/>
              <a:t>In this Project, our experiments indicate that early reviewer’s ratings and their received helpfulness scores are likely to influence product popularity at a later stage. </a:t>
            </a:r>
            <a:endParaRPr sz="2800"/>
          </a:p>
          <a:p>
            <a:pPr indent="-279400" lvl="0" marL="342900" rtl="0" algn="just">
              <a:lnSpc>
                <a:spcPct val="100000"/>
              </a:lnSpc>
              <a:spcBef>
                <a:spcPts val="0"/>
              </a:spcBef>
              <a:spcAft>
                <a:spcPts val="0"/>
              </a:spcAft>
              <a:buSzPts val="2200"/>
              <a:buChar char="•"/>
            </a:pPr>
            <a:r>
              <a:rPr lang="en-US" sz="2800"/>
              <a:t>So, in these we are using margin based embedding ranking model (MERM) and NLP algorithm for predicting early reviewers in E-Commerce websites. Then the user will instantly get accurate information about the product.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47"/>
          <p:cNvSpPr txBox="1"/>
          <p:nvPr>
            <p:ph idx="4294967295" type="title"/>
          </p:nvPr>
        </p:nvSpPr>
        <p:spPr>
          <a:xfrm>
            <a:off x="457200" y="274638"/>
            <a:ext cx="8229600" cy="639762"/>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n-US"/>
              <a:t>Future Work</a:t>
            </a:r>
            <a:endParaRPr/>
          </a:p>
        </p:txBody>
      </p:sp>
      <p:sp>
        <p:nvSpPr>
          <p:cNvPr id="312" name="Google Shape;312;p47"/>
          <p:cNvSpPr txBox="1"/>
          <p:nvPr>
            <p:ph idx="4294967295" type="body"/>
          </p:nvPr>
        </p:nvSpPr>
        <p:spPr>
          <a:xfrm>
            <a:off x="228600" y="990600"/>
            <a:ext cx="8610600" cy="5257800"/>
          </a:xfrm>
          <a:prstGeom prst="rect">
            <a:avLst/>
          </a:prstGeom>
          <a:noFill/>
          <a:ln>
            <a:noFill/>
          </a:ln>
        </p:spPr>
        <p:txBody>
          <a:bodyPr anchorCtr="0" anchor="t" bIns="45700" lIns="91425" spcFirstLastPara="1" rIns="91425" wrap="square" tIns="45700">
            <a:normAutofit/>
          </a:bodyPr>
          <a:lstStyle/>
          <a:p>
            <a:pPr indent="-266700" lvl="0" marL="342900" rtl="0" algn="just">
              <a:lnSpc>
                <a:spcPct val="100000"/>
              </a:lnSpc>
              <a:spcBef>
                <a:spcPts val="400"/>
              </a:spcBef>
              <a:spcAft>
                <a:spcPts val="0"/>
              </a:spcAft>
              <a:buSzPts val="2000"/>
              <a:buFont typeface="Noto Sans Symbols"/>
              <a:buChar char="•"/>
            </a:pPr>
            <a:r>
              <a:rPr lang="en-US" sz="2800"/>
              <a:t>In our current work, the review content is not considered. In the future, we will explore effective ways in incorporating review content into our early reviewer prediction model.</a:t>
            </a:r>
            <a:endParaRPr sz="2800"/>
          </a:p>
          <a:p>
            <a:pPr indent="-330200" lvl="0" marL="457200" rtl="0" algn="just">
              <a:lnSpc>
                <a:spcPct val="100000"/>
              </a:lnSpc>
              <a:spcBef>
                <a:spcPts val="400"/>
              </a:spcBef>
              <a:spcAft>
                <a:spcPts val="0"/>
              </a:spcAft>
              <a:buSzPts val="3200"/>
              <a:buNone/>
            </a:pPr>
            <a:r>
              <a:t/>
            </a:r>
            <a:endParaRPr sz="2800"/>
          </a:p>
          <a:p>
            <a:pPr indent="-279400" lvl="0" marL="342900" rtl="0" algn="just">
              <a:lnSpc>
                <a:spcPct val="100000"/>
              </a:lnSpc>
              <a:spcBef>
                <a:spcPts val="0"/>
              </a:spcBef>
              <a:spcAft>
                <a:spcPts val="0"/>
              </a:spcAft>
              <a:buSzPts val="2200"/>
              <a:buChar char="•"/>
            </a:pPr>
            <a:r>
              <a:rPr lang="en-US" sz="2800"/>
              <a:t>We will investigate other sources of in which social networks can be extracted and carry out more insightful analysis.  </a:t>
            </a:r>
            <a:endParaRPr sz="28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48"/>
          <p:cNvSpPr txBox="1"/>
          <p:nvPr>
            <p:ph idx="4294967295" type="title"/>
          </p:nvPr>
        </p:nvSpPr>
        <p:spPr>
          <a:xfrm>
            <a:off x="457200" y="274638"/>
            <a:ext cx="8229600" cy="639762"/>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n-US"/>
              <a:t>References</a:t>
            </a:r>
            <a:endParaRPr/>
          </a:p>
        </p:txBody>
      </p:sp>
      <p:sp>
        <p:nvSpPr>
          <p:cNvPr id="318" name="Google Shape;318;p48"/>
          <p:cNvSpPr txBox="1"/>
          <p:nvPr>
            <p:ph idx="4294967295" type="body"/>
          </p:nvPr>
        </p:nvSpPr>
        <p:spPr>
          <a:xfrm>
            <a:off x="228600" y="990600"/>
            <a:ext cx="8610600" cy="5257800"/>
          </a:xfrm>
          <a:prstGeom prst="rect">
            <a:avLst/>
          </a:prstGeom>
          <a:noFill/>
          <a:ln>
            <a:noFill/>
          </a:ln>
        </p:spPr>
        <p:txBody>
          <a:bodyPr anchorCtr="0" anchor="t" bIns="45700" lIns="91425" spcFirstLastPara="1" rIns="91425" wrap="square" tIns="45700">
            <a:normAutofit lnSpcReduction="20000"/>
          </a:bodyPr>
          <a:lstStyle/>
          <a:p>
            <a:pPr indent="-342900" lvl="0" marL="342900" rtl="0" algn="l">
              <a:lnSpc>
                <a:spcPct val="100000"/>
              </a:lnSpc>
              <a:spcBef>
                <a:spcPts val="0"/>
              </a:spcBef>
              <a:spcAft>
                <a:spcPts val="0"/>
              </a:spcAft>
              <a:buClr>
                <a:schemeClr val="dk1"/>
              </a:buClr>
              <a:buSzPts val="3200"/>
              <a:buChar char="•"/>
            </a:pPr>
            <a:r>
              <a:rPr b="1" lang="en-US" u="sng">
                <a:solidFill>
                  <a:schemeClr val="hlink"/>
                </a:solidFill>
                <a:hlinkClick r:id="rId3"/>
              </a:rPr>
              <a:t>https://en.wikipedia.org/wiki/Object-modeling_technique</a:t>
            </a:r>
            <a:r>
              <a:rPr b="1" lang="en-US" u="sng"/>
              <a:t>  &lt;Website Link&gt;</a:t>
            </a:r>
            <a:endParaRPr/>
          </a:p>
          <a:p>
            <a:pPr indent="-342900" lvl="0" marL="342900" rtl="0" algn="l">
              <a:lnSpc>
                <a:spcPct val="100000"/>
              </a:lnSpc>
              <a:spcBef>
                <a:spcPts val="640"/>
              </a:spcBef>
              <a:spcAft>
                <a:spcPts val="0"/>
              </a:spcAft>
              <a:buClr>
                <a:schemeClr val="dk1"/>
              </a:buClr>
              <a:buSzPts val="3200"/>
              <a:buChar char="•"/>
            </a:pPr>
            <a:r>
              <a:rPr b="1" lang="en-US" u="sng"/>
              <a:t>Book Reference: </a:t>
            </a:r>
            <a:endParaRPr/>
          </a:p>
          <a:p>
            <a:pPr indent="-342900" lvl="0" marL="342900" rtl="0" algn="l">
              <a:lnSpc>
                <a:spcPct val="100000"/>
              </a:lnSpc>
              <a:spcBef>
                <a:spcPts val="640"/>
              </a:spcBef>
              <a:spcAft>
                <a:spcPts val="0"/>
              </a:spcAft>
              <a:buClr>
                <a:schemeClr val="dk1"/>
              </a:buClr>
              <a:buSzPts val="3200"/>
              <a:buChar char="•"/>
            </a:pPr>
            <a:r>
              <a:rPr lang="en-US"/>
              <a:t>K. F. Victor and I. Z. Michael, “Intelligent data analysis and machine learning: Are they really equivalent Concepts?,” in </a:t>
            </a:r>
            <a:r>
              <a:rPr i="1" lang="en-US"/>
              <a:t>2017 Second Russia and Pacific Conference on Computer Technology and Applications (RPC)</a:t>
            </a:r>
            <a:r>
              <a:rPr lang="en-US"/>
              <a:t>, 2017, pp. 59–63.</a:t>
            </a:r>
            <a:endParaRPr/>
          </a:p>
          <a:p>
            <a:pPr indent="-342900" lvl="0" marL="342900" rtl="0" algn="l">
              <a:lnSpc>
                <a:spcPct val="100000"/>
              </a:lnSpc>
              <a:spcBef>
                <a:spcPts val="640"/>
              </a:spcBef>
              <a:spcAft>
                <a:spcPts val="0"/>
              </a:spcAft>
              <a:buSzPts val="3200"/>
              <a:buChar char="•"/>
            </a:pPr>
            <a:r>
              <a:rPr lang="en-US"/>
              <a:t>Github link of project</a:t>
            </a:r>
            <a:endParaRPr/>
          </a:p>
          <a:p>
            <a:pPr indent="-342900" lvl="0" marL="342900" rtl="0" algn="l">
              <a:lnSpc>
                <a:spcPct val="100000"/>
              </a:lnSpc>
              <a:spcBef>
                <a:spcPts val="640"/>
              </a:spcBef>
              <a:spcAft>
                <a:spcPts val="0"/>
              </a:spcAft>
              <a:buSzPts val="3200"/>
              <a:buChar char="•"/>
            </a:pPr>
            <a:r>
              <a:rPr lang="en-US"/>
              <a:t>Video link of project demo</a:t>
            </a:r>
            <a:endParaRPr/>
          </a:p>
          <a:p>
            <a:pPr indent="-139700" lvl="0" marL="342900" rtl="0" algn="l">
              <a:lnSpc>
                <a:spcPct val="100000"/>
              </a:lnSpc>
              <a:spcBef>
                <a:spcPts val="640"/>
              </a:spcBef>
              <a:spcAft>
                <a:spcPts val="0"/>
              </a:spcAft>
              <a:buClr>
                <a:schemeClr val="dk1"/>
              </a:buClr>
              <a:buSzPts val="3200"/>
              <a:buNone/>
            </a:pPr>
            <a:r>
              <a:t/>
            </a:r>
            <a:endParaRPr b="1" u="sng"/>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9"/>
          <p:cNvSpPr txBox="1"/>
          <p:nvPr>
            <p:ph idx="4294967295" type="title"/>
          </p:nvPr>
        </p:nvSpPr>
        <p:spPr>
          <a:xfrm>
            <a:off x="457200" y="274638"/>
            <a:ext cx="8229600" cy="6399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n-US"/>
              <a:t>Questions</a:t>
            </a:r>
            <a:endParaRPr/>
          </a:p>
        </p:txBody>
      </p:sp>
      <p:pic>
        <p:nvPicPr>
          <p:cNvPr id="324" name="Google Shape;324;p49"/>
          <p:cNvPicPr preferRelativeResize="0"/>
          <p:nvPr/>
        </p:nvPicPr>
        <p:blipFill rotWithShape="1">
          <a:blip r:embed="rId3">
            <a:alphaModFix/>
          </a:blip>
          <a:srcRect b="0" l="0" r="0" t="0"/>
          <a:stretch/>
        </p:blipFill>
        <p:spPr>
          <a:xfrm>
            <a:off x="2532925" y="2292525"/>
            <a:ext cx="3753125" cy="248847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pic>
        <p:nvPicPr>
          <p:cNvPr id="329" name="Google Shape;329;p50"/>
          <p:cNvPicPr preferRelativeResize="0"/>
          <p:nvPr/>
        </p:nvPicPr>
        <p:blipFill rotWithShape="1">
          <a:blip r:embed="rId3">
            <a:alphaModFix/>
          </a:blip>
          <a:srcRect b="0" l="0" r="0" t="0"/>
          <a:stretch/>
        </p:blipFill>
        <p:spPr>
          <a:xfrm>
            <a:off x="0" y="0"/>
            <a:ext cx="9144001" cy="6858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