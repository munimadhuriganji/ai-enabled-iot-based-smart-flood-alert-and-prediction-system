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ihPbpPDhQTbglJ6aKBNSOqNQNp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BB45F9-8B93-43EB-AD0F-8F0AA4469F54}">
  <a:tblStyle styleId="{3DBB45F9-8B93-43EB-AD0F-8F0AA4469F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EA4B501-ED30-4739-9250-A89668992E5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RobotoMono-bold.fntdata"/><Relationship Id="rId10" Type="http://schemas.openxmlformats.org/officeDocument/2006/relationships/slide" Target="slides/slide4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68400" y="708025"/>
            <a:ext cx="4535488" cy="34020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915294" y="4343703"/>
            <a:ext cx="5027414" cy="409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4825" lIns="89675" spcFirstLastPara="1" rIns="89675" wrap="square" tIns="44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/>
        </p:nvSpPr>
        <p:spPr>
          <a:xfrm>
            <a:off x="1371600" y="6687979"/>
            <a:ext cx="59848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SEC-  DEPARTMENT OF CSE(IOT)–  3- 1 – MINIPROJECT– slide# 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5"/>
          <p:cNvSpPr txBox="1"/>
          <p:nvPr/>
        </p:nvSpPr>
        <p:spPr>
          <a:xfrm>
            <a:off x="457200" y="274638"/>
            <a:ext cx="8229600" cy="584200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5"/>
          <p:cNvSpPr txBox="1"/>
          <p:nvPr/>
        </p:nvSpPr>
        <p:spPr>
          <a:xfrm>
            <a:off x="457200" y="1027113"/>
            <a:ext cx="8229600" cy="540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ELCOT\Desktop\Saveetha Logo.png" id="19" name="Google Shape;19;p25"/>
          <p:cNvPicPr preferRelativeResize="0"/>
          <p:nvPr/>
        </p:nvPicPr>
        <p:blipFill rotWithShape="1">
          <a:blip r:embed="rId2">
            <a:alphaModFix/>
          </a:blip>
          <a:srcRect b="28149" l="0" r="26619" t="0"/>
          <a:stretch/>
        </p:blipFill>
        <p:spPr>
          <a:xfrm>
            <a:off x="6588225" y="2899"/>
            <a:ext cx="2570075" cy="2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Miniproject(19AI701) – Review 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21575" y="990600"/>
            <a:ext cx="8717700" cy="4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AI-ENABLED IOT BASED SMART FLOOD ALERT AND PREDICTION SYSTEM</a:t>
            </a:r>
            <a:br>
              <a:rPr lang="en-US" sz="320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SHIVRAJ R (212223110051)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GANJI MUNI MADHURI (212223230060)</a:t>
            </a:r>
            <a:endParaRPr b="1" sz="3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3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2023-2027 Batch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TEAM NO: 087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JABA JASPHIN E.T</a:t>
            </a:r>
            <a:endParaRPr b="1"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NAME OF THE GUIDE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JABA JASPHIN E.T</a:t>
            </a:r>
            <a:endParaRPr b="1"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Professor(SG)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Designation, Department of AIDS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619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619" lvl="1" marL="74295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342900" y="5380675"/>
            <a:ext cx="9829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ENGINEERING(IOT)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ENGINEERING COLLEGE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(Autonomous Institution – UGC, Govt. of India)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(Affiliated to Anna University, Approved by AICTE - Accredited by NBA &amp; NAAC – ‘A’ Grade - ISO 9001:2015 Certified)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Nagar, Thandalam, Chennai-602 105, TamilNadu, INDIA.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294" lvl="1" marL="742950" marR="0" rtl="0" algn="l">
              <a:lnSpc>
                <a:spcPct val="100000"/>
              </a:lnSpc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7525" y="4875150"/>
            <a:ext cx="6858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3" name="Google Shape;103;p2"/>
          <p:cNvSpPr txBox="1"/>
          <p:nvPr>
            <p:ph idx="4294967295" type="body"/>
          </p:nvPr>
        </p:nvSpPr>
        <p:spPr>
          <a:xfrm>
            <a:off x="228600" y="990600"/>
            <a:ext cx="8759400" cy="57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440556" lvl="0" marL="51435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5094"/>
              <a:t>Introduction</a:t>
            </a:r>
            <a:endParaRPr b="1" sz="5094"/>
          </a:p>
          <a:p>
            <a:pPr indent="-439419" lvl="0" marL="51435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5050"/>
              <a:t>Statement of the Problem</a:t>
            </a:r>
            <a:endParaRPr b="1" sz="5050"/>
          </a:p>
          <a:p>
            <a:pPr indent="-482867" lvl="1" marL="1028700" rtl="0" algn="l">
              <a:spcBef>
                <a:spcPts val="560"/>
              </a:spcBef>
              <a:spcAft>
                <a:spcPts val="0"/>
              </a:spcAft>
              <a:buSzPct val="100000"/>
              <a:buFont typeface="Calibri"/>
              <a:buAutoNum type="romanLcPeriod"/>
            </a:pPr>
            <a:r>
              <a:rPr lang="en-US" sz="3510"/>
              <a:t>Communication issues during emergencies</a:t>
            </a:r>
            <a:endParaRPr sz="3510"/>
          </a:p>
          <a:p>
            <a:pPr indent="-482867" lvl="1" marL="1028700" rtl="0" algn="l">
              <a:spcBef>
                <a:spcPts val="560"/>
              </a:spcBef>
              <a:spcAft>
                <a:spcPts val="0"/>
              </a:spcAft>
              <a:buSzPct val="100000"/>
              <a:buAutoNum type="romanLcPeriod"/>
            </a:pPr>
            <a:r>
              <a:rPr lang="en-US" sz="3510"/>
              <a:t>Existing challenges in flood detection</a:t>
            </a:r>
            <a:endParaRPr sz="3510"/>
          </a:p>
          <a:p>
            <a:pPr indent="-482867" lvl="1" marL="1028700" rtl="0" algn="l">
              <a:spcBef>
                <a:spcPts val="560"/>
              </a:spcBef>
              <a:spcAft>
                <a:spcPts val="0"/>
              </a:spcAft>
              <a:buSzPct val="100000"/>
              <a:buAutoNum type="romanLcPeriod"/>
            </a:pPr>
            <a:r>
              <a:rPr lang="en-US" sz="3510"/>
              <a:t>Need for predictive and intelligent monitoring</a:t>
            </a:r>
            <a:endParaRPr sz="3510"/>
          </a:p>
          <a:p>
            <a:pPr indent="-438150" lvl="0" marL="51435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5000"/>
              <a:t>Purpose of your project</a:t>
            </a:r>
            <a:endParaRPr b="1" sz="5000"/>
          </a:p>
          <a:p>
            <a:pPr indent="-483869" lvl="1" marL="1028700" rtl="0" algn="l">
              <a:spcBef>
                <a:spcPts val="560"/>
              </a:spcBef>
              <a:spcAft>
                <a:spcPts val="0"/>
              </a:spcAft>
              <a:buSzPct val="100000"/>
              <a:buFont typeface="Calibri"/>
              <a:buAutoNum type="romanLcPeriod"/>
            </a:pPr>
            <a:r>
              <a:rPr lang="en-US" sz="3550"/>
              <a:t>Importance of early flood warnings </a:t>
            </a:r>
            <a:endParaRPr sz="3550"/>
          </a:p>
          <a:p>
            <a:pPr indent="-483869" lvl="1" marL="1028700" rtl="0" algn="l">
              <a:spcBef>
                <a:spcPts val="560"/>
              </a:spcBef>
              <a:spcAft>
                <a:spcPts val="0"/>
              </a:spcAft>
              <a:buSzPct val="100000"/>
              <a:buAutoNum type="romanLcPeriod"/>
            </a:pPr>
            <a:r>
              <a:rPr lang="en-US" sz="3550"/>
              <a:t>Integration of IoT and AI for disaster management</a:t>
            </a:r>
            <a:endParaRPr sz="3550"/>
          </a:p>
          <a:p>
            <a:pPr indent="-495300" lvl="0" marL="62865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5000"/>
              <a:t>Proposed Methodology </a:t>
            </a:r>
            <a:endParaRPr b="1" sz="5000"/>
          </a:p>
          <a:p>
            <a:pPr indent="-482600" lvl="1" marL="1028700" rtl="0" algn="l">
              <a:spcBef>
                <a:spcPts val="560"/>
              </a:spcBef>
              <a:spcAft>
                <a:spcPts val="0"/>
              </a:spcAft>
              <a:buSzPct val="100000"/>
              <a:buFont typeface="Calibri"/>
              <a:buAutoNum type="romanLcPeriod"/>
            </a:pPr>
            <a:r>
              <a:rPr lang="en-US" sz="3500"/>
              <a:t>Data Collection</a:t>
            </a:r>
            <a:endParaRPr sz="3500"/>
          </a:p>
          <a:p>
            <a:pPr indent="-482600" lvl="1" marL="1028700" rtl="0" algn="l">
              <a:spcBef>
                <a:spcPts val="560"/>
              </a:spcBef>
              <a:spcAft>
                <a:spcPts val="0"/>
              </a:spcAft>
              <a:buSzPct val="100000"/>
              <a:buAutoNum type="romanLcPeriod"/>
            </a:pPr>
            <a:r>
              <a:rPr lang="en-US" sz="3500"/>
              <a:t>AI/ML Model</a:t>
            </a:r>
            <a:endParaRPr sz="3500"/>
          </a:p>
          <a:p>
            <a:pPr indent="-482600" lvl="1" marL="1028700" rtl="0" algn="l">
              <a:spcBef>
                <a:spcPts val="560"/>
              </a:spcBef>
              <a:spcAft>
                <a:spcPts val="0"/>
              </a:spcAft>
              <a:buSzPct val="100000"/>
              <a:buAutoNum type="romanLcPeriod"/>
            </a:pPr>
            <a:r>
              <a:rPr lang="en-US" sz="3500"/>
              <a:t>Alert Mechanisms</a:t>
            </a:r>
            <a:endParaRPr sz="3500"/>
          </a:p>
          <a:p>
            <a:pPr indent="-495300" lvl="0" marL="62865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5000"/>
              <a:t>Expected results and </a:t>
            </a:r>
            <a:r>
              <a:rPr b="1" lang="en-US" sz="5000"/>
              <a:t>its Implications</a:t>
            </a:r>
            <a:endParaRPr b="1" sz="5000"/>
          </a:p>
          <a:p>
            <a:pPr indent="-495300" lvl="0" marL="628650" rtl="0" algn="l">
              <a:spcBef>
                <a:spcPts val="64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 sz="5000"/>
              <a:t>Literature review</a:t>
            </a:r>
            <a:endParaRPr b="1" sz="5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 sz="5000"/>
              <a:t>     Project Plan</a:t>
            </a:r>
            <a:endParaRPr b="1" sz="5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 sz="5000"/>
              <a:t>    Conclusion</a:t>
            </a:r>
            <a:endParaRPr b="1" sz="5000"/>
          </a:p>
          <a:p>
            <a:pPr indent="-438150" lvl="0" marL="514350" rtl="0" algn="l">
              <a:spcBef>
                <a:spcPts val="64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b="1" lang="en-US" sz="5000"/>
              <a:t>References</a:t>
            </a:r>
            <a:endParaRPr b="1" sz="50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9" name="Google Shape;109;p3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spcBef>
                <a:spcPts val="518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AI-based Flood Prediction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Floods cause severe loss of life, property, and infrastructure in vulnerable regions.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Climate change has increased the frequency and severity of floods globally.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Traditional monitoring systems are manual or threshold-based, leading     to delayed alerts.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AI can analyze rainfall and water level data to classify risk levels (Low, Medium, High).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Real-time alerts through dashboards/notifications help in proactive disaster management.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Helps authorities in better planning of evacuation and resource allocation.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Supports sustainable disaster management using modern technology.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Statement of the Problem</a:t>
            </a:r>
            <a:endParaRPr/>
          </a:p>
        </p:txBody>
      </p:sp>
      <p:sp>
        <p:nvSpPr>
          <p:cNvPr id="115" name="Google Shape;115;p4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Challenges in Flood Monitoring</a:t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-37084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Floods remain unpredictable due to sudden rainfall and rising water levels.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7084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Existing systems rely on manual observation or simple threshold alarms, which may be inaccurate or delayed.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7084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Lack of integration between real-time data and predictive analysis reduces early warning efficiency.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7084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Communities and authorities face difficulties in taking timely preventive action.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7084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Delayed or inaccurate alerts prevent authorities from taking timely preventive actions.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en-US" sz="1100">
                <a:latin typeface="Arial"/>
                <a:ea typeface="Arial"/>
                <a:cs typeface="Arial"/>
                <a:sym typeface="Arial"/>
              </a:rPr>
            </a:b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Purpose of the project</a:t>
            </a:r>
            <a:endParaRPr/>
          </a:p>
        </p:txBody>
      </p:sp>
      <p:sp>
        <p:nvSpPr>
          <p:cNvPr id="121" name="Google Shape;121;p5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390525" lvl="0" marL="457200" rtl="0" algn="l">
              <a:spcBef>
                <a:spcPts val="518"/>
              </a:spcBef>
              <a:spcAft>
                <a:spcPts val="0"/>
              </a:spcAft>
              <a:buSzPct val="100000"/>
              <a:buChar char="●"/>
            </a:pPr>
            <a:r>
              <a:rPr b="1" lang="en-US" sz="3642">
                <a:latin typeface="Arial"/>
                <a:ea typeface="Arial"/>
                <a:cs typeface="Arial"/>
                <a:sym typeface="Arial"/>
              </a:rPr>
              <a:t>AI-driven Flood Prediction System</a:t>
            </a:r>
            <a:endParaRPr b="1" sz="3642">
              <a:latin typeface="Arial"/>
              <a:ea typeface="Arial"/>
              <a:cs typeface="Arial"/>
              <a:sym typeface="Arial"/>
            </a:endParaRPr>
          </a:p>
          <a:p>
            <a:pPr indent="-37251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3237">
                <a:latin typeface="Arial"/>
                <a:ea typeface="Arial"/>
                <a:cs typeface="Arial"/>
                <a:sym typeface="Arial"/>
              </a:rPr>
              <a:t>To build an AI-based flood prediction mode</a:t>
            </a:r>
            <a:r>
              <a:rPr b="1" lang="en-US" sz="3237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3237">
                <a:latin typeface="Arial"/>
                <a:ea typeface="Arial"/>
                <a:cs typeface="Arial"/>
                <a:sym typeface="Arial"/>
              </a:rPr>
              <a:t> that enhances early warning accuracy.</a:t>
            </a:r>
            <a:endParaRPr sz="3237">
              <a:latin typeface="Arial"/>
              <a:ea typeface="Arial"/>
              <a:cs typeface="Arial"/>
              <a:sym typeface="Arial"/>
            </a:endParaRPr>
          </a:p>
          <a:p>
            <a:pPr indent="-372517" lvl="1" marL="914400" rtl="0" algn="l">
              <a:spcBef>
                <a:spcPts val="518"/>
              </a:spcBef>
              <a:spcAft>
                <a:spcPts val="0"/>
              </a:spcAft>
              <a:buSzPct val="100000"/>
              <a:buChar char="○"/>
            </a:pPr>
            <a:r>
              <a:rPr lang="en-US" sz="3237">
                <a:latin typeface="Arial"/>
                <a:ea typeface="Arial"/>
                <a:cs typeface="Arial"/>
                <a:sym typeface="Arial"/>
              </a:rPr>
              <a:t>To develop a system that predicts flood risk levels (Low,</a:t>
            </a:r>
            <a:r>
              <a:rPr i="1" lang="en-US" sz="3237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37">
                <a:latin typeface="Arial"/>
                <a:ea typeface="Arial"/>
                <a:cs typeface="Arial"/>
                <a:sym typeface="Arial"/>
              </a:rPr>
              <a:t>Medium, High) using rainfall and water level data.</a:t>
            </a:r>
            <a:endParaRPr sz="3237">
              <a:latin typeface="Arial"/>
              <a:ea typeface="Arial"/>
              <a:cs typeface="Arial"/>
              <a:sym typeface="Arial"/>
            </a:endParaRPr>
          </a:p>
          <a:p>
            <a:pPr indent="-372517" lvl="1" marL="914400" rtl="0" algn="l">
              <a:spcBef>
                <a:spcPts val="518"/>
              </a:spcBef>
              <a:spcAft>
                <a:spcPts val="0"/>
              </a:spcAft>
              <a:buSzPct val="100000"/>
              <a:buChar char="○"/>
            </a:pPr>
            <a:r>
              <a:rPr lang="en-US" sz="3237">
                <a:latin typeface="Arial"/>
                <a:ea typeface="Arial"/>
                <a:cs typeface="Arial"/>
                <a:sym typeface="Arial"/>
              </a:rPr>
              <a:t>To leverage AI/ML models for accurate and timely flood forecasting.</a:t>
            </a:r>
            <a:endParaRPr sz="3237">
              <a:latin typeface="Arial"/>
              <a:ea typeface="Arial"/>
              <a:cs typeface="Arial"/>
              <a:sym typeface="Arial"/>
            </a:endParaRPr>
          </a:p>
          <a:p>
            <a:pPr indent="-37251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3237">
                <a:latin typeface="Arial"/>
                <a:ea typeface="Arial"/>
                <a:cs typeface="Arial"/>
                <a:sym typeface="Arial"/>
              </a:rPr>
              <a:t>To provide real-time alerts through dashboards, SMS, and notifications for effective disaster response.</a:t>
            </a:r>
            <a:endParaRPr sz="3237">
              <a:latin typeface="Arial"/>
              <a:ea typeface="Arial"/>
              <a:cs typeface="Arial"/>
              <a:sym typeface="Arial"/>
            </a:endParaRPr>
          </a:p>
          <a:p>
            <a:pPr indent="-37251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3237">
                <a:latin typeface="Arial"/>
                <a:ea typeface="Arial"/>
                <a:cs typeface="Arial"/>
                <a:sym typeface="Arial"/>
              </a:rPr>
              <a:t>To support government agencies and communities in minimizing flood impact.</a:t>
            </a:r>
            <a:endParaRPr sz="3237">
              <a:latin typeface="Arial"/>
              <a:ea typeface="Arial"/>
              <a:cs typeface="Arial"/>
              <a:sym typeface="Arial"/>
            </a:endParaRPr>
          </a:p>
          <a:p>
            <a:pPr indent="-37251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3237">
                <a:latin typeface="Arial"/>
                <a:ea typeface="Arial"/>
                <a:cs typeface="Arial"/>
                <a:sym typeface="Arial"/>
              </a:rPr>
              <a:t>To provide timely alerts via dashboards, SMS, and notifications to stakeholders.</a:t>
            </a:r>
            <a:endParaRPr sz="3237">
              <a:latin typeface="Arial"/>
              <a:ea typeface="Arial"/>
              <a:cs typeface="Arial"/>
              <a:sym typeface="Arial"/>
            </a:endParaRPr>
          </a:p>
          <a:p>
            <a:pPr indent="-37251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3237">
                <a:latin typeface="Arial"/>
                <a:ea typeface="Arial"/>
                <a:cs typeface="Arial"/>
                <a:sym typeface="Arial"/>
              </a:rPr>
              <a:t>To demonstrate how AI and IoT can support smart disaster management.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Proposed Methodology</a:t>
            </a:r>
            <a:endParaRPr/>
          </a:p>
        </p:txBody>
      </p:sp>
      <p:sp>
        <p:nvSpPr>
          <p:cNvPr id="127" name="Google Shape;127;p6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-252778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7123">
                <a:latin typeface="Arial"/>
                <a:ea typeface="Arial"/>
                <a:cs typeface="Arial"/>
                <a:sym typeface="Arial"/>
              </a:rPr>
              <a:t>IoT and Data Collection</a:t>
            </a:r>
            <a:endParaRPr b="1" sz="7123">
              <a:latin typeface="Arial"/>
              <a:ea typeface="Arial"/>
              <a:cs typeface="Arial"/>
              <a:sym typeface="Arial"/>
            </a:endParaRPr>
          </a:p>
          <a:p>
            <a:pPr indent="-221028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123">
                <a:latin typeface="Arial"/>
                <a:ea typeface="Arial"/>
                <a:cs typeface="Arial"/>
                <a:sym typeface="Arial"/>
              </a:rPr>
              <a:t> Use rainfall and water level sensor data (simulated in this project).</a:t>
            </a:r>
            <a:endParaRPr b="1" sz="7123">
              <a:latin typeface="Arial"/>
              <a:ea typeface="Arial"/>
              <a:cs typeface="Arial"/>
              <a:sym typeface="Arial"/>
            </a:endParaRPr>
          </a:p>
          <a:p>
            <a:pPr indent="-221028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123">
                <a:latin typeface="Arial"/>
                <a:ea typeface="Arial"/>
                <a:cs typeface="Arial"/>
                <a:sym typeface="Arial"/>
              </a:rPr>
              <a:t> Real-time data logging and transmission for analysis.</a:t>
            </a:r>
            <a:br>
              <a:rPr lang="en-US" sz="7123">
                <a:latin typeface="Arial"/>
                <a:ea typeface="Arial"/>
                <a:cs typeface="Arial"/>
                <a:sym typeface="Arial"/>
              </a:rPr>
            </a:br>
            <a:endParaRPr sz="7123">
              <a:latin typeface="Arial"/>
              <a:ea typeface="Arial"/>
              <a:cs typeface="Arial"/>
              <a:sym typeface="Arial"/>
            </a:endParaRPr>
          </a:p>
          <a:p>
            <a:pPr indent="-252778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7123">
                <a:latin typeface="Arial"/>
                <a:ea typeface="Arial"/>
                <a:cs typeface="Arial"/>
                <a:sym typeface="Arial"/>
              </a:rPr>
              <a:t>AI/ML Model Development</a:t>
            </a:r>
            <a:endParaRPr b="1" sz="7123">
              <a:latin typeface="Arial"/>
              <a:ea typeface="Arial"/>
              <a:cs typeface="Arial"/>
              <a:sym typeface="Arial"/>
            </a:endParaRPr>
          </a:p>
          <a:p>
            <a:pPr indent="-221028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123">
                <a:latin typeface="Arial"/>
                <a:ea typeface="Arial"/>
                <a:cs typeface="Arial"/>
                <a:sym typeface="Arial"/>
              </a:rPr>
              <a:t>Apply algorithms such as Decision Tree and Logistic Regression.</a:t>
            </a:r>
            <a:endParaRPr sz="7123">
              <a:latin typeface="Arial"/>
              <a:ea typeface="Arial"/>
              <a:cs typeface="Arial"/>
              <a:sym typeface="Arial"/>
            </a:endParaRPr>
          </a:p>
          <a:p>
            <a:pPr indent="-221028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123">
                <a:latin typeface="Arial"/>
                <a:ea typeface="Arial"/>
                <a:cs typeface="Arial"/>
                <a:sym typeface="Arial"/>
              </a:rPr>
              <a:t>Classify risk levels into </a:t>
            </a:r>
            <a:r>
              <a:rPr i="1" lang="en-US" sz="7123">
                <a:latin typeface="Arial"/>
                <a:ea typeface="Arial"/>
                <a:cs typeface="Arial"/>
                <a:sym typeface="Arial"/>
              </a:rPr>
              <a:t>Low, Medium, High</a:t>
            </a:r>
            <a:r>
              <a:rPr lang="en-US" sz="7123">
                <a:latin typeface="Arial"/>
                <a:ea typeface="Arial"/>
                <a:cs typeface="Arial"/>
                <a:sym typeface="Arial"/>
              </a:rPr>
              <a:t> based on patterns.</a:t>
            </a:r>
            <a:br>
              <a:rPr lang="en-US" sz="7123">
                <a:latin typeface="Arial"/>
                <a:ea typeface="Arial"/>
                <a:cs typeface="Arial"/>
                <a:sym typeface="Arial"/>
              </a:rPr>
            </a:br>
            <a:endParaRPr sz="7123">
              <a:latin typeface="Arial"/>
              <a:ea typeface="Arial"/>
              <a:cs typeface="Arial"/>
              <a:sym typeface="Arial"/>
            </a:endParaRPr>
          </a:p>
          <a:p>
            <a:pPr indent="-252778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7123">
                <a:latin typeface="Arial"/>
                <a:ea typeface="Arial"/>
                <a:cs typeface="Arial"/>
                <a:sym typeface="Arial"/>
              </a:rPr>
              <a:t>Alert Mechanisms</a:t>
            </a:r>
            <a:endParaRPr b="1" sz="7123">
              <a:latin typeface="Arial"/>
              <a:ea typeface="Arial"/>
              <a:cs typeface="Arial"/>
              <a:sym typeface="Arial"/>
            </a:endParaRPr>
          </a:p>
          <a:p>
            <a:pPr indent="-221028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123">
                <a:latin typeface="Arial"/>
                <a:ea typeface="Arial"/>
                <a:cs typeface="Arial"/>
                <a:sym typeface="Arial"/>
              </a:rPr>
              <a:t>Dashboard (Flask-based) for real-time monitoring.</a:t>
            </a:r>
            <a:endParaRPr sz="7123">
              <a:latin typeface="Arial"/>
              <a:ea typeface="Arial"/>
              <a:cs typeface="Arial"/>
              <a:sym typeface="Arial"/>
            </a:endParaRPr>
          </a:p>
          <a:p>
            <a:pPr indent="-221028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123">
                <a:latin typeface="Arial"/>
                <a:ea typeface="Arial"/>
                <a:cs typeface="Arial"/>
                <a:sym typeface="Arial"/>
              </a:rPr>
              <a:t>SMS/email alerts and local notifications (buzzer/LED simulation).</a:t>
            </a:r>
            <a:br>
              <a:rPr lang="en-US" sz="7123">
                <a:latin typeface="Arial"/>
                <a:ea typeface="Arial"/>
                <a:cs typeface="Arial"/>
                <a:sym typeface="Arial"/>
              </a:rPr>
            </a:br>
            <a:endParaRPr sz="7123">
              <a:latin typeface="Arial"/>
              <a:ea typeface="Arial"/>
              <a:cs typeface="Arial"/>
              <a:sym typeface="Arial"/>
            </a:endParaRPr>
          </a:p>
          <a:p>
            <a:pPr indent="-252778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7123">
                <a:latin typeface="Arial"/>
                <a:ea typeface="Arial"/>
                <a:cs typeface="Arial"/>
                <a:sym typeface="Arial"/>
              </a:rPr>
              <a:t>Testing &amp; Validation</a:t>
            </a:r>
            <a:endParaRPr b="1" sz="7123">
              <a:latin typeface="Arial"/>
              <a:ea typeface="Arial"/>
              <a:cs typeface="Arial"/>
              <a:sym typeface="Arial"/>
            </a:endParaRPr>
          </a:p>
          <a:p>
            <a:pPr indent="-221028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123">
                <a:latin typeface="Arial"/>
                <a:ea typeface="Arial"/>
                <a:cs typeface="Arial"/>
                <a:sym typeface="Arial"/>
              </a:rPr>
              <a:t>Simulated rainfall and water level scenarios used to validate model accuracy.</a:t>
            </a:r>
            <a:endParaRPr b="1" sz="7123">
              <a:latin typeface="Arial"/>
              <a:ea typeface="Arial"/>
              <a:cs typeface="Arial"/>
              <a:sym typeface="Arial"/>
            </a:endParaRPr>
          </a:p>
          <a:p>
            <a:pPr indent="-162426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175"/>
              <a:buChar char="○"/>
            </a:pPr>
            <a:r>
              <a:rPr lang="en-US" sz="7123">
                <a:latin typeface="Arial"/>
                <a:ea typeface="Arial"/>
                <a:cs typeface="Arial"/>
                <a:sym typeface="Arial"/>
              </a:rPr>
              <a:t>System performance evaluated based on prediction accuracy and alert timing.</a:t>
            </a:r>
            <a:br>
              <a:rPr lang="en-US" sz="2413">
                <a:latin typeface="Arial"/>
                <a:ea typeface="Arial"/>
                <a:cs typeface="Arial"/>
                <a:sym typeface="Arial"/>
              </a:rPr>
            </a:br>
            <a:br>
              <a:rPr lang="en-US" sz="2413">
                <a:latin typeface="Arial"/>
                <a:ea typeface="Arial"/>
                <a:cs typeface="Arial"/>
                <a:sym typeface="Arial"/>
              </a:rPr>
            </a:b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Expected Results and Implications</a:t>
            </a:r>
            <a:endParaRPr/>
          </a:p>
        </p:txBody>
      </p:sp>
      <p:sp>
        <p:nvSpPr>
          <p:cNvPr id="133" name="Google Shape;133;p7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518"/>
              </a:spcBef>
              <a:spcAft>
                <a:spcPts val="0"/>
              </a:spcAft>
              <a:buSzPts val="2400"/>
              <a:buChar char="●"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Expected Results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AI model accurately classifies flood risk levels (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Low, Medium, High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Real-time dashboard displays live monitoring of rainfall and water level trends.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Alert system (SMS/notifications) provides timely warnings to users.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Implications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Helps authorities and communities take preventive action before floods occur.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Reduces loss of life, property, and infrastructure damage.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Supports smart disaster management using AI and IoT technologies.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Demonstrates the potential of AI-driven solutions for real-world disaster prediction.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Literature Review-Reference Paper 1</a:t>
            </a:r>
            <a:endParaRPr/>
          </a:p>
        </p:txBody>
      </p:sp>
      <p:sp>
        <p:nvSpPr>
          <p:cNvPr id="139" name="Google Shape;139;p8"/>
          <p:cNvSpPr txBox="1"/>
          <p:nvPr>
            <p:ph idx="4294967295" type="body"/>
          </p:nvPr>
        </p:nvSpPr>
        <p:spPr>
          <a:xfrm>
            <a:off x="228600" y="990600"/>
            <a:ext cx="8610600" cy="5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952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62"/>
              <a:buChar char="•"/>
            </a:pPr>
            <a:r>
              <a:rPr b="1" lang="en-US" sz="2480"/>
              <a:t>Paper Title</a:t>
            </a:r>
            <a:endParaRPr b="1" sz="2480"/>
          </a:p>
          <a:p>
            <a:pPr indent="-322103" lvl="1" marL="91440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1473"/>
              <a:buChar char="–"/>
            </a:pPr>
            <a:r>
              <a:rPr lang="en-US" sz="1693"/>
              <a:t> "An Integrated IoT and Machine Learning Framework for Real-Time Flood Forecasting" (Sharma &amp; Gupta, 2021)</a:t>
            </a:r>
            <a:r>
              <a:rPr lang="en-US" sz="1472"/>
              <a:t>.</a:t>
            </a:r>
            <a:endParaRPr sz="1472"/>
          </a:p>
          <a:p>
            <a:pPr indent="-356552" lvl="0" marL="45720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2015"/>
              <a:buChar char="•"/>
            </a:pPr>
            <a:r>
              <a:rPr b="1" lang="en-US" sz="2480"/>
              <a:t>Problem statement</a:t>
            </a:r>
            <a:endParaRPr b="1" sz="2480"/>
          </a:p>
          <a:p>
            <a:pPr indent="-334406" lvl="1" marL="91440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1666"/>
              <a:buChar char="–"/>
            </a:pPr>
            <a:r>
              <a:rPr lang="en-US" sz="1666"/>
              <a:t>Traditional hydrological models for flood prediction are often computationally intensive and rely on historical data, making them slow to react to sudden, extreme weather events.</a:t>
            </a:r>
            <a:endParaRPr sz="1666"/>
          </a:p>
          <a:p>
            <a:pPr indent="-356552" lvl="0" marL="45720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2015"/>
              <a:buChar char="•"/>
            </a:pPr>
            <a:r>
              <a:rPr b="1" lang="en-US" sz="2480"/>
              <a:t>Problem approach</a:t>
            </a:r>
            <a:endParaRPr b="1" sz="2480"/>
          </a:p>
          <a:p>
            <a:pPr indent="-325596" lvl="1" marL="91440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1528"/>
              <a:buChar char="–"/>
            </a:pPr>
            <a:r>
              <a:rPr lang="en-US" sz="1527">
                <a:latin typeface="Arial"/>
                <a:ea typeface="Arial"/>
                <a:cs typeface="Arial"/>
                <a:sym typeface="Arial"/>
              </a:rPr>
              <a:t>The authors deployed a network of low-cost IoT nodes with ultrasonic water level sensors and rain gauges. </a:t>
            </a:r>
            <a:endParaRPr sz="1527">
              <a:latin typeface="Arial"/>
              <a:ea typeface="Arial"/>
              <a:cs typeface="Arial"/>
              <a:sym typeface="Arial"/>
            </a:endParaRPr>
          </a:p>
          <a:p>
            <a:pPr indent="-325596" lvl="1" marL="91440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1528"/>
              <a:buChar char="–"/>
            </a:pPr>
            <a:r>
              <a:rPr lang="en-US" sz="1527">
                <a:latin typeface="Arial"/>
                <a:ea typeface="Arial"/>
                <a:cs typeface="Arial"/>
                <a:sym typeface="Arial"/>
              </a:rPr>
              <a:t>Data was streamed to a cloud server where a </a:t>
            </a:r>
            <a:r>
              <a:rPr b="1" lang="en-US" sz="1527">
                <a:latin typeface="Arial"/>
                <a:ea typeface="Arial"/>
                <a:cs typeface="Arial"/>
                <a:sym typeface="Arial"/>
              </a:rPr>
              <a:t>Random Forest</a:t>
            </a:r>
            <a:r>
              <a:rPr lang="en-US" sz="1527">
                <a:latin typeface="Arial"/>
                <a:ea typeface="Arial"/>
                <a:cs typeface="Arial"/>
                <a:sym typeface="Arial"/>
              </a:rPr>
              <a:t> algorithm was trained to predict water levels 3-6 hours in advance.</a:t>
            </a:r>
            <a:endParaRPr sz="1527"/>
          </a:p>
          <a:p>
            <a:pPr indent="-356552" lvl="0" marL="45720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2015"/>
              <a:buChar char="•"/>
            </a:pPr>
            <a:r>
              <a:rPr b="1" lang="en-US" sz="2480"/>
              <a:t>Advantages  </a:t>
            </a:r>
            <a:endParaRPr b="1" sz="2480"/>
          </a:p>
          <a:p>
            <a:pPr indent="-338976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38"/>
              <a:buChar char="–"/>
            </a:pPr>
            <a:r>
              <a:rPr lang="en-US" sz="1738"/>
              <a:t>Achieved a high prediction accuracy of over 95%. The use of low-cost hardware makes the system scalable for wide-area deployment.</a:t>
            </a:r>
            <a:endParaRPr sz="1738"/>
          </a:p>
          <a:p>
            <a:pPr indent="-356552" lvl="0" marL="45720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2015"/>
              <a:buChar char="•"/>
            </a:pPr>
            <a:r>
              <a:rPr b="1" lang="en-US" sz="2480"/>
              <a:t>Drawbacks</a:t>
            </a:r>
            <a:endParaRPr b="1" sz="2480"/>
          </a:p>
          <a:p>
            <a:pPr indent="-350288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16"/>
              <a:buChar char="–"/>
            </a:pPr>
            <a:r>
              <a:rPr lang="en-US" sz="1916"/>
              <a:t> </a:t>
            </a:r>
            <a:r>
              <a:rPr lang="en-US" sz="1627"/>
              <a:t>The system's accuracy was slightly lower during unprecedented flash flood events not represented in the training data. It is also highly dependent on stable internet connectivity.</a:t>
            </a:r>
            <a:endParaRPr sz="1627"/>
          </a:p>
          <a:p>
            <a:pPr indent="-354091" lvl="0" marL="45720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SzPts val="1976"/>
              <a:buChar char="•"/>
            </a:pPr>
            <a:r>
              <a:rPr b="1" lang="en-US" sz="2480"/>
              <a:t>Future Scope</a:t>
            </a:r>
            <a:endParaRPr b="1" sz="2480"/>
          </a:p>
          <a:p>
            <a:pPr indent="-322103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73"/>
              <a:buChar char="–"/>
            </a:pPr>
            <a:r>
              <a:rPr lang="en-US" sz="1472"/>
              <a:t>To improve reliability, the authors suggest incorporating hybrid models that combine machine learning with physical hydrological models and exploring edge computing to process data locally.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Literature Review-Reference Paper 2</a:t>
            </a:r>
            <a:endParaRPr/>
          </a:p>
        </p:txBody>
      </p:sp>
      <p:sp>
        <p:nvSpPr>
          <p:cNvPr id="145" name="Google Shape;145;p9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Paper Title</a:t>
            </a:r>
            <a:endParaRPr b="1" sz="2000"/>
          </a:p>
          <a:p>
            <a:pPr indent="-327025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0"/>
              <a:buChar char="–"/>
            </a:pPr>
            <a:r>
              <a:rPr lang="en-US" sz="1550"/>
              <a:t>"A Smart Alert System for Urban Flood Management using LoRaWAN and Decision Tree Classifiers" (Chen et al., 2022).</a:t>
            </a:r>
            <a:endParaRPr sz="1550"/>
          </a:p>
          <a:p>
            <a:pPr indent="-355600" lvl="0" marL="4572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Problem statement</a:t>
            </a:r>
            <a:endParaRPr b="1" sz="2000"/>
          </a:p>
          <a:p>
            <a:pPr indent="-315685" lvl="1" marL="9144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1371"/>
              <a:buChar char="–"/>
            </a:pPr>
            <a:r>
              <a:rPr lang="en-US" sz="1371"/>
              <a:t>In dense urban areas, power outages and cellular network congestion during storms can render many IoT-based warning systems useless.</a:t>
            </a:r>
            <a:endParaRPr sz="1371"/>
          </a:p>
          <a:p>
            <a:pPr indent="-355600" lvl="0" marL="4572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Problem approach</a:t>
            </a:r>
            <a:endParaRPr b="1" sz="2000"/>
          </a:p>
          <a:p>
            <a:pPr indent="-323850" lvl="1" marL="9144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1500"/>
              <a:buChar char="–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This research used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LoRaWAN (Long Range Wide Area Network)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technology for its low power consumption and long-range communication capabilities, making it resilient to power failures.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1500"/>
              <a:buChar char="–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Decision Tree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model was used for its simplicity and interpretability to classify flood risk into 'Safe', 'Warning', and 'Danger' levels.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Advantages</a:t>
            </a:r>
            <a:endParaRPr b="1" sz="2000"/>
          </a:p>
          <a:p>
            <a:pPr indent="-327025" lvl="1" marL="9144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1550"/>
              <a:buChar char="–"/>
            </a:pPr>
            <a:r>
              <a:rPr lang="en-US" sz="1550"/>
              <a:t>The LoRaWAN network proved highly reliable even with network congestion. The Decision Tree model was fast and easy for city officials to understand the reasoning behind an alert.</a:t>
            </a:r>
            <a:endParaRPr sz="1550"/>
          </a:p>
          <a:p>
            <a:pPr indent="-355600" lvl="0" marL="4572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Drawbacks</a:t>
            </a:r>
            <a:endParaRPr b="1" sz="2000"/>
          </a:p>
          <a:p>
            <a:pPr indent="-327025" lvl="1" marL="9144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1550"/>
              <a:buChar char="–"/>
            </a:pPr>
            <a:r>
              <a:rPr lang="en-US" sz="1550"/>
              <a:t>LoRaWAN has a lower data transmission rate compared to Wi-Fi or cellular, limiting the frequency and richness of data that can be sent.</a:t>
            </a:r>
            <a:endParaRPr sz="1550"/>
          </a:p>
          <a:p>
            <a:pPr indent="-355600" lvl="0" marL="4572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Future Scope</a:t>
            </a:r>
            <a:endParaRPr b="1" sz="2000"/>
          </a:p>
          <a:p>
            <a:pPr indent="-327025" lvl="1" marL="91440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1550"/>
              <a:buChar char="–"/>
            </a:pPr>
            <a:r>
              <a:rPr lang="en-US" sz="1550"/>
              <a:t>The study proposes integrating real-time social media data (e.g., Twitter posts about flooding) to enhance the model's situational awareness.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Literature Review-Reference Paper 3</a:t>
            </a:r>
            <a:endParaRPr/>
          </a:p>
        </p:txBody>
      </p:sp>
      <p:sp>
        <p:nvSpPr>
          <p:cNvPr id="151" name="Google Shape;151;p10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54330" lvl="0" marL="457200" rtl="0" algn="l">
              <a:spcBef>
                <a:spcPts val="0"/>
              </a:spcBef>
              <a:spcAft>
                <a:spcPts val="0"/>
              </a:spcAft>
              <a:buSzPct val="95192"/>
              <a:buChar char="•"/>
            </a:pPr>
            <a:r>
              <a:rPr b="1" lang="en-US" sz="3781"/>
              <a:t>Paper Title</a:t>
            </a:r>
            <a:endParaRPr b="1" sz="3781"/>
          </a:p>
          <a:p>
            <a:pPr indent="-326390" lvl="1" marL="91440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"Comparative Analysis of Machine Learning Algorithms for Flood Risk Prediction" (Adebayo &amp; Sridhar, 2020).</a:t>
            </a:r>
            <a:endParaRPr/>
          </a:p>
          <a:p>
            <a:pPr indent="-354330" lvl="0" marL="457200" rtl="0" algn="l">
              <a:spcBef>
                <a:spcPts val="518"/>
              </a:spcBef>
              <a:spcAft>
                <a:spcPts val="0"/>
              </a:spcAft>
              <a:buSzPct val="96116"/>
              <a:buChar char="•"/>
            </a:pPr>
            <a:r>
              <a:rPr b="1" lang="en-US" sz="3745"/>
              <a:t>Problem statement:</a:t>
            </a:r>
            <a:endParaRPr b="1" sz="3745"/>
          </a:p>
          <a:p>
            <a:pPr indent="-326390" lvl="1" marL="91440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While many studies use machine learning for flood prediction, there is no clear consensus on which algorithms perform best for different types of geographical and climate data.</a:t>
            </a:r>
            <a:endParaRPr/>
          </a:p>
          <a:p>
            <a:pPr indent="-354330" lvl="0" marL="457200" rtl="0" algn="l">
              <a:spcBef>
                <a:spcPts val="518"/>
              </a:spcBef>
              <a:spcAft>
                <a:spcPts val="0"/>
              </a:spcAft>
              <a:buSzPct val="96116"/>
              <a:buChar char="•"/>
            </a:pPr>
            <a:r>
              <a:rPr b="1" lang="en-US" sz="3745"/>
              <a:t>Problem approach</a:t>
            </a:r>
            <a:endParaRPr b="1" sz="3745"/>
          </a:p>
          <a:p>
            <a:pPr indent="-326390" lvl="1" marL="914400" rtl="0" algn="l">
              <a:spcBef>
                <a:spcPts val="518"/>
              </a:spcBef>
              <a:spcAft>
                <a:spcPts val="0"/>
              </a:spcAft>
              <a:buSzPct val="102325"/>
              <a:buChar char="–"/>
            </a:pPr>
            <a:r>
              <a:rPr lang="en-US" sz="2736">
                <a:latin typeface="Arial"/>
                <a:ea typeface="Arial"/>
                <a:cs typeface="Arial"/>
                <a:sym typeface="Arial"/>
              </a:rPr>
              <a:t>The study compared the performance of several algorithms—including </a:t>
            </a:r>
            <a:r>
              <a:rPr b="1" lang="en-US" sz="2736">
                <a:latin typeface="Arial"/>
                <a:ea typeface="Arial"/>
                <a:cs typeface="Arial"/>
                <a:sym typeface="Arial"/>
              </a:rPr>
              <a:t>Logistic Regression</a:t>
            </a:r>
            <a:r>
              <a:rPr lang="en-US" sz="2736">
                <a:latin typeface="Arial"/>
                <a:ea typeface="Arial"/>
                <a:cs typeface="Arial"/>
                <a:sym typeface="Arial"/>
              </a:rPr>
              <a:t>, Support Vector Machines (SVM), and Artificial Neural Networks (ANN)—on a standardized dataset containing rainfall, river discharge, and soil moisture data.</a:t>
            </a:r>
            <a:endParaRPr sz="4436"/>
          </a:p>
          <a:p>
            <a:pPr indent="-354330" lvl="0" marL="457200" rtl="0" algn="l">
              <a:spcBef>
                <a:spcPts val="518"/>
              </a:spcBef>
              <a:spcAft>
                <a:spcPts val="0"/>
              </a:spcAft>
              <a:buSzPct val="96116"/>
              <a:buChar char="•"/>
            </a:pPr>
            <a:r>
              <a:rPr b="1" lang="en-US" sz="3745"/>
              <a:t>Advantages</a:t>
            </a:r>
            <a:endParaRPr b="1" sz="3745"/>
          </a:p>
          <a:p>
            <a:pPr indent="-326390" lvl="1" marL="91440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The research provides a valuable benchmark, showing that ANNs generally offered the highest accuracy, while Logistic Regression provided a good balance of speed and performance for simpler applications.</a:t>
            </a:r>
            <a:endParaRPr/>
          </a:p>
          <a:p>
            <a:pPr indent="-354330" lvl="0" marL="457200" rtl="0" algn="l">
              <a:spcBef>
                <a:spcPts val="518"/>
              </a:spcBef>
              <a:spcAft>
                <a:spcPts val="0"/>
              </a:spcAft>
              <a:buSzPct val="96116"/>
              <a:buChar char="•"/>
            </a:pPr>
            <a:r>
              <a:rPr b="1" lang="en-US" sz="3745"/>
              <a:t>Drawbacks</a:t>
            </a:r>
            <a:endParaRPr b="1" sz="3745"/>
          </a:p>
          <a:p>
            <a:pPr indent="-326390" lvl="1" marL="91440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The findings are based on a specific regional dataset, and the performance of algorithms might vary in different topographical or climatic conditions.</a:t>
            </a:r>
            <a:endParaRPr/>
          </a:p>
          <a:p>
            <a:pPr indent="-354330" lvl="0" marL="457200" rtl="0" algn="l">
              <a:spcBef>
                <a:spcPts val="518"/>
              </a:spcBef>
              <a:spcAft>
                <a:spcPts val="0"/>
              </a:spcAft>
              <a:buSzPct val="96116"/>
              <a:buChar char="•"/>
            </a:pPr>
            <a:r>
              <a:rPr b="1" lang="en-US" sz="3745"/>
              <a:t>Future Scope</a:t>
            </a:r>
            <a:endParaRPr b="1" sz="3745"/>
          </a:p>
          <a:p>
            <a:pPr indent="-326390" lvl="1" marL="91440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The paper recommends developing ensemble models (combining multiple algorithms) to create more robust and universally applicable flood prediction systems.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Summary of Literature Review</a:t>
            </a:r>
            <a:endParaRPr/>
          </a:p>
        </p:txBody>
      </p:sp>
      <p:graphicFrame>
        <p:nvGraphicFramePr>
          <p:cNvPr id="157" name="Google Shape;157;p11"/>
          <p:cNvGraphicFramePr/>
          <p:nvPr/>
        </p:nvGraphicFramePr>
        <p:xfrm>
          <a:off x="184275" y="11450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{3DBB45F9-8B93-43EB-AD0F-8F0AA4469F54}</a:tableStyleId>
              </a:tblPr>
              <a:tblGrid>
                <a:gridCol w="1403575"/>
                <a:gridCol w="1403575"/>
                <a:gridCol w="1403575"/>
                <a:gridCol w="1403575"/>
                <a:gridCol w="1403575"/>
                <a:gridCol w="1403575"/>
              </a:tblGrid>
              <a:tr h="736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Research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Technique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Features Used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Domain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Disadvantage / Advantage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Future Direction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</a:tr>
              <a:tr h="471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Sharma &amp; Gupta, 2021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</a:t>
                      </a:r>
                      <a:r>
                        <a:rPr lang="en-US" sz="1600"/>
                        <a:t>IoT Sensor Network, Random Forest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/>
                        <a:t> </a:t>
                      </a:r>
                      <a:endParaRPr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500"/>
                        <a:t>Water Level, Rainfall Data</a:t>
                      </a:r>
                      <a:endParaRPr sz="15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500"/>
                        <a:t>Real-time Flood Forecasting</a:t>
                      </a:r>
                      <a:endParaRPr sz="15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0000"/>
                          </a:solidFill>
                        </a:rPr>
                        <a:t>Advantage:</a:t>
                      </a:r>
                      <a:r>
                        <a:rPr lang="en-US" sz="1500">
                          <a:solidFill>
                            <a:srgbClr val="000000"/>
                          </a:solidFill>
                        </a:rPr>
                        <a:t> High accuracy (&gt;95%) and scalable with low-cost hardware.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0000"/>
                          </a:solidFill>
                        </a:rPr>
                        <a:t>Disadvantage:</a:t>
                      </a:r>
                      <a:r>
                        <a:rPr lang="en-US" sz="1500">
                          <a:solidFill>
                            <a:srgbClr val="000000"/>
                          </a:solidFill>
                        </a:rPr>
                        <a:t> Dependent on stable internet; lower accuracy for unprecedented flash floods.</a:t>
                      </a:r>
                      <a:endParaRPr sz="1800"/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/>
                        <a:t> </a:t>
                      </a:r>
                      <a:endParaRPr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Integrate with physical hydrological models;use edge computing for local data processing.</a:t>
                      </a:r>
                      <a:endParaRPr sz="1500"/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/>
                        <a:t> </a:t>
                      </a:r>
                      <a:endParaRPr/>
                    </a:p>
                  </a:txBody>
                  <a:tcPr marT="91425" marB="91425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Summary of Literature Review</a:t>
            </a:r>
            <a:endParaRPr/>
          </a:p>
        </p:txBody>
      </p:sp>
      <p:graphicFrame>
        <p:nvGraphicFramePr>
          <p:cNvPr id="163" name="Google Shape;163;p12"/>
          <p:cNvGraphicFramePr/>
          <p:nvPr/>
        </p:nvGraphicFramePr>
        <p:xfrm>
          <a:off x="349700" y="10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{3DBB45F9-8B93-43EB-AD0F-8F0AA4469F54}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8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Research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Technique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Features Used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Domain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2860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Disadvantage / Advantage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100"/>
                        <a:t>Future Direction</a:t>
                      </a:r>
                      <a:endParaRPr b="1" sz="1100"/>
                    </a:p>
                  </a:txBody>
                  <a:tcPr marT="91425" marB="91425" marR="68575" marL="68575">
                    <a:solidFill>
                      <a:srgbClr val="CCCCCC"/>
                    </a:solidFill>
                  </a:tcPr>
                </a:tc>
              </a:tr>
              <a:tr h="4855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Chen et al., 2022</a:t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500"/>
                        <a:t>Adebayo &amp; Sridhar, 2020     </a:t>
                      </a:r>
                      <a:endParaRPr sz="15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LoRaWAN, Decision Tree Classifier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/>
                        <a:t>Comparative Analysis (Logistic Regression, SVM, ANN)</a:t>
                      </a:r>
                      <a:endParaRPr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Water Level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/>
                        <a:t>Rainfall, River Discharge, Soil Moisture</a:t>
                      </a:r>
                      <a:endParaRPr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 Flood Management</a:t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500"/>
                        <a:t>Flood Risk Prediction</a:t>
                      </a:r>
                      <a:endParaRPr sz="15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000000"/>
                          </a:solidFill>
                        </a:rPr>
                        <a:t>Advantage:</a:t>
                      </a: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 Reliable network during power outages; simple model.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000000"/>
                          </a:solidFill>
                        </a:rPr>
                        <a:t>Disadvantage:</a:t>
                      </a: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 Low data transmission rate.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000000"/>
                          </a:solidFill>
                        </a:rPr>
                        <a:t>Advantage:</a:t>
                      </a: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 Provides a good comparison of different algorithms.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rgbClr val="000000"/>
                          </a:solidFill>
                        </a:rPr>
                        <a:t>Disadvantage:</a:t>
                      </a: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 Results might not apply to other regions.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68575" marL="6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 Add social media data for more awareness.</a:t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/>
                        <a:t>Create "ensemble models" by combining the best algorithms.</a:t>
                      </a:r>
                      <a:endParaRPr sz="1200"/>
                    </a:p>
                  </a:txBody>
                  <a:tcPr marT="91425" marB="91425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759"/>
              <a:t>Functional Requirements</a:t>
            </a:r>
            <a:endParaRPr sz="3759"/>
          </a:p>
        </p:txBody>
      </p:sp>
      <p:sp>
        <p:nvSpPr>
          <p:cNvPr id="169" name="Google Shape;169;p14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Real-time Data Acquisition: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system must continuously collect (or simulate) data from rainfall and water level sensors.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Data Processing: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must pre-process the raw sensor data to handle any missing values or noise before feeding it to the AI model.	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AI-Powered Risk Prediction: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system will use a trained machine learning model (e.g., Decision Tree, Logistic Regression) to classify the flood risk into three levels: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Low, Medium, and High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759"/>
              <a:t>Functional Requirements</a:t>
            </a:r>
            <a:endParaRPr sz="3759"/>
          </a:p>
        </p:txBody>
      </p:sp>
      <p:sp>
        <p:nvSpPr>
          <p:cNvPr id="175" name="Google Shape;175;p15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Web Dashboard: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Flask-based dashboard will provide a visual, real-time display of sensor data and the current predicted flood risk level.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Automated Alerts: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When the risk level is classified as "High," the system must automatically trigger alerts.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873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92"/>
              <a:buChar char="■"/>
            </a:pPr>
            <a:r>
              <a:rPr b="1" lang="en-US" sz="1816">
                <a:latin typeface="Arial"/>
                <a:ea typeface="Arial"/>
                <a:cs typeface="Arial"/>
                <a:sym typeface="Arial"/>
              </a:rPr>
              <a:t>Send</a:t>
            </a:r>
            <a:endParaRPr b="1" sz="1816">
              <a:latin typeface="Arial"/>
              <a:ea typeface="Arial"/>
              <a:cs typeface="Arial"/>
              <a:sym typeface="Arial"/>
            </a:endParaRPr>
          </a:p>
          <a:p>
            <a:pPr indent="-34659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8"/>
              <a:buChar char="●"/>
            </a:pPr>
            <a:r>
              <a:rPr lang="en-US" sz="1708">
                <a:latin typeface="Arial"/>
                <a:ea typeface="Arial"/>
                <a:cs typeface="Arial"/>
                <a:sym typeface="Arial"/>
              </a:rPr>
              <a:t>SMS/email notifications to registered users (e.g., disaster management authorities)</a:t>
            </a:r>
            <a:endParaRPr sz="1708">
              <a:latin typeface="Arial"/>
              <a:ea typeface="Arial"/>
              <a:cs typeface="Arial"/>
              <a:sym typeface="Arial"/>
            </a:endParaRPr>
          </a:p>
          <a:p>
            <a:pPr indent="-34770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76"/>
              <a:buChar char="■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Activate 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6564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58"/>
              <a:buChar char="●"/>
            </a:pPr>
            <a:r>
              <a:rPr lang="en-US" sz="2008">
                <a:latin typeface="Arial"/>
                <a:ea typeface="Arial"/>
                <a:cs typeface="Arial"/>
                <a:sym typeface="Arial"/>
              </a:rPr>
              <a:t>local alarm (e.g., buzzer/LED) at the sensor site.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759"/>
              <a:t>Non-Functional Requirements</a:t>
            </a:r>
            <a:endParaRPr sz="3759"/>
          </a:p>
        </p:txBody>
      </p:sp>
      <p:sp>
        <p:nvSpPr>
          <p:cNvPr id="181" name="Google Shape;181;p16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Performance: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system must have low latency, with the time from data collection to alert generation being under one minute for effective early warning.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Accuracy: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The machine learning model must achieve a prediction accuracy of over 90% in correctly identifying high-risk flood conditions.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Reliability: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The system must be designed for 24/7 operation with high availability, especially during severe weather conditions when it is needed most.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The architecture should allow for the easy addition of new sensors from different locations without requiring a major system overhaul.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Usability: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The web dashboard must have a clean, intuitive user interface that is easy for non-technical personnel to understand and act upon.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Security: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Data transmitted from the IoT sensors to the central server must be encrypted to ensure data integrity and prevent malicious attacks.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SDG goals</a:t>
            </a:r>
            <a:endParaRPr/>
          </a:p>
        </p:txBody>
      </p:sp>
      <p:sp>
        <p:nvSpPr>
          <p:cNvPr id="187" name="Google Shape;187;p18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SDG 11: Sustainable Cities and Communities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This project directly contributes to making cities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safer and more resilient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in the face of natural disasters.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early warning system helps protect lives, homes, and critical urban infrastructure from the devastating impact of floods.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SDG 13: Climate Action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Our system is a crucial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climate adaptation tool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helping communities cope with the effects of climate change.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strengthens resilience against climate-related hazards like the increasing frequency and intensity of floods.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SDG goals</a:t>
            </a:r>
            <a:endParaRPr/>
          </a:p>
        </p:txBody>
      </p:sp>
      <p:sp>
        <p:nvSpPr>
          <p:cNvPr id="193" name="Google Shape;193;p19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SDG 9: Industry, Innovation, and Infrastructure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This project fosters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innovation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by applying modern AI and IoT technologies to solve a critical, real-world problem.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helps build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resilient infrastructure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by creating a smart system designed to protect a city’s physical assets from flood damage.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Project Plan</a:t>
            </a:r>
            <a:endParaRPr/>
          </a:p>
        </p:txBody>
      </p:sp>
      <p:graphicFrame>
        <p:nvGraphicFramePr>
          <p:cNvPr id="199" name="Google Shape;199;p20"/>
          <p:cNvGraphicFramePr/>
          <p:nvPr/>
        </p:nvGraphicFramePr>
        <p:xfrm>
          <a:off x="948075" y="1082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{EEA4B501-ED30-4739-9250-A89668992E5E}</a:tableStyleId>
              </a:tblPr>
              <a:tblGrid>
                <a:gridCol w="1455050"/>
                <a:gridCol w="1455050"/>
                <a:gridCol w="1455050"/>
                <a:gridCol w="1455050"/>
                <a:gridCol w="1455050"/>
              </a:tblGrid>
              <a:tr h="2625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WBS NUMBER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TASK TITLE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TASK OWNER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START DATE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DUE DATE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6250">
                <a:tc vMerge="1"/>
                <a:tc vMerge="1"/>
                <a:tc vMerge="1"/>
                <a:tc vMerge="1"/>
                <a:tc vMerge="1"/>
              </a:tr>
              <a:tr h="242875">
                <a:tc vMerge="1"/>
                <a:tc vMerge="1"/>
                <a:tc vMerge="1"/>
                <a:tc vMerge="1"/>
                <a:tc vMerge="1"/>
              </a:tr>
              <a:tr h="126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Conception and Initiation</a:t>
                      </a:r>
                      <a:endParaRPr b="1" sz="16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1.1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Charter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Madhuri 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02</a:t>
                      </a: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02/10/25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1.1.1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Charter Revisions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Shivraj R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02/10/25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02/10/25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Definition and Planning</a:t>
                      </a:r>
                      <a:endParaRPr b="1" sz="16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70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Scope and Goal Setting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Madhuri 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03/10/25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03/10/25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Literature Review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Madhuri 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04/10/25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06/10/25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Gant Chart Preparation</a:t>
                      </a:r>
                      <a:endParaRPr sz="15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Shivraj R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07/10/25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08/10/25</a:t>
                      </a:r>
                      <a:endParaRPr sz="15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idx="4294967295" type="title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Project Plan</a:t>
            </a:r>
            <a:endParaRPr/>
          </a:p>
        </p:txBody>
      </p:sp>
      <p:graphicFrame>
        <p:nvGraphicFramePr>
          <p:cNvPr id="205" name="Google Shape;205;p21"/>
          <p:cNvGraphicFramePr/>
          <p:nvPr/>
        </p:nvGraphicFramePr>
        <p:xfrm>
          <a:off x="1241750" y="113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{EEA4B501-ED30-4739-9250-A89668992E5E}</a:tableStyleId>
              </a:tblPr>
              <a:tblGrid>
                <a:gridCol w="1489000"/>
                <a:gridCol w="1489000"/>
                <a:gridCol w="1489000"/>
                <a:gridCol w="1489000"/>
                <a:gridCol w="1489000"/>
              </a:tblGrid>
              <a:tr h="127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WBS NUMBER</a:t>
                      </a:r>
                      <a:endParaRPr b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TASK TITLE</a:t>
                      </a:r>
                      <a:endParaRPr b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TASK OWNER</a:t>
                      </a:r>
                      <a:endParaRPr b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START DATE</a:t>
                      </a:r>
                      <a:endParaRPr b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DUE DATE</a:t>
                      </a:r>
                      <a:endParaRPr b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2700">
                <a:tc vMerge="1"/>
                <a:tc vMerge="1"/>
                <a:tc vMerge="1"/>
                <a:tc vMerge="1"/>
                <a:tc vMerge="1"/>
              </a:tr>
              <a:tr h="12700">
                <a:tc vMerge="1"/>
                <a:tc vMerge="1"/>
                <a:tc vMerge="1"/>
                <a:tc vMerge="1"/>
                <a:tc vMerge="1"/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Conception and Executoin</a:t>
                      </a:r>
                      <a:endParaRPr b="1"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3.1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design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Shivraj R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09/10/25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11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3.2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Collection of Data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Madhuri 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12/10/25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15/10/25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3.2.1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Coding module1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Madhuri 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16/10/25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18/10/25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3.2.2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Coding module2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Shivraj R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19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23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3.2.3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Integration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Madhuri 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24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25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3.2.4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Build and Execution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Shivraj R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27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Testing</a:t>
                      </a:r>
                      <a:endParaRPr b="1"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4.1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Testing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Madhuri 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28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30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4.2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Project Delivery</a:t>
                      </a:r>
                      <a:endParaRPr sz="1400" u="none" cap="none" strike="noStrike"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Shivraj R</a:t>
                      </a:r>
                      <a:endParaRPr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1/10/25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1/11/25</a:t>
                      </a:r>
                      <a:endParaRPr/>
                    </a:p>
                  </a:txBody>
                  <a:tcPr marT="0" marB="0" marR="25400" marL="2540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11" name="Google Shape;211;p22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3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AI-Enabled IoT Based Smart Flood Alert System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demonstrates a significant advancement over traditional, reactive flood management methods.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By integrating real-time IoT data with predictive machine learning models, our system provides accurate, timely, and actionable warnings that can save lives and mitigate economic losses.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This project serves as a robust framework for building smarter, more resilient communities capable of proactively responding to the challenges posed by natural disasters and a changing climate.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idx="4294967295"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17" name="Google Shape;217;p23"/>
          <p:cNvSpPr txBox="1"/>
          <p:nvPr>
            <p:ph idx="4294967295" type="body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</a:rPr>
              <a:t>https://ndma.gov.in/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(National Disaster Management Authority, India)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This official government portal provides guidelines, resources, and data on disaster management in India, including floods.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 u="sng"/>
              <a:t>Book Reference:</a:t>
            </a:r>
            <a:endParaRPr b="1" sz="1800" u="sng"/>
          </a:p>
          <a:p>
            <a:pPr indent="-342900" lvl="1" marL="914400" rtl="0" algn="l">
              <a:spcBef>
                <a:spcPts val="56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Perera, C., &amp; Raj, P. (2021).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IoT and AI for Smart Cities and Ecosystems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 Wiley-IEEE Press.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56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This book covers the application of Internet of Things (IoT) and Artificial Intelligence (AI) technologies in building smart, resilient urban environments.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 u="sng">
                <a:latin typeface="Arial"/>
                <a:ea typeface="Arial"/>
                <a:cs typeface="Arial"/>
                <a:sym typeface="Arial"/>
              </a:rPr>
              <a:t>Journal Article Reference:</a:t>
            </a:r>
            <a:endParaRPr b="1" sz="1800" u="sng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56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Sharma, R., &amp; Gupta, A. (2021). "An Integrated IoT and Machine Learning Framework for Real-Time Flood Forecasting."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Journal of Hydrology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598, pp. 1-12.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56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This paper details a system similar to yours, using IoT sensors and machine learning to predict floods in real time.</a:t>
            </a:r>
            <a:endParaRPr b="1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